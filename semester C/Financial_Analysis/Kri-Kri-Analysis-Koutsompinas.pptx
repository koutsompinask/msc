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42" r:id="rId1"/>
  </p:sldMasterIdLst>
  <p:sldIdLst>
    <p:sldId id="256" r:id="rId2"/>
    <p:sldId id="262" r:id="rId3"/>
    <p:sldId id="263" r:id="rId4"/>
    <p:sldId id="264" r:id="rId5"/>
    <p:sldId id="257" r:id="rId6"/>
    <p:sldId id="258" r:id="rId7"/>
    <p:sldId id="259" r:id="rId8"/>
    <p:sldId id="261" r:id="rId9"/>
    <p:sldId id="260"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9"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showGuides="1">
      <p:cViewPr varScale="1">
        <p:scale>
          <a:sx n="82" d="100"/>
          <a:sy n="82" d="100"/>
        </p:scale>
        <p:origin x="557"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Developer\MSC\semester%20C\Financial_Analysis\Kri-Kri-Data-Analysis-Koutsompina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Developer\MSC\semester%20C\Financial_Analysis\Kri-Kri-Data-Analysis-Koutsompina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Developer\MSC\semester%20C\Financial_Analysis\Kri-Kri-Data-Analysis-Koutsompina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Developer\MSC\semester%20C\Financial_Analysis\Kri-Kri-Data-Analysis-Koutsompina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Developer\MSC\semester%20C\Financial_Analysis\Kri-Kri-Data-Analysis-Koutsompina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Developer\MSC\semester%20C\Financial_Analysis\Kri-Kri-Data-Analysis-Koutsompinas.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0" i="0" u="none" strike="noStrike" kern="1200" spc="70" baseline="0">
                <a:solidFill>
                  <a:schemeClr val="dk1">
                    <a:lumMod val="50000"/>
                    <a:lumOff val="50000"/>
                  </a:schemeClr>
                </a:solidFill>
                <a:latin typeface="+mn-lt"/>
                <a:ea typeface="+mn-ea"/>
                <a:cs typeface="+mn-cs"/>
              </a:defRPr>
            </a:pPr>
            <a:r>
              <a:rPr lang="en-US"/>
              <a:t>Beta 6-Year</a:t>
            </a:r>
          </a:p>
        </c:rich>
      </c:tx>
      <c:overlay val="0"/>
      <c:spPr>
        <a:noFill/>
        <a:ln>
          <a:noFill/>
        </a:ln>
        <a:effectLst/>
      </c:spPr>
      <c:txPr>
        <a:bodyPr rot="0" spcFirstLastPara="1" vertOverflow="ellipsis" vert="horz" wrap="square" anchor="ctr" anchorCtr="1"/>
        <a:lstStyle/>
        <a:p>
          <a:pPr>
            <a:defRPr sz="2128" b="0" i="0" u="none" strike="noStrike" kern="1200" spc="70" baseline="0">
              <a:solidFill>
                <a:schemeClr val="dk1">
                  <a:lumMod val="50000"/>
                  <a:lumOff val="50000"/>
                </a:schemeClr>
              </a:solidFill>
              <a:latin typeface="+mn-lt"/>
              <a:ea typeface="+mn-ea"/>
              <a:cs typeface="+mn-cs"/>
            </a:defRPr>
          </a:pPr>
          <a:endParaRPr lang="en-US"/>
        </a:p>
      </c:txPr>
    </c:title>
    <c:autoTitleDeleted val="0"/>
    <c:plotArea>
      <c:layout/>
      <c:scatterChart>
        <c:scatterStyle val="lineMarker"/>
        <c:varyColors val="0"/>
        <c:ser>
          <c:idx val="0"/>
          <c:order val="0"/>
          <c:tx>
            <c:v>Y</c:v>
          </c:tx>
          <c:spPr>
            <a:ln w="25400">
              <a:noFill/>
            </a:ln>
            <a:effectLst/>
          </c:spPr>
          <c:marker>
            <c:symbol val="circle"/>
            <c:size val="4"/>
            <c:spPr>
              <a:solidFill>
                <a:schemeClr val="accent1"/>
              </a:solidFill>
              <a:ln w="9525" cap="flat" cmpd="sng" algn="ctr">
                <a:solidFill>
                  <a:schemeClr val="accent1"/>
                </a:solidFill>
                <a:round/>
              </a:ln>
              <a:effectLst/>
            </c:spPr>
          </c:marker>
          <c:xVal>
            <c:numRef>
              <c:f>'Kri-Kri Milk Stock Price Histor'!$E$2:$E$365</c:f>
              <c:numCache>
                <c:formatCode>0.00%</c:formatCode>
                <c:ptCount val="364"/>
                <c:pt idx="0">
                  <c:v>3.8E-3</c:v>
                </c:pt>
                <c:pt idx="1">
                  <c:v>1.15E-2</c:v>
                </c:pt>
                <c:pt idx="2">
                  <c:v>1.54E-2</c:v>
                </c:pt>
                <c:pt idx="3">
                  <c:v>-3.9800000000000002E-2</c:v>
                </c:pt>
                <c:pt idx="4">
                  <c:v>0</c:v>
                </c:pt>
                <c:pt idx="5">
                  <c:v>1.2500000000000001E-2</c:v>
                </c:pt>
                <c:pt idx="6">
                  <c:v>-3.1699999999999999E-2</c:v>
                </c:pt>
                <c:pt idx="7">
                  <c:v>-0.19339999999999999</c:v>
                </c:pt>
                <c:pt idx="8">
                  <c:v>-4.9399999999999999E-2</c:v>
                </c:pt>
                <c:pt idx="9">
                  <c:v>-0.19389999999999999</c:v>
                </c:pt>
                <c:pt idx="10">
                  <c:v>5.7000000000000002E-3</c:v>
                </c:pt>
                <c:pt idx="11">
                  <c:v>-7.7000000000000002E-3</c:v>
                </c:pt>
                <c:pt idx="12">
                  <c:v>-1.84E-2</c:v>
                </c:pt>
                <c:pt idx="13">
                  <c:v>0.1231</c:v>
                </c:pt>
                <c:pt idx="14">
                  <c:v>-8.9999999999999998E-4</c:v>
                </c:pt>
                <c:pt idx="15">
                  <c:v>-5.9999999999999995E-4</c:v>
                </c:pt>
                <c:pt idx="16">
                  <c:v>3.5999999999999997E-2</c:v>
                </c:pt>
                <c:pt idx="17">
                  <c:v>-3.85E-2</c:v>
                </c:pt>
                <c:pt idx="18">
                  <c:v>-1.7899999999999999E-2</c:v>
                </c:pt>
                <c:pt idx="19">
                  <c:v>2.69E-2</c:v>
                </c:pt>
                <c:pt idx="20">
                  <c:v>7.1199999999999999E-2</c:v>
                </c:pt>
                <c:pt idx="21">
                  <c:v>4.7300000000000002E-2</c:v>
                </c:pt>
                <c:pt idx="22">
                  <c:v>-5.3600000000000002E-2</c:v>
                </c:pt>
                <c:pt idx="23">
                  <c:v>3.3300000000000003E-2</c:v>
                </c:pt>
                <c:pt idx="24">
                  <c:v>-3.95E-2</c:v>
                </c:pt>
                <c:pt idx="25">
                  <c:v>2.5899999999999999E-2</c:v>
                </c:pt>
                <c:pt idx="26">
                  <c:v>-3.8800000000000001E-2</c:v>
                </c:pt>
                <c:pt idx="27">
                  <c:v>1.34E-2</c:v>
                </c:pt>
                <c:pt idx="28">
                  <c:v>-1.12E-2</c:v>
                </c:pt>
                <c:pt idx="29">
                  <c:v>-2.63E-2</c:v>
                </c:pt>
                <c:pt idx="30">
                  <c:v>2.4299999999999999E-2</c:v>
                </c:pt>
                <c:pt idx="31">
                  <c:v>2.8E-3</c:v>
                </c:pt>
                <c:pt idx="32">
                  <c:v>-1.6999999999999999E-3</c:v>
                </c:pt>
                <c:pt idx="33">
                  <c:v>1.9E-3</c:v>
                </c:pt>
                <c:pt idx="34">
                  <c:v>7.6E-3</c:v>
                </c:pt>
                <c:pt idx="35">
                  <c:v>-5.1000000000000004E-3</c:v>
                </c:pt>
                <c:pt idx="36">
                  <c:v>3.5400000000000001E-2</c:v>
                </c:pt>
                <c:pt idx="37">
                  <c:v>-6.1699999999999998E-2</c:v>
                </c:pt>
                <c:pt idx="38">
                  <c:v>1.26E-2</c:v>
                </c:pt>
                <c:pt idx="39">
                  <c:v>4.1200000000000001E-2</c:v>
                </c:pt>
                <c:pt idx="40">
                  <c:v>-4.8000000000000001E-2</c:v>
                </c:pt>
                <c:pt idx="41">
                  <c:v>-1.2699999999999999E-2</c:v>
                </c:pt>
                <c:pt idx="42">
                  <c:v>-6.9900000000000004E-2</c:v>
                </c:pt>
                <c:pt idx="43">
                  <c:v>3.27E-2</c:v>
                </c:pt>
                <c:pt idx="44">
                  <c:v>0.1149</c:v>
                </c:pt>
                <c:pt idx="45">
                  <c:v>6.6799999999999998E-2</c:v>
                </c:pt>
                <c:pt idx="46">
                  <c:v>5.3100000000000001E-2</c:v>
                </c:pt>
                <c:pt idx="47">
                  <c:v>6.5600000000000006E-2</c:v>
                </c:pt>
                <c:pt idx="48">
                  <c:v>-7.4999999999999997E-3</c:v>
                </c:pt>
                <c:pt idx="49">
                  <c:v>2.7E-2</c:v>
                </c:pt>
                <c:pt idx="50">
                  <c:v>-1.5699999999999999E-2</c:v>
                </c:pt>
                <c:pt idx="51">
                  <c:v>2.7300000000000001E-2</c:v>
                </c:pt>
                <c:pt idx="52">
                  <c:v>1.2699999999999999E-2</c:v>
                </c:pt>
                <c:pt idx="53">
                  <c:v>-3.56E-2</c:v>
                </c:pt>
                <c:pt idx="54">
                  <c:v>-1.41E-2</c:v>
                </c:pt>
                <c:pt idx="55">
                  <c:v>-3.7900000000000003E-2</c:v>
                </c:pt>
                <c:pt idx="56">
                  <c:v>2.0199999999999999E-2</c:v>
                </c:pt>
                <c:pt idx="57">
                  <c:v>1.4999999999999999E-2</c:v>
                </c:pt>
                <c:pt idx="58">
                  <c:v>6.8999999999999999E-3</c:v>
                </c:pt>
                <c:pt idx="59">
                  <c:v>1.4E-2</c:v>
                </c:pt>
                <c:pt idx="60">
                  <c:v>4.1200000000000001E-2</c:v>
                </c:pt>
                <c:pt idx="61">
                  <c:v>0.03</c:v>
                </c:pt>
                <c:pt idx="62">
                  <c:v>-1.9699999999999999E-2</c:v>
                </c:pt>
                <c:pt idx="63">
                  <c:v>2.2499999999999999E-2</c:v>
                </c:pt>
                <c:pt idx="64">
                  <c:v>2.75E-2</c:v>
                </c:pt>
                <c:pt idx="65">
                  <c:v>1.8800000000000001E-2</c:v>
                </c:pt>
                <c:pt idx="66">
                  <c:v>7.7999999999999996E-3</c:v>
                </c:pt>
                <c:pt idx="67">
                  <c:v>1.1000000000000001E-3</c:v>
                </c:pt>
                <c:pt idx="68">
                  <c:v>1.2E-2</c:v>
                </c:pt>
                <c:pt idx="69">
                  <c:v>-1.47E-2</c:v>
                </c:pt>
                <c:pt idx="70">
                  <c:v>1.12E-2</c:v>
                </c:pt>
                <c:pt idx="71">
                  <c:v>-4.36E-2</c:v>
                </c:pt>
                <c:pt idx="72">
                  <c:v>2.3099999999999999E-2</c:v>
                </c:pt>
                <c:pt idx="73">
                  <c:v>1.5800000000000002E-2</c:v>
                </c:pt>
                <c:pt idx="74">
                  <c:v>2.69E-2</c:v>
                </c:pt>
                <c:pt idx="75">
                  <c:v>-2.1899999999999999E-2</c:v>
                </c:pt>
                <c:pt idx="76">
                  <c:v>2.3999999999999998E-3</c:v>
                </c:pt>
                <c:pt idx="77">
                  <c:v>-2.3199999999999998E-2</c:v>
                </c:pt>
                <c:pt idx="78">
                  <c:v>-1.4E-2</c:v>
                </c:pt>
                <c:pt idx="79">
                  <c:v>-8.5000000000000006E-3</c:v>
                </c:pt>
                <c:pt idx="80">
                  <c:v>-2.7000000000000001E-3</c:v>
                </c:pt>
                <c:pt idx="81">
                  <c:v>2.76E-2</c:v>
                </c:pt>
                <c:pt idx="82">
                  <c:v>5.8999999999999999E-3</c:v>
                </c:pt>
                <c:pt idx="83">
                  <c:v>2E-3</c:v>
                </c:pt>
                <c:pt idx="84">
                  <c:v>-1.3599999999999999E-2</c:v>
                </c:pt>
                <c:pt idx="85">
                  <c:v>3.5400000000000001E-2</c:v>
                </c:pt>
                <c:pt idx="86">
                  <c:v>6.9999999999999999E-4</c:v>
                </c:pt>
                <c:pt idx="87">
                  <c:v>-1.52E-2</c:v>
                </c:pt>
                <c:pt idx="88">
                  <c:v>1.2999999999999999E-2</c:v>
                </c:pt>
                <c:pt idx="89">
                  <c:v>-4.3499999999999997E-2</c:v>
                </c:pt>
                <c:pt idx="90">
                  <c:v>-2.3E-3</c:v>
                </c:pt>
                <c:pt idx="91">
                  <c:v>2.47E-2</c:v>
                </c:pt>
                <c:pt idx="92">
                  <c:v>2.3999999999999998E-3</c:v>
                </c:pt>
                <c:pt idx="93">
                  <c:v>1.15E-2</c:v>
                </c:pt>
                <c:pt idx="94">
                  <c:v>-7.7000000000000002E-3</c:v>
                </c:pt>
                <c:pt idx="95">
                  <c:v>9.7999999999999997E-3</c:v>
                </c:pt>
                <c:pt idx="96">
                  <c:v>7.7999999999999996E-3</c:v>
                </c:pt>
                <c:pt idx="97">
                  <c:v>1.1999999999999999E-3</c:v>
                </c:pt>
                <c:pt idx="98">
                  <c:v>-6.13E-2</c:v>
                </c:pt>
                <c:pt idx="99">
                  <c:v>2.3599999999999999E-2</c:v>
                </c:pt>
                <c:pt idx="100">
                  <c:v>2.2100000000000002E-2</c:v>
                </c:pt>
                <c:pt idx="101">
                  <c:v>-1.24E-2</c:v>
                </c:pt>
                <c:pt idx="102">
                  <c:v>3.5999999999999999E-3</c:v>
                </c:pt>
                <c:pt idx="103">
                  <c:v>2.8999999999999998E-3</c:v>
                </c:pt>
                <c:pt idx="104">
                  <c:v>1.47E-2</c:v>
                </c:pt>
                <c:pt idx="105">
                  <c:v>4.7300000000000002E-2</c:v>
                </c:pt>
                <c:pt idx="106">
                  <c:v>-7.3000000000000001E-3</c:v>
                </c:pt>
                <c:pt idx="107">
                  <c:v>-1.9099999999999999E-2</c:v>
                </c:pt>
                <c:pt idx="108">
                  <c:v>2.23E-2</c:v>
                </c:pt>
                <c:pt idx="109">
                  <c:v>2.76E-2</c:v>
                </c:pt>
                <c:pt idx="110">
                  <c:v>-1.5599999999999999E-2</c:v>
                </c:pt>
                <c:pt idx="111">
                  <c:v>-0.03</c:v>
                </c:pt>
                <c:pt idx="112">
                  <c:v>-0.1138</c:v>
                </c:pt>
                <c:pt idx="113">
                  <c:v>7.6E-3</c:v>
                </c:pt>
                <c:pt idx="114">
                  <c:v>4.2200000000000001E-2</c:v>
                </c:pt>
                <c:pt idx="115">
                  <c:v>-2.29E-2</c:v>
                </c:pt>
                <c:pt idx="116">
                  <c:v>5.6399999999999999E-2</c:v>
                </c:pt>
                <c:pt idx="117">
                  <c:v>1.7500000000000002E-2</c:v>
                </c:pt>
                <c:pt idx="118">
                  <c:v>1.4E-2</c:v>
                </c:pt>
                <c:pt idx="119">
                  <c:v>3.3399999999999999E-2</c:v>
                </c:pt>
                <c:pt idx="120">
                  <c:v>-2.87E-2</c:v>
                </c:pt>
                <c:pt idx="121">
                  <c:v>-6.0400000000000002E-2</c:v>
                </c:pt>
                <c:pt idx="122">
                  <c:v>2.9999999999999997E-4</c:v>
                </c:pt>
                <c:pt idx="123">
                  <c:v>-8.0000000000000002E-3</c:v>
                </c:pt>
                <c:pt idx="124">
                  <c:v>3.6499999999999998E-2</c:v>
                </c:pt>
                <c:pt idx="125">
                  <c:v>6.1000000000000004E-3</c:v>
                </c:pt>
                <c:pt idx="126">
                  <c:v>-3.8300000000000001E-2</c:v>
                </c:pt>
                <c:pt idx="127">
                  <c:v>-4.3099999999999999E-2</c:v>
                </c:pt>
                <c:pt idx="128">
                  <c:v>1.14E-2</c:v>
                </c:pt>
                <c:pt idx="129">
                  <c:v>-3.4799999999999998E-2</c:v>
                </c:pt>
                <c:pt idx="130">
                  <c:v>-4.4999999999999997E-3</c:v>
                </c:pt>
                <c:pt idx="131">
                  <c:v>-9.4000000000000004E-3</c:v>
                </c:pt>
                <c:pt idx="132">
                  <c:v>4.4499999999999998E-2</c:v>
                </c:pt>
                <c:pt idx="133">
                  <c:v>2.5399999999999999E-2</c:v>
                </c:pt>
                <c:pt idx="134">
                  <c:v>-2.0999999999999999E-3</c:v>
                </c:pt>
                <c:pt idx="135">
                  <c:v>3.4799999999999998E-2</c:v>
                </c:pt>
                <c:pt idx="136">
                  <c:v>2.3199999999999998E-2</c:v>
                </c:pt>
                <c:pt idx="137">
                  <c:v>-6.0000000000000001E-3</c:v>
                </c:pt>
                <c:pt idx="138">
                  <c:v>-5.4800000000000001E-2</c:v>
                </c:pt>
                <c:pt idx="139">
                  <c:v>-3.3999999999999998E-3</c:v>
                </c:pt>
                <c:pt idx="140">
                  <c:v>-6.7999999999999996E-3</c:v>
                </c:pt>
                <c:pt idx="141">
                  <c:v>-4.5499999999999999E-2</c:v>
                </c:pt>
                <c:pt idx="142">
                  <c:v>-6.4999999999999997E-3</c:v>
                </c:pt>
                <c:pt idx="143">
                  <c:v>2.6700000000000002E-2</c:v>
                </c:pt>
                <c:pt idx="144">
                  <c:v>2.24E-2</c:v>
                </c:pt>
                <c:pt idx="145">
                  <c:v>2.7199999999999998E-2</c:v>
                </c:pt>
                <c:pt idx="146">
                  <c:v>6.7000000000000002E-3</c:v>
                </c:pt>
                <c:pt idx="147">
                  <c:v>2.1299999999999999E-2</c:v>
                </c:pt>
                <c:pt idx="148">
                  <c:v>2.12E-2</c:v>
                </c:pt>
                <c:pt idx="149">
                  <c:v>-8.8000000000000005E-3</c:v>
                </c:pt>
                <c:pt idx="150">
                  <c:v>3.1199999999999999E-2</c:v>
                </c:pt>
                <c:pt idx="151">
                  <c:v>-1.49E-2</c:v>
                </c:pt>
                <c:pt idx="152">
                  <c:v>1.3299999999999999E-2</c:v>
                </c:pt>
                <c:pt idx="153">
                  <c:v>-4.4999999999999997E-3</c:v>
                </c:pt>
                <c:pt idx="154">
                  <c:v>1.03E-2</c:v>
                </c:pt>
                <c:pt idx="155">
                  <c:v>9.2999999999999992E-3</c:v>
                </c:pt>
                <c:pt idx="156">
                  <c:v>2.3300000000000001E-2</c:v>
                </c:pt>
                <c:pt idx="157">
                  <c:v>1.78E-2</c:v>
                </c:pt>
                <c:pt idx="158">
                  <c:v>1.0999999999999999E-2</c:v>
                </c:pt>
                <c:pt idx="159">
                  <c:v>3.7199999999999997E-2</c:v>
                </c:pt>
                <c:pt idx="160">
                  <c:v>1.77E-2</c:v>
                </c:pt>
                <c:pt idx="161">
                  <c:v>3.3599999999999998E-2</c:v>
                </c:pt>
                <c:pt idx="162">
                  <c:v>3.2399999999999998E-2</c:v>
                </c:pt>
                <c:pt idx="163">
                  <c:v>9.5999999999999992E-3</c:v>
                </c:pt>
                <c:pt idx="164">
                  <c:v>1.1999999999999999E-3</c:v>
                </c:pt>
                <c:pt idx="165">
                  <c:v>-5.2400000000000002E-2</c:v>
                </c:pt>
                <c:pt idx="166">
                  <c:v>-3.4099999999999998E-2</c:v>
                </c:pt>
                <c:pt idx="167">
                  <c:v>1E-3</c:v>
                </c:pt>
                <c:pt idx="168">
                  <c:v>3.27E-2</c:v>
                </c:pt>
                <c:pt idx="169">
                  <c:v>1.84E-2</c:v>
                </c:pt>
                <c:pt idx="170">
                  <c:v>2.6800000000000001E-2</c:v>
                </c:pt>
                <c:pt idx="171">
                  <c:v>7.7000000000000002E-3</c:v>
                </c:pt>
                <c:pt idx="172">
                  <c:v>-2.3599999999999999E-2</c:v>
                </c:pt>
                <c:pt idx="173">
                  <c:v>2.41E-2</c:v>
                </c:pt>
                <c:pt idx="174">
                  <c:v>1.04E-2</c:v>
                </c:pt>
                <c:pt idx="175">
                  <c:v>8.5000000000000006E-3</c:v>
                </c:pt>
                <c:pt idx="176">
                  <c:v>7.8200000000000006E-2</c:v>
                </c:pt>
                <c:pt idx="177">
                  <c:v>-2.5000000000000001E-3</c:v>
                </c:pt>
                <c:pt idx="178">
                  <c:v>3.5999999999999997E-2</c:v>
                </c:pt>
                <c:pt idx="179">
                  <c:v>1.26E-2</c:v>
                </c:pt>
                <c:pt idx="180">
                  <c:v>-6.8999999999999999E-3</c:v>
                </c:pt>
                <c:pt idx="181">
                  <c:v>7.7999999999999996E-3</c:v>
                </c:pt>
                <c:pt idx="182">
                  <c:v>-2.0000000000000001E-4</c:v>
                </c:pt>
                <c:pt idx="183">
                  <c:v>3.6999999999999998E-2</c:v>
                </c:pt>
                <c:pt idx="184">
                  <c:v>1.0200000000000001E-2</c:v>
                </c:pt>
                <c:pt idx="185">
                  <c:v>-4.0000000000000001E-3</c:v>
                </c:pt>
                <c:pt idx="186">
                  <c:v>-1.0800000000000001E-2</c:v>
                </c:pt>
                <c:pt idx="187">
                  <c:v>-2.4799999999999999E-2</c:v>
                </c:pt>
                <c:pt idx="188">
                  <c:v>-1.83E-2</c:v>
                </c:pt>
                <c:pt idx="189">
                  <c:v>2.8799999999999999E-2</c:v>
                </c:pt>
                <c:pt idx="190">
                  <c:v>-2.0000000000000001E-4</c:v>
                </c:pt>
                <c:pt idx="191">
                  <c:v>-3.0800000000000001E-2</c:v>
                </c:pt>
                <c:pt idx="192">
                  <c:v>-6.9999999999999999E-4</c:v>
                </c:pt>
                <c:pt idx="193">
                  <c:v>-3.2399999999999998E-2</c:v>
                </c:pt>
                <c:pt idx="194">
                  <c:v>-6.8999999999999999E-3</c:v>
                </c:pt>
                <c:pt idx="195">
                  <c:v>-5.9900000000000002E-2</c:v>
                </c:pt>
                <c:pt idx="196">
                  <c:v>2.8799999999999999E-2</c:v>
                </c:pt>
                <c:pt idx="197">
                  <c:v>4.4999999999999997E-3</c:v>
                </c:pt>
                <c:pt idx="198">
                  <c:v>3.3E-3</c:v>
                </c:pt>
                <c:pt idx="199">
                  <c:v>3.4799999999999998E-2</c:v>
                </c:pt>
                <c:pt idx="200">
                  <c:v>-1.37E-2</c:v>
                </c:pt>
                <c:pt idx="201">
                  <c:v>3.9399999999999998E-2</c:v>
                </c:pt>
                <c:pt idx="202">
                  <c:v>6.6E-3</c:v>
                </c:pt>
                <c:pt idx="203">
                  <c:v>1.7000000000000001E-2</c:v>
                </c:pt>
                <c:pt idx="204">
                  <c:v>-3.8999999999999998E-3</c:v>
                </c:pt>
                <c:pt idx="205">
                  <c:v>1.23E-2</c:v>
                </c:pt>
                <c:pt idx="206">
                  <c:v>1E-4</c:v>
                </c:pt>
                <c:pt idx="207">
                  <c:v>1.6999999999999999E-3</c:v>
                </c:pt>
                <c:pt idx="208">
                  <c:v>1.43E-2</c:v>
                </c:pt>
                <c:pt idx="209">
                  <c:v>3.1199999999999999E-2</c:v>
                </c:pt>
                <c:pt idx="210">
                  <c:v>-9.2999999999999992E-3</c:v>
                </c:pt>
                <c:pt idx="211">
                  <c:v>1.5599999999999999E-2</c:v>
                </c:pt>
                <c:pt idx="212">
                  <c:v>1.77E-2</c:v>
                </c:pt>
                <c:pt idx="213">
                  <c:v>1.1599999999999999E-2</c:v>
                </c:pt>
                <c:pt idx="214">
                  <c:v>3.0999999999999999E-3</c:v>
                </c:pt>
                <c:pt idx="215">
                  <c:v>5.7000000000000002E-3</c:v>
                </c:pt>
                <c:pt idx="216">
                  <c:v>6.7000000000000002E-3</c:v>
                </c:pt>
                <c:pt idx="217">
                  <c:v>3.0000000000000001E-3</c:v>
                </c:pt>
                <c:pt idx="218">
                  <c:v>-3.5000000000000001E-3</c:v>
                </c:pt>
                <c:pt idx="219">
                  <c:v>2.2000000000000001E-3</c:v>
                </c:pt>
                <c:pt idx="220">
                  <c:v>-2E-3</c:v>
                </c:pt>
                <c:pt idx="221">
                  <c:v>-2.7300000000000001E-2</c:v>
                </c:pt>
                <c:pt idx="222">
                  <c:v>1.24E-2</c:v>
                </c:pt>
                <c:pt idx="223">
                  <c:v>-5.7000000000000002E-3</c:v>
                </c:pt>
                <c:pt idx="224">
                  <c:v>4.48E-2</c:v>
                </c:pt>
                <c:pt idx="225">
                  <c:v>-1.9E-3</c:v>
                </c:pt>
                <c:pt idx="226">
                  <c:v>2.1899999999999999E-2</c:v>
                </c:pt>
                <c:pt idx="227">
                  <c:v>4.3E-3</c:v>
                </c:pt>
                <c:pt idx="228">
                  <c:v>-8.6E-3</c:v>
                </c:pt>
                <c:pt idx="229">
                  <c:v>-3.1E-2</c:v>
                </c:pt>
                <c:pt idx="230">
                  <c:v>1.8499999999999999E-2</c:v>
                </c:pt>
                <c:pt idx="231">
                  <c:v>-3.5299999999999998E-2</c:v>
                </c:pt>
                <c:pt idx="232">
                  <c:v>1.2200000000000001E-2</c:v>
                </c:pt>
                <c:pt idx="233">
                  <c:v>-1.3899999999999999E-2</c:v>
                </c:pt>
                <c:pt idx="234">
                  <c:v>2.58E-2</c:v>
                </c:pt>
                <c:pt idx="235">
                  <c:v>8.2000000000000007E-3</c:v>
                </c:pt>
                <c:pt idx="236">
                  <c:v>8.3000000000000001E-3</c:v>
                </c:pt>
                <c:pt idx="237">
                  <c:v>3.3E-3</c:v>
                </c:pt>
                <c:pt idx="238">
                  <c:v>-2.6100000000000002E-2</c:v>
                </c:pt>
                <c:pt idx="239">
                  <c:v>-3.3300000000000003E-2</c:v>
                </c:pt>
                <c:pt idx="240">
                  <c:v>3.5099999999999999E-2</c:v>
                </c:pt>
                <c:pt idx="241">
                  <c:v>5.0000000000000001E-4</c:v>
                </c:pt>
                <c:pt idx="242">
                  <c:v>-1E-3</c:v>
                </c:pt>
                <c:pt idx="243">
                  <c:v>8.3000000000000001E-3</c:v>
                </c:pt>
                <c:pt idx="244">
                  <c:v>-1.66E-2</c:v>
                </c:pt>
                <c:pt idx="245">
                  <c:v>4.1999999999999997E-3</c:v>
                </c:pt>
                <c:pt idx="246">
                  <c:v>3.0499999999999999E-2</c:v>
                </c:pt>
                <c:pt idx="247">
                  <c:v>-2.1000000000000001E-2</c:v>
                </c:pt>
                <c:pt idx="248">
                  <c:v>-1.47E-2</c:v>
                </c:pt>
                <c:pt idx="249">
                  <c:v>1.89E-2</c:v>
                </c:pt>
                <c:pt idx="250">
                  <c:v>-3.6900000000000002E-2</c:v>
                </c:pt>
                <c:pt idx="251">
                  <c:v>2.0000000000000001E-4</c:v>
                </c:pt>
                <c:pt idx="252">
                  <c:v>1.6299999999999999E-2</c:v>
                </c:pt>
                <c:pt idx="253">
                  <c:v>-6.6E-3</c:v>
                </c:pt>
                <c:pt idx="254">
                  <c:v>-1.6000000000000001E-3</c:v>
                </c:pt>
                <c:pt idx="255">
                  <c:v>-5.7999999999999996E-3</c:v>
                </c:pt>
                <c:pt idx="256">
                  <c:v>4.5199999999999997E-2</c:v>
                </c:pt>
                <c:pt idx="257">
                  <c:v>8.8000000000000005E-3</c:v>
                </c:pt>
                <c:pt idx="258">
                  <c:v>-1.14E-2</c:v>
                </c:pt>
                <c:pt idx="259">
                  <c:v>3.3999999999999998E-3</c:v>
                </c:pt>
                <c:pt idx="260">
                  <c:v>2.0199999999999999E-2</c:v>
                </c:pt>
                <c:pt idx="261">
                  <c:v>3.1199999999999999E-2</c:v>
                </c:pt>
                <c:pt idx="262">
                  <c:v>-9.2999999999999992E-3</c:v>
                </c:pt>
                <c:pt idx="263">
                  <c:v>1.5599999999999999E-2</c:v>
                </c:pt>
                <c:pt idx="264">
                  <c:v>1.77E-2</c:v>
                </c:pt>
                <c:pt idx="265">
                  <c:v>1.1599999999999999E-2</c:v>
                </c:pt>
                <c:pt idx="266">
                  <c:v>3.0999999999999999E-3</c:v>
                </c:pt>
                <c:pt idx="267">
                  <c:v>5.7000000000000002E-3</c:v>
                </c:pt>
                <c:pt idx="268">
                  <c:v>6.7000000000000002E-3</c:v>
                </c:pt>
                <c:pt idx="269">
                  <c:v>3.0000000000000001E-3</c:v>
                </c:pt>
                <c:pt idx="270">
                  <c:v>-3.5000000000000001E-3</c:v>
                </c:pt>
                <c:pt idx="271">
                  <c:v>2.2000000000000001E-3</c:v>
                </c:pt>
                <c:pt idx="272">
                  <c:v>-2E-3</c:v>
                </c:pt>
                <c:pt idx="273">
                  <c:v>-2.7300000000000001E-2</c:v>
                </c:pt>
                <c:pt idx="274">
                  <c:v>1.24E-2</c:v>
                </c:pt>
                <c:pt idx="275">
                  <c:v>-5.7000000000000002E-3</c:v>
                </c:pt>
                <c:pt idx="276">
                  <c:v>4.48E-2</c:v>
                </c:pt>
                <c:pt idx="277">
                  <c:v>-1.9E-3</c:v>
                </c:pt>
                <c:pt idx="278">
                  <c:v>2.1899999999999999E-2</c:v>
                </c:pt>
                <c:pt idx="279">
                  <c:v>4.3E-3</c:v>
                </c:pt>
                <c:pt idx="280">
                  <c:v>-8.6E-3</c:v>
                </c:pt>
                <c:pt idx="281">
                  <c:v>-3.1E-2</c:v>
                </c:pt>
                <c:pt idx="282">
                  <c:v>1.8499999999999999E-2</c:v>
                </c:pt>
                <c:pt idx="283">
                  <c:v>-3.5299999999999998E-2</c:v>
                </c:pt>
                <c:pt idx="284">
                  <c:v>1.2200000000000001E-2</c:v>
                </c:pt>
                <c:pt idx="285">
                  <c:v>-1.3899999999999999E-2</c:v>
                </c:pt>
                <c:pt idx="286">
                  <c:v>2.58E-2</c:v>
                </c:pt>
                <c:pt idx="287">
                  <c:v>8.2000000000000007E-3</c:v>
                </c:pt>
                <c:pt idx="288">
                  <c:v>8.3000000000000001E-3</c:v>
                </c:pt>
                <c:pt idx="289">
                  <c:v>3.3E-3</c:v>
                </c:pt>
                <c:pt idx="290">
                  <c:v>-2.6100000000000002E-2</c:v>
                </c:pt>
                <c:pt idx="291">
                  <c:v>-3.3300000000000003E-2</c:v>
                </c:pt>
                <c:pt idx="292">
                  <c:v>3.5099999999999999E-2</c:v>
                </c:pt>
                <c:pt idx="293">
                  <c:v>5.0000000000000001E-4</c:v>
                </c:pt>
                <c:pt idx="294">
                  <c:v>-1E-3</c:v>
                </c:pt>
                <c:pt idx="295">
                  <c:v>8.3000000000000001E-3</c:v>
                </c:pt>
                <c:pt idx="296">
                  <c:v>-1.66E-2</c:v>
                </c:pt>
                <c:pt idx="297">
                  <c:v>4.1999999999999997E-3</c:v>
                </c:pt>
                <c:pt idx="298">
                  <c:v>3.0499999999999999E-2</c:v>
                </c:pt>
                <c:pt idx="299">
                  <c:v>-2.1000000000000001E-2</c:v>
                </c:pt>
                <c:pt idx="300">
                  <c:v>-1.47E-2</c:v>
                </c:pt>
                <c:pt idx="301">
                  <c:v>1.89E-2</c:v>
                </c:pt>
                <c:pt idx="302">
                  <c:v>-3.6900000000000002E-2</c:v>
                </c:pt>
                <c:pt idx="303">
                  <c:v>2.0000000000000001E-4</c:v>
                </c:pt>
                <c:pt idx="304">
                  <c:v>1.6299999999999999E-2</c:v>
                </c:pt>
                <c:pt idx="305">
                  <c:v>-6.6E-3</c:v>
                </c:pt>
                <c:pt idx="306">
                  <c:v>-1.6000000000000001E-3</c:v>
                </c:pt>
                <c:pt idx="307">
                  <c:v>-5.7999999999999996E-3</c:v>
                </c:pt>
                <c:pt idx="308">
                  <c:v>4.5199999999999997E-2</c:v>
                </c:pt>
                <c:pt idx="309">
                  <c:v>8.8000000000000005E-3</c:v>
                </c:pt>
                <c:pt idx="310">
                  <c:v>-1.14E-2</c:v>
                </c:pt>
                <c:pt idx="311">
                  <c:v>3.3999999999999998E-3</c:v>
                </c:pt>
                <c:pt idx="312">
                  <c:v>2.0199999999999999E-2</c:v>
                </c:pt>
                <c:pt idx="313">
                  <c:v>1.14E-2</c:v>
                </c:pt>
                <c:pt idx="314">
                  <c:v>1.3899999999999999E-2</c:v>
                </c:pt>
                <c:pt idx="315">
                  <c:v>1.2800000000000001E-2</c:v>
                </c:pt>
                <c:pt idx="316">
                  <c:v>3.3999999999999998E-3</c:v>
                </c:pt>
                <c:pt idx="317">
                  <c:v>5.4999999999999997E-3</c:v>
                </c:pt>
                <c:pt idx="318">
                  <c:v>2.98E-2</c:v>
                </c:pt>
                <c:pt idx="319">
                  <c:v>8.6E-3</c:v>
                </c:pt>
                <c:pt idx="320">
                  <c:v>-6.4000000000000003E-3</c:v>
                </c:pt>
                <c:pt idx="321">
                  <c:v>1.2200000000000001E-2</c:v>
                </c:pt>
                <c:pt idx="322">
                  <c:v>4.07E-2</c:v>
                </c:pt>
                <c:pt idx="323">
                  <c:v>2.0999999999999999E-3</c:v>
                </c:pt>
                <c:pt idx="324">
                  <c:v>2.2700000000000001E-2</c:v>
                </c:pt>
                <c:pt idx="325">
                  <c:v>-7.9600000000000004E-2</c:v>
                </c:pt>
                <c:pt idx="326">
                  <c:v>-9.4000000000000004E-3</c:v>
                </c:pt>
                <c:pt idx="327">
                  <c:v>3.7600000000000001E-2</c:v>
                </c:pt>
                <c:pt idx="328">
                  <c:v>3.8600000000000002E-2</c:v>
                </c:pt>
                <c:pt idx="329">
                  <c:v>1.2E-2</c:v>
                </c:pt>
                <c:pt idx="330">
                  <c:v>1.41E-2</c:v>
                </c:pt>
                <c:pt idx="331">
                  <c:v>3.0599999999999999E-2</c:v>
                </c:pt>
                <c:pt idx="332">
                  <c:v>-1E-3</c:v>
                </c:pt>
                <c:pt idx="333">
                  <c:v>1.6E-2</c:v>
                </c:pt>
                <c:pt idx="334">
                  <c:v>6.4000000000000003E-3</c:v>
                </c:pt>
                <c:pt idx="335">
                  <c:v>-4.0000000000000001E-3</c:v>
                </c:pt>
                <c:pt idx="336">
                  <c:v>-1.8200000000000001E-2</c:v>
                </c:pt>
                <c:pt idx="337">
                  <c:v>4.1599999999999998E-2</c:v>
                </c:pt>
                <c:pt idx="338">
                  <c:v>2.1899999999999999E-2</c:v>
                </c:pt>
                <c:pt idx="339">
                  <c:v>2.1899999999999999E-2</c:v>
                </c:pt>
                <c:pt idx="340">
                  <c:v>1.29E-2</c:v>
                </c:pt>
                <c:pt idx="341">
                  <c:v>-8.5000000000000006E-3</c:v>
                </c:pt>
                <c:pt idx="342">
                  <c:v>-4.4000000000000003E-3</c:v>
                </c:pt>
                <c:pt idx="343">
                  <c:v>5.62E-2</c:v>
                </c:pt>
                <c:pt idx="344">
                  <c:v>2.7099999999999999E-2</c:v>
                </c:pt>
                <c:pt idx="345">
                  <c:v>-1.0500000000000001E-2</c:v>
                </c:pt>
                <c:pt idx="346">
                  <c:v>-3.9100000000000003E-2</c:v>
                </c:pt>
                <c:pt idx="347">
                  <c:v>6.9999999999999999E-4</c:v>
                </c:pt>
                <c:pt idx="348">
                  <c:v>1.9599999999999999E-2</c:v>
                </c:pt>
                <c:pt idx="349">
                  <c:v>-1.5599999999999999E-2</c:v>
                </c:pt>
                <c:pt idx="350">
                  <c:v>6.9999999999999999E-4</c:v>
                </c:pt>
                <c:pt idx="351">
                  <c:v>2.2100000000000002E-2</c:v>
                </c:pt>
                <c:pt idx="352">
                  <c:v>1.61E-2</c:v>
                </c:pt>
                <c:pt idx="353">
                  <c:v>-5.8099999999999999E-2</c:v>
                </c:pt>
                <c:pt idx="354">
                  <c:v>1.2E-2</c:v>
                </c:pt>
                <c:pt idx="355">
                  <c:v>-8.0999999999999996E-3</c:v>
                </c:pt>
                <c:pt idx="356">
                  <c:v>-4.1999999999999997E-3</c:v>
                </c:pt>
                <c:pt idx="357">
                  <c:v>3.6499999999999998E-2</c:v>
                </c:pt>
                <c:pt idx="358">
                  <c:v>1.1000000000000001E-3</c:v>
                </c:pt>
                <c:pt idx="359">
                  <c:v>1.04E-2</c:v>
                </c:pt>
                <c:pt idx="360">
                  <c:v>1.04E-2</c:v>
                </c:pt>
                <c:pt idx="361">
                  <c:v>-2.9999999999999997E-4</c:v>
                </c:pt>
                <c:pt idx="362">
                  <c:v>3.8999999999999998E-3</c:v>
                </c:pt>
                <c:pt idx="363">
                  <c:v>7.0000000000000001E-3</c:v>
                </c:pt>
              </c:numCache>
            </c:numRef>
          </c:xVal>
          <c:yVal>
            <c:numRef>
              <c:f>'Kri-Kri Milk Stock Price Histor'!$C$2:$C$365</c:f>
              <c:numCache>
                <c:formatCode>0.00%</c:formatCode>
                <c:ptCount val="364"/>
                <c:pt idx="0">
                  <c:v>-2.5399999999999999E-2</c:v>
                </c:pt>
                <c:pt idx="1">
                  <c:v>2.23E-2</c:v>
                </c:pt>
                <c:pt idx="2">
                  <c:v>2.9100000000000001E-2</c:v>
                </c:pt>
                <c:pt idx="3">
                  <c:v>-4.24E-2</c:v>
                </c:pt>
                <c:pt idx="4">
                  <c:v>7.4000000000000003E-3</c:v>
                </c:pt>
                <c:pt idx="5">
                  <c:v>2.1999999999999999E-2</c:v>
                </c:pt>
                <c:pt idx="6">
                  <c:v>-2.87E-2</c:v>
                </c:pt>
                <c:pt idx="7">
                  <c:v>-0.1439</c:v>
                </c:pt>
                <c:pt idx="8">
                  <c:v>-3.4500000000000003E-2</c:v>
                </c:pt>
                <c:pt idx="9">
                  <c:v>-0.1406</c:v>
                </c:pt>
                <c:pt idx="10">
                  <c:v>0.18179999999999999</c:v>
                </c:pt>
                <c:pt idx="11">
                  <c:v>-4.3999999999999997E-2</c:v>
                </c:pt>
                <c:pt idx="12">
                  <c:v>-1.15E-2</c:v>
                </c:pt>
                <c:pt idx="13">
                  <c:v>6.9800000000000001E-2</c:v>
                </c:pt>
                <c:pt idx="14">
                  <c:v>1.09E-2</c:v>
                </c:pt>
                <c:pt idx="15">
                  <c:v>2.58E-2</c:v>
                </c:pt>
                <c:pt idx="16">
                  <c:v>1.89E-2</c:v>
                </c:pt>
                <c:pt idx="17">
                  <c:v>2.47E-2</c:v>
                </c:pt>
                <c:pt idx="18">
                  <c:v>-1.61E-2</c:v>
                </c:pt>
                <c:pt idx="19">
                  <c:v>3.27E-2</c:v>
                </c:pt>
                <c:pt idx="20">
                  <c:v>5.5300000000000002E-2</c:v>
                </c:pt>
                <c:pt idx="21">
                  <c:v>0.1236</c:v>
                </c:pt>
                <c:pt idx="22">
                  <c:v>-8.6699999999999999E-2</c:v>
                </c:pt>
                <c:pt idx="23">
                  <c:v>-1.46E-2</c:v>
                </c:pt>
                <c:pt idx="24">
                  <c:v>5.9299999999999999E-2</c:v>
                </c:pt>
                <c:pt idx="25">
                  <c:v>1.7500000000000002E-2</c:v>
                </c:pt>
                <c:pt idx="26">
                  <c:v>1.37E-2</c:v>
                </c:pt>
                <c:pt idx="27">
                  <c:v>6.7999999999999996E-3</c:v>
                </c:pt>
                <c:pt idx="28">
                  <c:v>-2.0199999999999999E-2</c:v>
                </c:pt>
                <c:pt idx="29">
                  <c:v>-1.37E-2</c:v>
                </c:pt>
                <c:pt idx="30">
                  <c:v>8.7099999999999997E-2</c:v>
                </c:pt>
                <c:pt idx="31">
                  <c:v>-5.45E-2</c:v>
                </c:pt>
                <c:pt idx="32">
                  <c:v>0</c:v>
                </c:pt>
                <c:pt idx="33">
                  <c:v>6.7999999999999996E-3</c:v>
                </c:pt>
                <c:pt idx="34">
                  <c:v>6.7000000000000002E-3</c:v>
                </c:pt>
                <c:pt idx="35">
                  <c:v>-3.0099999999999998E-2</c:v>
                </c:pt>
                <c:pt idx="36">
                  <c:v>4.48E-2</c:v>
                </c:pt>
                <c:pt idx="37">
                  <c:v>-6.6E-3</c:v>
                </c:pt>
                <c:pt idx="38">
                  <c:v>2.3300000000000001E-2</c:v>
                </c:pt>
                <c:pt idx="39">
                  <c:v>6.4899999999999999E-2</c:v>
                </c:pt>
                <c:pt idx="40">
                  <c:v>-3.9600000000000003E-2</c:v>
                </c:pt>
                <c:pt idx="41">
                  <c:v>6.3E-3</c:v>
                </c:pt>
                <c:pt idx="42">
                  <c:v>-2.52E-2</c:v>
                </c:pt>
                <c:pt idx="43">
                  <c:v>1.29E-2</c:v>
                </c:pt>
                <c:pt idx="44">
                  <c:v>6.4000000000000003E-3</c:v>
                </c:pt>
                <c:pt idx="45">
                  <c:v>1.9E-2</c:v>
                </c:pt>
                <c:pt idx="46">
                  <c:v>0</c:v>
                </c:pt>
                <c:pt idx="47">
                  <c:v>-3.0999999999999999E-3</c:v>
                </c:pt>
                <c:pt idx="48">
                  <c:v>0</c:v>
                </c:pt>
                <c:pt idx="49">
                  <c:v>4.0599999999999997E-2</c:v>
                </c:pt>
                <c:pt idx="50">
                  <c:v>-3.3000000000000002E-2</c:v>
                </c:pt>
                <c:pt idx="51">
                  <c:v>1.55E-2</c:v>
                </c:pt>
                <c:pt idx="52">
                  <c:v>9.1999999999999998E-3</c:v>
                </c:pt>
                <c:pt idx="53">
                  <c:v>0</c:v>
                </c:pt>
                <c:pt idx="54">
                  <c:v>3.0000000000000001E-3</c:v>
                </c:pt>
                <c:pt idx="55">
                  <c:v>6.0000000000000001E-3</c:v>
                </c:pt>
                <c:pt idx="56">
                  <c:v>4.2000000000000003E-2</c:v>
                </c:pt>
                <c:pt idx="57">
                  <c:v>2.3099999999999999E-2</c:v>
                </c:pt>
                <c:pt idx="58">
                  <c:v>-1.41E-2</c:v>
                </c:pt>
                <c:pt idx="59">
                  <c:v>0.04</c:v>
                </c:pt>
                <c:pt idx="60">
                  <c:v>-2.7000000000000001E-3</c:v>
                </c:pt>
                <c:pt idx="61">
                  <c:v>0</c:v>
                </c:pt>
                <c:pt idx="62">
                  <c:v>1.9300000000000001E-2</c:v>
                </c:pt>
                <c:pt idx="63">
                  <c:v>8.0999999999999996E-3</c:v>
                </c:pt>
                <c:pt idx="64">
                  <c:v>3.2199999999999999E-2</c:v>
                </c:pt>
                <c:pt idx="65">
                  <c:v>7.7999999999999996E-3</c:v>
                </c:pt>
                <c:pt idx="66">
                  <c:v>-2.06E-2</c:v>
                </c:pt>
                <c:pt idx="67">
                  <c:v>-1.32E-2</c:v>
                </c:pt>
                <c:pt idx="68">
                  <c:v>2.93E-2</c:v>
                </c:pt>
                <c:pt idx="69">
                  <c:v>-1.55E-2</c:v>
                </c:pt>
                <c:pt idx="70">
                  <c:v>-1.84E-2</c:v>
                </c:pt>
                <c:pt idx="71">
                  <c:v>-2.7000000000000001E-3</c:v>
                </c:pt>
                <c:pt idx="72">
                  <c:v>2.69E-2</c:v>
                </c:pt>
                <c:pt idx="73">
                  <c:v>1.3100000000000001E-2</c:v>
                </c:pt>
                <c:pt idx="74">
                  <c:v>2.07E-2</c:v>
                </c:pt>
                <c:pt idx="75">
                  <c:v>1.77E-2</c:v>
                </c:pt>
                <c:pt idx="76">
                  <c:v>5.7200000000000001E-2</c:v>
                </c:pt>
                <c:pt idx="77">
                  <c:v>3.5299999999999998E-2</c:v>
                </c:pt>
                <c:pt idx="78">
                  <c:v>-1.8200000000000001E-2</c:v>
                </c:pt>
                <c:pt idx="79">
                  <c:v>-4.5999999999999999E-3</c:v>
                </c:pt>
                <c:pt idx="80">
                  <c:v>7.0000000000000001E-3</c:v>
                </c:pt>
                <c:pt idx="81">
                  <c:v>1.6199999999999999E-2</c:v>
                </c:pt>
                <c:pt idx="82">
                  <c:v>-6.7999999999999996E-3</c:v>
                </c:pt>
                <c:pt idx="83">
                  <c:v>-3.4299999999999997E-2</c:v>
                </c:pt>
                <c:pt idx="84">
                  <c:v>7.1000000000000004E-3</c:v>
                </c:pt>
                <c:pt idx="85">
                  <c:v>0</c:v>
                </c:pt>
                <c:pt idx="86">
                  <c:v>2.3999999999999998E-3</c:v>
                </c:pt>
                <c:pt idx="87">
                  <c:v>-3.7600000000000001E-2</c:v>
                </c:pt>
                <c:pt idx="88">
                  <c:v>2.1999999999999999E-2</c:v>
                </c:pt>
                <c:pt idx="89">
                  <c:v>-8.8300000000000003E-2</c:v>
                </c:pt>
                <c:pt idx="90">
                  <c:v>-1.0500000000000001E-2</c:v>
                </c:pt>
                <c:pt idx="91">
                  <c:v>1.8499999999999999E-2</c:v>
                </c:pt>
                <c:pt idx="92">
                  <c:v>3.3799999999999997E-2</c:v>
                </c:pt>
                <c:pt idx="93">
                  <c:v>4.2700000000000002E-2</c:v>
                </c:pt>
                <c:pt idx="94">
                  <c:v>-3.8600000000000002E-2</c:v>
                </c:pt>
                <c:pt idx="95">
                  <c:v>-2.5000000000000001E-3</c:v>
                </c:pt>
                <c:pt idx="96">
                  <c:v>4.02E-2</c:v>
                </c:pt>
                <c:pt idx="97">
                  <c:v>-2.3999999999999998E-3</c:v>
                </c:pt>
                <c:pt idx="98">
                  <c:v>-2.4199999999999999E-2</c:v>
                </c:pt>
                <c:pt idx="99">
                  <c:v>2.98E-2</c:v>
                </c:pt>
                <c:pt idx="100">
                  <c:v>-2.41E-2</c:v>
                </c:pt>
                <c:pt idx="101">
                  <c:v>-4.8999999999999998E-3</c:v>
                </c:pt>
                <c:pt idx="102">
                  <c:v>5.4600000000000003E-2</c:v>
                </c:pt>
                <c:pt idx="103">
                  <c:v>0</c:v>
                </c:pt>
                <c:pt idx="104">
                  <c:v>-9.4000000000000004E-3</c:v>
                </c:pt>
                <c:pt idx="105">
                  <c:v>4.7999999999999996E-3</c:v>
                </c:pt>
                <c:pt idx="106">
                  <c:v>-2.8400000000000002E-2</c:v>
                </c:pt>
                <c:pt idx="107">
                  <c:v>9.7000000000000003E-3</c:v>
                </c:pt>
                <c:pt idx="108">
                  <c:v>9.5999999999999992E-3</c:v>
                </c:pt>
                <c:pt idx="109">
                  <c:v>-2.1499999999999998E-2</c:v>
                </c:pt>
                <c:pt idx="110">
                  <c:v>-2.6800000000000001E-2</c:v>
                </c:pt>
                <c:pt idx="111">
                  <c:v>-4.7600000000000003E-2</c:v>
                </c:pt>
                <c:pt idx="112">
                  <c:v>-1.32E-2</c:v>
                </c:pt>
                <c:pt idx="113">
                  <c:v>-1.6E-2</c:v>
                </c:pt>
                <c:pt idx="114">
                  <c:v>1.3599999999999999E-2</c:v>
                </c:pt>
                <c:pt idx="115">
                  <c:v>-4.2799999999999998E-2</c:v>
                </c:pt>
                <c:pt idx="116">
                  <c:v>4.7500000000000001E-2</c:v>
                </c:pt>
                <c:pt idx="117">
                  <c:v>-3.73E-2</c:v>
                </c:pt>
                <c:pt idx="118">
                  <c:v>4.4299999999999999E-2</c:v>
                </c:pt>
                <c:pt idx="119">
                  <c:v>-3.4500000000000003E-2</c:v>
                </c:pt>
                <c:pt idx="120">
                  <c:v>-3.85E-2</c:v>
                </c:pt>
                <c:pt idx="121">
                  <c:v>-7.1400000000000005E-2</c:v>
                </c:pt>
                <c:pt idx="122">
                  <c:v>-6.1999999999999998E-3</c:v>
                </c:pt>
                <c:pt idx="123">
                  <c:v>-9.2999999999999992E-3</c:v>
                </c:pt>
                <c:pt idx="124">
                  <c:v>6.1999999999999998E-3</c:v>
                </c:pt>
                <c:pt idx="125">
                  <c:v>-6.83E-2</c:v>
                </c:pt>
                <c:pt idx="126">
                  <c:v>-6.7000000000000002E-3</c:v>
                </c:pt>
                <c:pt idx="127">
                  <c:v>-4.0300000000000002E-2</c:v>
                </c:pt>
                <c:pt idx="128">
                  <c:v>-1.0500000000000001E-2</c:v>
                </c:pt>
                <c:pt idx="129">
                  <c:v>-2.8299999999999999E-2</c:v>
                </c:pt>
                <c:pt idx="130">
                  <c:v>1.8200000000000001E-2</c:v>
                </c:pt>
                <c:pt idx="131">
                  <c:v>4.2900000000000001E-2</c:v>
                </c:pt>
                <c:pt idx="132">
                  <c:v>1.03E-2</c:v>
                </c:pt>
                <c:pt idx="133">
                  <c:v>-3.39E-2</c:v>
                </c:pt>
                <c:pt idx="134">
                  <c:v>4.9099999999999998E-2</c:v>
                </c:pt>
                <c:pt idx="135">
                  <c:v>-3.3E-3</c:v>
                </c:pt>
                <c:pt idx="136">
                  <c:v>1.6799999999999999E-2</c:v>
                </c:pt>
                <c:pt idx="137">
                  <c:v>-2.3099999999999999E-2</c:v>
                </c:pt>
                <c:pt idx="138">
                  <c:v>-3.7199999999999997E-2</c:v>
                </c:pt>
                <c:pt idx="139">
                  <c:v>-6.6699999999999995E-2</c:v>
                </c:pt>
                <c:pt idx="140">
                  <c:v>7.4999999999999997E-3</c:v>
                </c:pt>
                <c:pt idx="141">
                  <c:v>-5.2200000000000003E-2</c:v>
                </c:pt>
                <c:pt idx="142">
                  <c:v>-3.8999999999999998E-3</c:v>
                </c:pt>
                <c:pt idx="143">
                  <c:v>8.6999999999999994E-2</c:v>
                </c:pt>
                <c:pt idx="144">
                  <c:v>-1.4500000000000001E-2</c:v>
                </c:pt>
                <c:pt idx="145">
                  <c:v>-1.11E-2</c:v>
                </c:pt>
                <c:pt idx="146">
                  <c:v>1.12E-2</c:v>
                </c:pt>
                <c:pt idx="147">
                  <c:v>-3.7000000000000002E-3</c:v>
                </c:pt>
                <c:pt idx="148">
                  <c:v>6.6699999999999995E-2</c:v>
                </c:pt>
                <c:pt idx="149">
                  <c:v>-1.04E-2</c:v>
                </c:pt>
                <c:pt idx="150">
                  <c:v>8.0699999999999994E-2</c:v>
                </c:pt>
                <c:pt idx="151">
                  <c:v>-4.5499999999999999E-2</c:v>
                </c:pt>
                <c:pt idx="152">
                  <c:v>2.0400000000000001E-2</c:v>
                </c:pt>
                <c:pt idx="153">
                  <c:v>0.06</c:v>
                </c:pt>
                <c:pt idx="154">
                  <c:v>-6.3E-3</c:v>
                </c:pt>
                <c:pt idx="155">
                  <c:v>-1.9E-2</c:v>
                </c:pt>
                <c:pt idx="156">
                  <c:v>4.5199999999999997E-2</c:v>
                </c:pt>
                <c:pt idx="157">
                  <c:v>3.0999999999999999E-3</c:v>
                </c:pt>
                <c:pt idx="158">
                  <c:v>-9.1999999999999998E-3</c:v>
                </c:pt>
                <c:pt idx="159">
                  <c:v>-4.9700000000000001E-2</c:v>
                </c:pt>
                <c:pt idx="160">
                  <c:v>1.3100000000000001E-2</c:v>
                </c:pt>
                <c:pt idx="161">
                  <c:v>-1.61E-2</c:v>
                </c:pt>
                <c:pt idx="162">
                  <c:v>1.9699999999999999E-2</c:v>
                </c:pt>
                <c:pt idx="163">
                  <c:v>1.9300000000000001E-2</c:v>
                </c:pt>
                <c:pt idx="164">
                  <c:v>6.3E-3</c:v>
                </c:pt>
                <c:pt idx="165">
                  <c:v>3.1300000000000001E-2</c:v>
                </c:pt>
                <c:pt idx="166">
                  <c:v>-7.2900000000000006E-2</c:v>
                </c:pt>
                <c:pt idx="167">
                  <c:v>4.9200000000000001E-2</c:v>
                </c:pt>
                <c:pt idx="168">
                  <c:v>-9.4000000000000004E-3</c:v>
                </c:pt>
                <c:pt idx="169">
                  <c:v>-3.2000000000000002E-3</c:v>
                </c:pt>
                <c:pt idx="170">
                  <c:v>2.8500000000000001E-2</c:v>
                </c:pt>
                <c:pt idx="171">
                  <c:v>-6.1999999999999998E-3</c:v>
                </c:pt>
                <c:pt idx="172">
                  <c:v>2.1700000000000001E-2</c:v>
                </c:pt>
                <c:pt idx="173">
                  <c:v>4.8500000000000001E-2</c:v>
                </c:pt>
                <c:pt idx="174">
                  <c:v>2.5999999999999999E-2</c:v>
                </c:pt>
                <c:pt idx="175">
                  <c:v>1.1299999999999999E-2</c:v>
                </c:pt>
                <c:pt idx="176">
                  <c:v>0.13650000000000001</c:v>
                </c:pt>
                <c:pt idx="177">
                  <c:v>-1.9599999999999999E-2</c:v>
                </c:pt>
                <c:pt idx="178">
                  <c:v>7.4999999999999997E-3</c:v>
                </c:pt>
                <c:pt idx="179">
                  <c:v>-1.24E-2</c:v>
                </c:pt>
                <c:pt idx="180">
                  <c:v>-2.5000000000000001E-3</c:v>
                </c:pt>
                <c:pt idx="181">
                  <c:v>2.5000000000000001E-3</c:v>
                </c:pt>
                <c:pt idx="182">
                  <c:v>2.5000000000000001E-3</c:v>
                </c:pt>
                <c:pt idx="183">
                  <c:v>3.0099999999999998E-2</c:v>
                </c:pt>
                <c:pt idx="184">
                  <c:v>1.7000000000000001E-2</c:v>
                </c:pt>
                <c:pt idx="185">
                  <c:v>2.87E-2</c:v>
                </c:pt>
                <c:pt idx="186">
                  <c:v>0</c:v>
                </c:pt>
                <c:pt idx="187">
                  <c:v>-3.0200000000000001E-2</c:v>
                </c:pt>
                <c:pt idx="188">
                  <c:v>-1.6799999999999999E-2</c:v>
                </c:pt>
                <c:pt idx="189">
                  <c:v>2.4400000000000002E-2</c:v>
                </c:pt>
                <c:pt idx="190">
                  <c:v>-1.67E-2</c:v>
                </c:pt>
                <c:pt idx="191">
                  <c:v>-4.5999999999999999E-2</c:v>
                </c:pt>
                <c:pt idx="192">
                  <c:v>-1.0200000000000001E-2</c:v>
                </c:pt>
                <c:pt idx="193">
                  <c:v>2.5999999999999999E-3</c:v>
                </c:pt>
                <c:pt idx="194">
                  <c:v>6.3899999999999998E-2</c:v>
                </c:pt>
                <c:pt idx="195">
                  <c:v>-1.44E-2</c:v>
                </c:pt>
                <c:pt idx="196">
                  <c:v>-3.4099999999999998E-2</c:v>
                </c:pt>
                <c:pt idx="197">
                  <c:v>2.2700000000000001E-2</c:v>
                </c:pt>
                <c:pt idx="198">
                  <c:v>-2.5000000000000001E-3</c:v>
                </c:pt>
                <c:pt idx="199">
                  <c:v>5.0000000000000001E-3</c:v>
                </c:pt>
                <c:pt idx="200">
                  <c:v>5.4199999999999998E-2</c:v>
                </c:pt>
                <c:pt idx="201">
                  <c:v>-7.0000000000000001E-3</c:v>
                </c:pt>
                <c:pt idx="202">
                  <c:v>5.6500000000000002E-2</c:v>
                </c:pt>
                <c:pt idx="203">
                  <c:v>5.1200000000000002E-2</c:v>
                </c:pt>
                <c:pt idx="204">
                  <c:v>-2.0999999999999999E-3</c:v>
                </c:pt>
                <c:pt idx="205">
                  <c:v>8.5000000000000006E-3</c:v>
                </c:pt>
                <c:pt idx="206">
                  <c:v>4.1999999999999997E-3</c:v>
                </c:pt>
                <c:pt idx="207">
                  <c:v>4.1999999999999997E-3</c:v>
                </c:pt>
                <c:pt idx="208">
                  <c:v>2.3E-2</c:v>
                </c:pt>
                <c:pt idx="209">
                  <c:v>8.2000000000000007E-3</c:v>
                </c:pt>
                <c:pt idx="210">
                  <c:v>4.0000000000000001E-3</c:v>
                </c:pt>
                <c:pt idx="211">
                  <c:v>-4.0000000000000001E-3</c:v>
                </c:pt>
                <c:pt idx="212">
                  <c:v>2E-3</c:v>
                </c:pt>
                <c:pt idx="213">
                  <c:v>0</c:v>
                </c:pt>
                <c:pt idx="214">
                  <c:v>0</c:v>
                </c:pt>
                <c:pt idx="215">
                  <c:v>6.5699999999999995E-2</c:v>
                </c:pt>
                <c:pt idx="216">
                  <c:v>2.8400000000000002E-2</c:v>
                </c:pt>
                <c:pt idx="217">
                  <c:v>9.1999999999999998E-3</c:v>
                </c:pt>
                <c:pt idx="218">
                  <c:v>9.5899999999999999E-2</c:v>
                </c:pt>
                <c:pt idx="219">
                  <c:v>-1.67E-2</c:v>
                </c:pt>
                <c:pt idx="220">
                  <c:v>-8.5000000000000006E-3</c:v>
                </c:pt>
                <c:pt idx="221">
                  <c:v>-6.8400000000000002E-2</c:v>
                </c:pt>
                <c:pt idx="222">
                  <c:v>3.6700000000000003E-2</c:v>
                </c:pt>
                <c:pt idx="223">
                  <c:v>-8.8000000000000005E-3</c:v>
                </c:pt>
                <c:pt idx="224">
                  <c:v>-2.23E-2</c:v>
                </c:pt>
                <c:pt idx="225">
                  <c:v>-3.2000000000000001E-2</c:v>
                </c:pt>
                <c:pt idx="226">
                  <c:v>4.7000000000000002E-3</c:v>
                </c:pt>
                <c:pt idx="227">
                  <c:v>3.2899999999999999E-2</c:v>
                </c:pt>
                <c:pt idx="228">
                  <c:v>2.7300000000000001E-2</c:v>
                </c:pt>
                <c:pt idx="229">
                  <c:v>-1.3299999999999999E-2</c:v>
                </c:pt>
                <c:pt idx="230">
                  <c:v>-1.35E-2</c:v>
                </c:pt>
                <c:pt idx="231">
                  <c:v>-4.5499999999999999E-2</c:v>
                </c:pt>
                <c:pt idx="232">
                  <c:v>1.43E-2</c:v>
                </c:pt>
                <c:pt idx="233">
                  <c:v>6.5699999999999995E-2</c:v>
                </c:pt>
                <c:pt idx="234">
                  <c:v>2.1999999999999999E-2</c:v>
                </c:pt>
                <c:pt idx="235">
                  <c:v>-8.6E-3</c:v>
                </c:pt>
                <c:pt idx="236">
                  <c:v>-8.6999999999999994E-3</c:v>
                </c:pt>
                <c:pt idx="237">
                  <c:v>1.32E-2</c:v>
                </c:pt>
                <c:pt idx="238">
                  <c:v>-4.3299999999999998E-2</c:v>
                </c:pt>
                <c:pt idx="239">
                  <c:v>3.1699999999999999E-2</c:v>
                </c:pt>
                <c:pt idx="240">
                  <c:v>5.2600000000000001E-2</c:v>
                </c:pt>
                <c:pt idx="241">
                  <c:v>2.5000000000000001E-2</c:v>
                </c:pt>
                <c:pt idx="242">
                  <c:v>-8.0999999999999996E-3</c:v>
                </c:pt>
                <c:pt idx="243">
                  <c:v>1.23E-2</c:v>
                </c:pt>
                <c:pt idx="244">
                  <c:v>4.0000000000000001E-3</c:v>
                </c:pt>
                <c:pt idx="245">
                  <c:v>5.6500000000000002E-2</c:v>
                </c:pt>
                <c:pt idx="246">
                  <c:v>2.6700000000000002E-2</c:v>
                </c:pt>
                <c:pt idx="247">
                  <c:v>-2.5999999999999999E-2</c:v>
                </c:pt>
                <c:pt idx="248">
                  <c:v>7.6E-3</c:v>
                </c:pt>
                <c:pt idx="249">
                  <c:v>-3.8E-3</c:v>
                </c:pt>
                <c:pt idx="250">
                  <c:v>6.08E-2</c:v>
                </c:pt>
                <c:pt idx="251">
                  <c:v>-2.5100000000000001E-2</c:v>
                </c:pt>
                <c:pt idx="252">
                  <c:v>3.6799999999999999E-2</c:v>
                </c:pt>
                <c:pt idx="253">
                  <c:v>2.1299999999999999E-2</c:v>
                </c:pt>
                <c:pt idx="254">
                  <c:v>-6.8999999999999999E-3</c:v>
                </c:pt>
                <c:pt idx="255">
                  <c:v>0</c:v>
                </c:pt>
                <c:pt idx="256">
                  <c:v>6.6400000000000001E-2</c:v>
                </c:pt>
                <c:pt idx="257">
                  <c:v>-3.3E-3</c:v>
                </c:pt>
                <c:pt idx="258">
                  <c:v>9.9000000000000008E-3</c:v>
                </c:pt>
                <c:pt idx="259">
                  <c:v>-2.2800000000000001E-2</c:v>
                </c:pt>
                <c:pt idx="260">
                  <c:v>3.6700000000000003E-2</c:v>
                </c:pt>
                <c:pt idx="261">
                  <c:v>8.2000000000000007E-3</c:v>
                </c:pt>
                <c:pt idx="262">
                  <c:v>4.0000000000000001E-3</c:v>
                </c:pt>
                <c:pt idx="263">
                  <c:v>-4.0000000000000001E-3</c:v>
                </c:pt>
                <c:pt idx="264">
                  <c:v>2E-3</c:v>
                </c:pt>
                <c:pt idx="265">
                  <c:v>0</c:v>
                </c:pt>
                <c:pt idx="266">
                  <c:v>0</c:v>
                </c:pt>
                <c:pt idx="267">
                  <c:v>6.5699999999999995E-2</c:v>
                </c:pt>
                <c:pt idx="268">
                  <c:v>2.8400000000000002E-2</c:v>
                </c:pt>
                <c:pt idx="269">
                  <c:v>9.1999999999999998E-3</c:v>
                </c:pt>
                <c:pt idx="270">
                  <c:v>9.5899999999999999E-2</c:v>
                </c:pt>
                <c:pt idx="271">
                  <c:v>-1.67E-2</c:v>
                </c:pt>
                <c:pt idx="272">
                  <c:v>-8.5000000000000006E-3</c:v>
                </c:pt>
                <c:pt idx="273">
                  <c:v>-6.8400000000000002E-2</c:v>
                </c:pt>
                <c:pt idx="274">
                  <c:v>3.6700000000000003E-2</c:v>
                </c:pt>
                <c:pt idx="275">
                  <c:v>-8.8000000000000005E-3</c:v>
                </c:pt>
                <c:pt idx="276">
                  <c:v>-2.23E-2</c:v>
                </c:pt>
                <c:pt idx="277">
                  <c:v>-3.2000000000000001E-2</c:v>
                </c:pt>
                <c:pt idx="278">
                  <c:v>4.7000000000000002E-3</c:v>
                </c:pt>
                <c:pt idx="279">
                  <c:v>3.2899999999999999E-2</c:v>
                </c:pt>
                <c:pt idx="280">
                  <c:v>2.7300000000000001E-2</c:v>
                </c:pt>
                <c:pt idx="281">
                  <c:v>-1.3299999999999999E-2</c:v>
                </c:pt>
                <c:pt idx="282">
                  <c:v>-1.35E-2</c:v>
                </c:pt>
                <c:pt idx="283">
                  <c:v>-4.5499999999999999E-2</c:v>
                </c:pt>
                <c:pt idx="284">
                  <c:v>1.43E-2</c:v>
                </c:pt>
                <c:pt idx="285">
                  <c:v>6.5699999999999995E-2</c:v>
                </c:pt>
                <c:pt idx="286">
                  <c:v>2.1999999999999999E-2</c:v>
                </c:pt>
                <c:pt idx="287">
                  <c:v>-8.6E-3</c:v>
                </c:pt>
                <c:pt idx="288">
                  <c:v>-8.6999999999999994E-3</c:v>
                </c:pt>
                <c:pt idx="289">
                  <c:v>1.32E-2</c:v>
                </c:pt>
                <c:pt idx="290">
                  <c:v>-4.3299999999999998E-2</c:v>
                </c:pt>
                <c:pt idx="291">
                  <c:v>3.1699999999999999E-2</c:v>
                </c:pt>
                <c:pt idx="292">
                  <c:v>5.2600000000000001E-2</c:v>
                </c:pt>
                <c:pt idx="293">
                  <c:v>2.5000000000000001E-2</c:v>
                </c:pt>
                <c:pt idx="294">
                  <c:v>-8.0999999999999996E-3</c:v>
                </c:pt>
                <c:pt idx="295">
                  <c:v>1.23E-2</c:v>
                </c:pt>
                <c:pt idx="296">
                  <c:v>4.0000000000000001E-3</c:v>
                </c:pt>
                <c:pt idx="297">
                  <c:v>5.6500000000000002E-2</c:v>
                </c:pt>
                <c:pt idx="298">
                  <c:v>2.6700000000000002E-2</c:v>
                </c:pt>
                <c:pt idx="299">
                  <c:v>-2.5999999999999999E-2</c:v>
                </c:pt>
                <c:pt idx="300">
                  <c:v>7.6E-3</c:v>
                </c:pt>
                <c:pt idx="301">
                  <c:v>-3.8E-3</c:v>
                </c:pt>
                <c:pt idx="302">
                  <c:v>6.08E-2</c:v>
                </c:pt>
                <c:pt idx="303">
                  <c:v>-2.5100000000000001E-2</c:v>
                </c:pt>
                <c:pt idx="304">
                  <c:v>3.6799999999999999E-2</c:v>
                </c:pt>
                <c:pt idx="305">
                  <c:v>2.1299999999999999E-2</c:v>
                </c:pt>
                <c:pt idx="306">
                  <c:v>-6.8999999999999999E-3</c:v>
                </c:pt>
                <c:pt idx="307">
                  <c:v>0</c:v>
                </c:pt>
                <c:pt idx="308">
                  <c:v>6.6400000000000001E-2</c:v>
                </c:pt>
                <c:pt idx="309">
                  <c:v>-3.3E-3</c:v>
                </c:pt>
                <c:pt idx="310">
                  <c:v>9.9000000000000008E-3</c:v>
                </c:pt>
                <c:pt idx="311">
                  <c:v>-2.2800000000000001E-2</c:v>
                </c:pt>
                <c:pt idx="312">
                  <c:v>3.6700000000000003E-2</c:v>
                </c:pt>
                <c:pt idx="313">
                  <c:v>1.61E-2</c:v>
                </c:pt>
                <c:pt idx="314">
                  <c:v>9.4999999999999998E-3</c:v>
                </c:pt>
                <c:pt idx="315">
                  <c:v>-1.5699999999999999E-2</c:v>
                </c:pt>
                <c:pt idx="316">
                  <c:v>2.23E-2</c:v>
                </c:pt>
                <c:pt idx="317">
                  <c:v>9.2999999999999992E-3</c:v>
                </c:pt>
                <c:pt idx="318">
                  <c:v>2.47E-2</c:v>
                </c:pt>
                <c:pt idx="319">
                  <c:v>-6.0000000000000001E-3</c:v>
                </c:pt>
                <c:pt idx="320">
                  <c:v>6.1000000000000004E-3</c:v>
                </c:pt>
                <c:pt idx="321">
                  <c:v>-6.6299999999999998E-2</c:v>
                </c:pt>
                <c:pt idx="322">
                  <c:v>3.5499999999999997E-2</c:v>
                </c:pt>
                <c:pt idx="323">
                  <c:v>-6.1999999999999998E-3</c:v>
                </c:pt>
                <c:pt idx="324">
                  <c:v>2.5100000000000001E-2</c:v>
                </c:pt>
                <c:pt idx="325">
                  <c:v>-5.5E-2</c:v>
                </c:pt>
                <c:pt idx="326">
                  <c:v>-2.52E-2</c:v>
                </c:pt>
                <c:pt idx="327">
                  <c:v>-1.06E-2</c:v>
                </c:pt>
                <c:pt idx="328">
                  <c:v>-1.61E-2</c:v>
                </c:pt>
                <c:pt idx="329">
                  <c:v>5.8700000000000002E-2</c:v>
                </c:pt>
                <c:pt idx="330">
                  <c:v>7.4700000000000003E-2</c:v>
                </c:pt>
                <c:pt idx="331">
                  <c:v>4.6800000000000001E-2</c:v>
                </c:pt>
                <c:pt idx="332">
                  <c:v>-9.1999999999999998E-3</c:v>
                </c:pt>
                <c:pt idx="333">
                  <c:v>4.5999999999999999E-3</c:v>
                </c:pt>
                <c:pt idx="334">
                  <c:v>-1.4999999999999999E-2</c:v>
                </c:pt>
                <c:pt idx="335">
                  <c:v>-1.29E-2</c:v>
                </c:pt>
                <c:pt idx="336">
                  <c:v>3.5499999999999997E-2</c:v>
                </c:pt>
                <c:pt idx="337">
                  <c:v>7.8899999999999998E-2</c:v>
                </c:pt>
                <c:pt idx="338">
                  <c:v>-4.1999999999999997E-3</c:v>
                </c:pt>
                <c:pt idx="339">
                  <c:v>-1.6E-2</c:v>
                </c:pt>
                <c:pt idx="340">
                  <c:v>-1.0800000000000001E-2</c:v>
                </c:pt>
                <c:pt idx="341">
                  <c:v>2.7300000000000001E-2</c:v>
                </c:pt>
                <c:pt idx="342">
                  <c:v>-1.06E-2</c:v>
                </c:pt>
                <c:pt idx="343">
                  <c:v>6.4999999999999997E-3</c:v>
                </c:pt>
                <c:pt idx="344">
                  <c:v>4.3799999999999999E-2</c:v>
                </c:pt>
                <c:pt idx="345">
                  <c:v>6.1899999999999997E-2</c:v>
                </c:pt>
                <c:pt idx="346">
                  <c:v>-6.9900000000000004E-2</c:v>
                </c:pt>
                <c:pt idx="347">
                  <c:v>0</c:v>
                </c:pt>
                <c:pt idx="348">
                  <c:v>-3.0099999999999998E-2</c:v>
                </c:pt>
                <c:pt idx="349">
                  <c:v>-5.7700000000000001E-2</c:v>
                </c:pt>
                <c:pt idx="350">
                  <c:v>-2.7199999999999998E-2</c:v>
                </c:pt>
                <c:pt idx="351">
                  <c:v>1.7500000000000002E-2</c:v>
                </c:pt>
                <c:pt idx="352">
                  <c:v>2.3E-3</c:v>
                </c:pt>
                <c:pt idx="353">
                  <c:v>0.04</c:v>
                </c:pt>
                <c:pt idx="354">
                  <c:v>4.6199999999999998E-2</c:v>
                </c:pt>
                <c:pt idx="355">
                  <c:v>3.4700000000000002E-2</c:v>
                </c:pt>
                <c:pt idx="356">
                  <c:v>-4.4699999999999997E-2</c:v>
                </c:pt>
                <c:pt idx="357">
                  <c:v>5.0999999999999997E-2</c:v>
                </c:pt>
                <c:pt idx="358">
                  <c:v>-5.16E-2</c:v>
                </c:pt>
                <c:pt idx="359">
                  <c:v>1.3899999999999999E-2</c:v>
                </c:pt>
                <c:pt idx="360">
                  <c:v>1.47E-2</c:v>
                </c:pt>
                <c:pt idx="361">
                  <c:v>2.07E-2</c:v>
                </c:pt>
                <c:pt idx="362">
                  <c:v>1.12E-2</c:v>
                </c:pt>
                <c:pt idx="363">
                  <c:v>4.0000000000000001E-3</c:v>
                </c:pt>
              </c:numCache>
            </c:numRef>
          </c:yVal>
          <c:smooth val="0"/>
          <c:extLst>
            <c:ext xmlns:c16="http://schemas.microsoft.com/office/drawing/2014/chart" uri="{C3380CC4-5D6E-409C-BE32-E72D297353CC}">
              <c16:uniqueId val="{00000000-44DD-4942-8416-54251B05CAA0}"/>
            </c:ext>
          </c:extLst>
        </c:ser>
        <c:ser>
          <c:idx val="1"/>
          <c:order val="1"/>
          <c:tx>
            <c:v>Predicted Y</c:v>
          </c:tx>
          <c:spPr>
            <a:ln w="25400">
              <a:noFill/>
            </a:ln>
            <a:effectLst/>
          </c:spPr>
          <c:marker>
            <c:symbol val="circle"/>
            <c:size val="4"/>
            <c:spPr>
              <a:solidFill>
                <a:schemeClr val="accent2"/>
              </a:solidFill>
              <a:ln w="9525" cap="flat" cmpd="sng" algn="ctr">
                <a:solidFill>
                  <a:schemeClr val="accent2"/>
                </a:solidFill>
                <a:round/>
              </a:ln>
              <a:effectLst/>
            </c:spPr>
          </c:marker>
          <c:xVal>
            <c:numRef>
              <c:f>'Kri-Kri Milk Stock Price Histor'!$E$2:$E$365</c:f>
              <c:numCache>
                <c:formatCode>0.00%</c:formatCode>
                <c:ptCount val="364"/>
                <c:pt idx="0">
                  <c:v>3.8E-3</c:v>
                </c:pt>
                <c:pt idx="1">
                  <c:v>1.15E-2</c:v>
                </c:pt>
                <c:pt idx="2">
                  <c:v>1.54E-2</c:v>
                </c:pt>
                <c:pt idx="3">
                  <c:v>-3.9800000000000002E-2</c:v>
                </c:pt>
                <c:pt idx="4">
                  <c:v>0</c:v>
                </c:pt>
                <c:pt idx="5">
                  <c:v>1.2500000000000001E-2</c:v>
                </c:pt>
                <c:pt idx="6">
                  <c:v>-3.1699999999999999E-2</c:v>
                </c:pt>
                <c:pt idx="7">
                  <c:v>-0.19339999999999999</c:v>
                </c:pt>
                <c:pt idx="8">
                  <c:v>-4.9399999999999999E-2</c:v>
                </c:pt>
                <c:pt idx="9">
                  <c:v>-0.19389999999999999</c:v>
                </c:pt>
                <c:pt idx="10">
                  <c:v>5.7000000000000002E-3</c:v>
                </c:pt>
                <c:pt idx="11">
                  <c:v>-7.7000000000000002E-3</c:v>
                </c:pt>
                <c:pt idx="12">
                  <c:v>-1.84E-2</c:v>
                </c:pt>
                <c:pt idx="13">
                  <c:v>0.1231</c:v>
                </c:pt>
                <c:pt idx="14">
                  <c:v>-8.9999999999999998E-4</c:v>
                </c:pt>
                <c:pt idx="15">
                  <c:v>-5.9999999999999995E-4</c:v>
                </c:pt>
                <c:pt idx="16">
                  <c:v>3.5999999999999997E-2</c:v>
                </c:pt>
                <c:pt idx="17">
                  <c:v>-3.85E-2</c:v>
                </c:pt>
                <c:pt idx="18">
                  <c:v>-1.7899999999999999E-2</c:v>
                </c:pt>
                <c:pt idx="19">
                  <c:v>2.69E-2</c:v>
                </c:pt>
                <c:pt idx="20">
                  <c:v>7.1199999999999999E-2</c:v>
                </c:pt>
                <c:pt idx="21">
                  <c:v>4.7300000000000002E-2</c:v>
                </c:pt>
                <c:pt idx="22">
                  <c:v>-5.3600000000000002E-2</c:v>
                </c:pt>
                <c:pt idx="23">
                  <c:v>3.3300000000000003E-2</c:v>
                </c:pt>
                <c:pt idx="24">
                  <c:v>-3.95E-2</c:v>
                </c:pt>
                <c:pt idx="25">
                  <c:v>2.5899999999999999E-2</c:v>
                </c:pt>
                <c:pt idx="26">
                  <c:v>-3.8800000000000001E-2</c:v>
                </c:pt>
                <c:pt idx="27">
                  <c:v>1.34E-2</c:v>
                </c:pt>
                <c:pt idx="28">
                  <c:v>-1.12E-2</c:v>
                </c:pt>
                <c:pt idx="29">
                  <c:v>-2.63E-2</c:v>
                </c:pt>
                <c:pt idx="30">
                  <c:v>2.4299999999999999E-2</c:v>
                </c:pt>
                <c:pt idx="31">
                  <c:v>2.8E-3</c:v>
                </c:pt>
                <c:pt idx="32">
                  <c:v>-1.6999999999999999E-3</c:v>
                </c:pt>
                <c:pt idx="33">
                  <c:v>1.9E-3</c:v>
                </c:pt>
                <c:pt idx="34">
                  <c:v>7.6E-3</c:v>
                </c:pt>
                <c:pt idx="35">
                  <c:v>-5.1000000000000004E-3</c:v>
                </c:pt>
                <c:pt idx="36">
                  <c:v>3.5400000000000001E-2</c:v>
                </c:pt>
                <c:pt idx="37">
                  <c:v>-6.1699999999999998E-2</c:v>
                </c:pt>
                <c:pt idx="38">
                  <c:v>1.26E-2</c:v>
                </c:pt>
                <c:pt idx="39">
                  <c:v>4.1200000000000001E-2</c:v>
                </c:pt>
                <c:pt idx="40">
                  <c:v>-4.8000000000000001E-2</c:v>
                </c:pt>
                <c:pt idx="41">
                  <c:v>-1.2699999999999999E-2</c:v>
                </c:pt>
                <c:pt idx="42">
                  <c:v>-6.9900000000000004E-2</c:v>
                </c:pt>
                <c:pt idx="43">
                  <c:v>3.27E-2</c:v>
                </c:pt>
                <c:pt idx="44">
                  <c:v>0.1149</c:v>
                </c:pt>
                <c:pt idx="45">
                  <c:v>6.6799999999999998E-2</c:v>
                </c:pt>
                <c:pt idx="46">
                  <c:v>5.3100000000000001E-2</c:v>
                </c:pt>
                <c:pt idx="47">
                  <c:v>6.5600000000000006E-2</c:v>
                </c:pt>
                <c:pt idx="48">
                  <c:v>-7.4999999999999997E-3</c:v>
                </c:pt>
                <c:pt idx="49">
                  <c:v>2.7E-2</c:v>
                </c:pt>
                <c:pt idx="50">
                  <c:v>-1.5699999999999999E-2</c:v>
                </c:pt>
                <c:pt idx="51">
                  <c:v>2.7300000000000001E-2</c:v>
                </c:pt>
                <c:pt idx="52">
                  <c:v>1.2699999999999999E-2</c:v>
                </c:pt>
                <c:pt idx="53">
                  <c:v>-3.56E-2</c:v>
                </c:pt>
                <c:pt idx="54">
                  <c:v>-1.41E-2</c:v>
                </c:pt>
                <c:pt idx="55">
                  <c:v>-3.7900000000000003E-2</c:v>
                </c:pt>
                <c:pt idx="56">
                  <c:v>2.0199999999999999E-2</c:v>
                </c:pt>
                <c:pt idx="57">
                  <c:v>1.4999999999999999E-2</c:v>
                </c:pt>
                <c:pt idx="58">
                  <c:v>6.8999999999999999E-3</c:v>
                </c:pt>
                <c:pt idx="59">
                  <c:v>1.4E-2</c:v>
                </c:pt>
                <c:pt idx="60">
                  <c:v>4.1200000000000001E-2</c:v>
                </c:pt>
                <c:pt idx="61">
                  <c:v>0.03</c:v>
                </c:pt>
                <c:pt idx="62">
                  <c:v>-1.9699999999999999E-2</c:v>
                </c:pt>
                <c:pt idx="63">
                  <c:v>2.2499999999999999E-2</c:v>
                </c:pt>
                <c:pt idx="64">
                  <c:v>2.75E-2</c:v>
                </c:pt>
                <c:pt idx="65">
                  <c:v>1.8800000000000001E-2</c:v>
                </c:pt>
                <c:pt idx="66">
                  <c:v>7.7999999999999996E-3</c:v>
                </c:pt>
                <c:pt idx="67">
                  <c:v>1.1000000000000001E-3</c:v>
                </c:pt>
                <c:pt idx="68">
                  <c:v>1.2E-2</c:v>
                </c:pt>
                <c:pt idx="69">
                  <c:v>-1.47E-2</c:v>
                </c:pt>
                <c:pt idx="70">
                  <c:v>1.12E-2</c:v>
                </c:pt>
                <c:pt idx="71">
                  <c:v>-4.36E-2</c:v>
                </c:pt>
                <c:pt idx="72">
                  <c:v>2.3099999999999999E-2</c:v>
                </c:pt>
                <c:pt idx="73">
                  <c:v>1.5800000000000002E-2</c:v>
                </c:pt>
                <c:pt idx="74">
                  <c:v>2.69E-2</c:v>
                </c:pt>
                <c:pt idx="75">
                  <c:v>-2.1899999999999999E-2</c:v>
                </c:pt>
                <c:pt idx="76">
                  <c:v>2.3999999999999998E-3</c:v>
                </c:pt>
                <c:pt idx="77">
                  <c:v>-2.3199999999999998E-2</c:v>
                </c:pt>
                <c:pt idx="78">
                  <c:v>-1.4E-2</c:v>
                </c:pt>
                <c:pt idx="79">
                  <c:v>-8.5000000000000006E-3</c:v>
                </c:pt>
                <c:pt idx="80">
                  <c:v>-2.7000000000000001E-3</c:v>
                </c:pt>
                <c:pt idx="81">
                  <c:v>2.76E-2</c:v>
                </c:pt>
                <c:pt idx="82">
                  <c:v>5.8999999999999999E-3</c:v>
                </c:pt>
                <c:pt idx="83">
                  <c:v>2E-3</c:v>
                </c:pt>
                <c:pt idx="84">
                  <c:v>-1.3599999999999999E-2</c:v>
                </c:pt>
                <c:pt idx="85">
                  <c:v>3.5400000000000001E-2</c:v>
                </c:pt>
                <c:pt idx="86">
                  <c:v>6.9999999999999999E-4</c:v>
                </c:pt>
                <c:pt idx="87">
                  <c:v>-1.52E-2</c:v>
                </c:pt>
                <c:pt idx="88">
                  <c:v>1.2999999999999999E-2</c:v>
                </c:pt>
                <c:pt idx="89">
                  <c:v>-4.3499999999999997E-2</c:v>
                </c:pt>
                <c:pt idx="90">
                  <c:v>-2.3E-3</c:v>
                </c:pt>
                <c:pt idx="91">
                  <c:v>2.47E-2</c:v>
                </c:pt>
                <c:pt idx="92">
                  <c:v>2.3999999999999998E-3</c:v>
                </c:pt>
                <c:pt idx="93">
                  <c:v>1.15E-2</c:v>
                </c:pt>
                <c:pt idx="94">
                  <c:v>-7.7000000000000002E-3</c:v>
                </c:pt>
                <c:pt idx="95">
                  <c:v>9.7999999999999997E-3</c:v>
                </c:pt>
                <c:pt idx="96">
                  <c:v>7.7999999999999996E-3</c:v>
                </c:pt>
                <c:pt idx="97">
                  <c:v>1.1999999999999999E-3</c:v>
                </c:pt>
                <c:pt idx="98">
                  <c:v>-6.13E-2</c:v>
                </c:pt>
                <c:pt idx="99">
                  <c:v>2.3599999999999999E-2</c:v>
                </c:pt>
                <c:pt idx="100">
                  <c:v>2.2100000000000002E-2</c:v>
                </c:pt>
                <c:pt idx="101">
                  <c:v>-1.24E-2</c:v>
                </c:pt>
                <c:pt idx="102">
                  <c:v>3.5999999999999999E-3</c:v>
                </c:pt>
                <c:pt idx="103">
                  <c:v>2.8999999999999998E-3</c:v>
                </c:pt>
                <c:pt idx="104">
                  <c:v>1.47E-2</c:v>
                </c:pt>
                <c:pt idx="105">
                  <c:v>4.7300000000000002E-2</c:v>
                </c:pt>
                <c:pt idx="106">
                  <c:v>-7.3000000000000001E-3</c:v>
                </c:pt>
                <c:pt idx="107">
                  <c:v>-1.9099999999999999E-2</c:v>
                </c:pt>
                <c:pt idx="108">
                  <c:v>2.23E-2</c:v>
                </c:pt>
                <c:pt idx="109">
                  <c:v>2.76E-2</c:v>
                </c:pt>
                <c:pt idx="110">
                  <c:v>-1.5599999999999999E-2</c:v>
                </c:pt>
                <c:pt idx="111">
                  <c:v>-0.03</c:v>
                </c:pt>
                <c:pt idx="112">
                  <c:v>-0.1138</c:v>
                </c:pt>
                <c:pt idx="113">
                  <c:v>7.6E-3</c:v>
                </c:pt>
                <c:pt idx="114">
                  <c:v>4.2200000000000001E-2</c:v>
                </c:pt>
                <c:pt idx="115">
                  <c:v>-2.29E-2</c:v>
                </c:pt>
                <c:pt idx="116">
                  <c:v>5.6399999999999999E-2</c:v>
                </c:pt>
                <c:pt idx="117">
                  <c:v>1.7500000000000002E-2</c:v>
                </c:pt>
                <c:pt idx="118">
                  <c:v>1.4E-2</c:v>
                </c:pt>
                <c:pt idx="119">
                  <c:v>3.3399999999999999E-2</c:v>
                </c:pt>
                <c:pt idx="120">
                  <c:v>-2.87E-2</c:v>
                </c:pt>
                <c:pt idx="121">
                  <c:v>-6.0400000000000002E-2</c:v>
                </c:pt>
                <c:pt idx="122">
                  <c:v>2.9999999999999997E-4</c:v>
                </c:pt>
                <c:pt idx="123">
                  <c:v>-8.0000000000000002E-3</c:v>
                </c:pt>
                <c:pt idx="124">
                  <c:v>3.6499999999999998E-2</c:v>
                </c:pt>
                <c:pt idx="125">
                  <c:v>6.1000000000000004E-3</c:v>
                </c:pt>
                <c:pt idx="126">
                  <c:v>-3.8300000000000001E-2</c:v>
                </c:pt>
                <c:pt idx="127">
                  <c:v>-4.3099999999999999E-2</c:v>
                </c:pt>
                <c:pt idx="128">
                  <c:v>1.14E-2</c:v>
                </c:pt>
                <c:pt idx="129">
                  <c:v>-3.4799999999999998E-2</c:v>
                </c:pt>
                <c:pt idx="130">
                  <c:v>-4.4999999999999997E-3</c:v>
                </c:pt>
                <c:pt idx="131">
                  <c:v>-9.4000000000000004E-3</c:v>
                </c:pt>
                <c:pt idx="132">
                  <c:v>4.4499999999999998E-2</c:v>
                </c:pt>
                <c:pt idx="133">
                  <c:v>2.5399999999999999E-2</c:v>
                </c:pt>
                <c:pt idx="134">
                  <c:v>-2.0999999999999999E-3</c:v>
                </c:pt>
                <c:pt idx="135">
                  <c:v>3.4799999999999998E-2</c:v>
                </c:pt>
                <c:pt idx="136">
                  <c:v>2.3199999999999998E-2</c:v>
                </c:pt>
                <c:pt idx="137">
                  <c:v>-6.0000000000000001E-3</c:v>
                </c:pt>
                <c:pt idx="138">
                  <c:v>-5.4800000000000001E-2</c:v>
                </c:pt>
                <c:pt idx="139">
                  <c:v>-3.3999999999999998E-3</c:v>
                </c:pt>
                <c:pt idx="140">
                  <c:v>-6.7999999999999996E-3</c:v>
                </c:pt>
                <c:pt idx="141">
                  <c:v>-4.5499999999999999E-2</c:v>
                </c:pt>
                <c:pt idx="142">
                  <c:v>-6.4999999999999997E-3</c:v>
                </c:pt>
                <c:pt idx="143">
                  <c:v>2.6700000000000002E-2</c:v>
                </c:pt>
                <c:pt idx="144">
                  <c:v>2.24E-2</c:v>
                </c:pt>
                <c:pt idx="145">
                  <c:v>2.7199999999999998E-2</c:v>
                </c:pt>
                <c:pt idx="146">
                  <c:v>6.7000000000000002E-3</c:v>
                </c:pt>
                <c:pt idx="147">
                  <c:v>2.1299999999999999E-2</c:v>
                </c:pt>
                <c:pt idx="148">
                  <c:v>2.12E-2</c:v>
                </c:pt>
                <c:pt idx="149">
                  <c:v>-8.8000000000000005E-3</c:v>
                </c:pt>
                <c:pt idx="150">
                  <c:v>3.1199999999999999E-2</c:v>
                </c:pt>
                <c:pt idx="151">
                  <c:v>-1.49E-2</c:v>
                </c:pt>
                <c:pt idx="152">
                  <c:v>1.3299999999999999E-2</c:v>
                </c:pt>
                <c:pt idx="153">
                  <c:v>-4.4999999999999997E-3</c:v>
                </c:pt>
                <c:pt idx="154">
                  <c:v>1.03E-2</c:v>
                </c:pt>
                <c:pt idx="155">
                  <c:v>9.2999999999999992E-3</c:v>
                </c:pt>
                <c:pt idx="156">
                  <c:v>2.3300000000000001E-2</c:v>
                </c:pt>
                <c:pt idx="157">
                  <c:v>1.78E-2</c:v>
                </c:pt>
                <c:pt idx="158">
                  <c:v>1.0999999999999999E-2</c:v>
                </c:pt>
                <c:pt idx="159">
                  <c:v>3.7199999999999997E-2</c:v>
                </c:pt>
                <c:pt idx="160">
                  <c:v>1.77E-2</c:v>
                </c:pt>
                <c:pt idx="161">
                  <c:v>3.3599999999999998E-2</c:v>
                </c:pt>
                <c:pt idx="162">
                  <c:v>3.2399999999999998E-2</c:v>
                </c:pt>
                <c:pt idx="163">
                  <c:v>9.5999999999999992E-3</c:v>
                </c:pt>
                <c:pt idx="164">
                  <c:v>1.1999999999999999E-3</c:v>
                </c:pt>
                <c:pt idx="165">
                  <c:v>-5.2400000000000002E-2</c:v>
                </c:pt>
                <c:pt idx="166">
                  <c:v>-3.4099999999999998E-2</c:v>
                </c:pt>
                <c:pt idx="167">
                  <c:v>1E-3</c:v>
                </c:pt>
                <c:pt idx="168">
                  <c:v>3.27E-2</c:v>
                </c:pt>
                <c:pt idx="169">
                  <c:v>1.84E-2</c:v>
                </c:pt>
                <c:pt idx="170">
                  <c:v>2.6800000000000001E-2</c:v>
                </c:pt>
                <c:pt idx="171">
                  <c:v>7.7000000000000002E-3</c:v>
                </c:pt>
                <c:pt idx="172">
                  <c:v>-2.3599999999999999E-2</c:v>
                </c:pt>
                <c:pt idx="173">
                  <c:v>2.41E-2</c:v>
                </c:pt>
                <c:pt idx="174">
                  <c:v>1.04E-2</c:v>
                </c:pt>
                <c:pt idx="175">
                  <c:v>8.5000000000000006E-3</c:v>
                </c:pt>
                <c:pt idx="176">
                  <c:v>7.8200000000000006E-2</c:v>
                </c:pt>
                <c:pt idx="177">
                  <c:v>-2.5000000000000001E-3</c:v>
                </c:pt>
                <c:pt idx="178">
                  <c:v>3.5999999999999997E-2</c:v>
                </c:pt>
                <c:pt idx="179">
                  <c:v>1.26E-2</c:v>
                </c:pt>
                <c:pt idx="180">
                  <c:v>-6.8999999999999999E-3</c:v>
                </c:pt>
                <c:pt idx="181">
                  <c:v>7.7999999999999996E-3</c:v>
                </c:pt>
                <c:pt idx="182">
                  <c:v>-2.0000000000000001E-4</c:v>
                </c:pt>
                <c:pt idx="183">
                  <c:v>3.6999999999999998E-2</c:v>
                </c:pt>
                <c:pt idx="184">
                  <c:v>1.0200000000000001E-2</c:v>
                </c:pt>
                <c:pt idx="185">
                  <c:v>-4.0000000000000001E-3</c:v>
                </c:pt>
                <c:pt idx="186">
                  <c:v>-1.0800000000000001E-2</c:v>
                </c:pt>
                <c:pt idx="187">
                  <c:v>-2.4799999999999999E-2</c:v>
                </c:pt>
                <c:pt idx="188">
                  <c:v>-1.83E-2</c:v>
                </c:pt>
                <c:pt idx="189">
                  <c:v>2.8799999999999999E-2</c:v>
                </c:pt>
                <c:pt idx="190">
                  <c:v>-2.0000000000000001E-4</c:v>
                </c:pt>
                <c:pt idx="191">
                  <c:v>-3.0800000000000001E-2</c:v>
                </c:pt>
                <c:pt idx="192">
                  <c:v>-6.9999999999999999E-4</c:v>
                </c:pt>
                <c:pt idx="193">
                  <c:v>-3.2399999999999998E-2</c:v>
                </c:pt>
                <c:pt idx="194">
                  <c:v>-6.8999999999999999E-3</c:v>
                </c:pt>
                <c:pt idx="195">
                  <c:v>-5.9900000000000002E-2</c:v>
                </c:pt>
                <c:pt idx="196">
                  <c:v>2.8799999999999999E-2</c:v>
                </c:pt>
                <c:pt idx="197">
                  <c:v>4.4999999999999997E-3</c:v>
                </c:pt>
                <c:pt idx="198">
                  <c:v>3.3E-3</c:v>
                </c:pt>
                <c:pt idx="199">
                  <c:v>3.4799999999999998E-2</c:v>
                </c:pt>
                <c:pt idx="200">
                  <c:v>-1.37E-2</c:v>
                </c:pt>
                <c:pt idx="201">
                  <c:v>3.9399999999999998E-2</c:v>
                </c:pt>
                <c:pt idx="202">
                  <c:v>6.6E-3</c:v>
                </c:pt>
                <c:pt idx="203">
                  <c:v>1.7000000000000001E-2</c:v>
                </c:pt>
                <c:pt idx="204">
                  <c:v>-3.8999999999999998E-3</c:v>
                </c:pt>
                <c:pt idx="205">
                  <c:v>1.23E-2</c:v>
                </c:pt>
                <c:pt idx="206">
                  <c:v>1E-4</c:v>
                </c:pt>
                <c:pt idx="207">
                  <c:v>1.6999999999999999E-3</c:v>
                </c:pt>
                <c:pt idx="208">
                  <c:v>1.43E-2</c:v>
                </c:pt>
                <c:pt idx="209">
                  <c:v>3.1199999999999999E-2</c:v>
                </c:pt>
                <c:pt idx="210">
                  <c:v>-9.2999999999999992E-3</c:v>
                </c:pt>
                <c:pt idx="211">
                  <c:v>1.5599999999999999E-2</c:v>
                </c:pt>
                <c:pt idx="212">
                  <c:v>1.77E-2</c:v>
                </c:pt>
                <c:pt idx="213">
                  <c:v>1.1599999999999999E-2</c:v>
                </c:pt>
                <c:pt idx="214">
                  <c:v>3.0999999999999999E-3</c:v>
                </c:pt>
                <c:pt idx="215">
                  <c:v>5.7000000000000002E-3</c:v>
                </c:pt>
                <c:pt idx="216">
                  <c:v>6.7000000000000002E-3</c:v>
                </c:pt>
                <c:pt idx="217">
                  <c:v>3.0000000000000001E-3</c:v>
                </c:pt>
                <c:pt idx="218">
                  <c:v>-3.5000000000000001E-3</c:v>
                </c:pt>
                <c:pt idx="219">
                  <c:v>2.2000000000000001E-3</c:v>
                </c:pt>
                <c:pt idx="220">
                  <c:v>-2E-3</c:v>
                </c:pt>
                <c:pt idx="221">
                  <c:v>-2.7300000000000001E-2</c:v>
                </c:pt>
                <c:pt idx="222">
                  <c:v>1.24E-2</c:v>
                </c:pt>
                <c:pt idx="223">
                  <c:v>-5.7000000000000002E-3</c:v>
                </c:pt>
                <c:pt idx="224">
                  <c:v>4.48E-2</c:v>
                </c:pt>
                <c:pt idx="225">
                  <c:v>-1.9E-3</c:v>
                </c:pt>
                <c:pt idx="226">
                  <c:v>2.1899999999999999E-2</c:v>
                </c:pt>
                <c:pt idx="227">
                  <c:v>4.3E-3</c:v>
                </c:pt>
                <c:pt idx="228">
                  <c:v>-8.6E-3</c:v>
                </c:pt>
                <c:pt idx="229">
                  <c:v>-3.1E-2</c:v>
                </c:pt>
                <c:pt idx="230">
                  <c:v>1.8499999999999999E-2</c:v>
                </c:pt>
                <c:pt idx="231">
                  <c:v>-3.5299999999999998E-2</c:v>
                </c:pt>
                <c:pt idx="232">
                  <c:v>1.2200000000000001E-2</c:v>
                </c:pt>
                <c:pt idx="233">
                  <c:v>-1.3899999999999999E-2</c:v>
                </c:pt>
                <c:pt idx="234">
                  <c:v>2.58E-2</c:v>
                </c:pt>
                <c:pt idx="235">
                  <c:v>8.2000000000000007E-3</c:v>
                </c:pt>
                <c:pt idx="236">
                  <c:v>8.3000000000000001E-3</c:v>
                </c:pt>
                <c:pt idx="237">
                  <c:v>3.3E-3</c:v>
                </c:pt>
                <c:pt idx="238">
                  <c:v>-2.6100000000000002E-2</c:v>
                </c:pt>
                <c:pt idx="239">
                  <c:v>-3.3300000000000003E-2</c:v>
                </c:pt>
                <c:pt idx="240">
                  <c:v>3.5099999999999999E-2</c:v>
                </c:pt>
                <c:pt idx="241">
                  <c:v>5.0000000000000001E-4</c:v>
                </c:pt>
                <c:pt idx="242">
                  <c:v>-1E-3</c:v>
                </c:pt>
                <c:pt idx="243">
                  <c:v>8.3000000000000001E-3</c:v>
                </c:pt>
                <c:pt idx="244">
                  <c:v>-1.66E-2</c:v>
                </c:pt>
                <c:pt idx="245">
                  <c:v>4.1999999999999997E-3</c:v>
                </c:pt>
                <c:pt idx="246">
                  <c:v>3.0499999999999999E-2</c:v>
                </c:pt>
                <c:pt idx="247">
                  <c:v>-2.1000000000000001E-2</c:v>
                </c:pt>
                <c:pt idx="248">
                  <c:v>-1.47E-2</c:v>
                </c:pt>
                <c:pt idx="249">
                  <c:v>1.89E-2</c:v>
                </c:pt>
                <c:pt idx="250">
                  <c:v>-3.6900000000000002E-2</c:v>
                </c:pt>
                <c:pt idx="251">
                  <c:v>2.0000000000000001E-4</c:v>
                </c:pt>
                <c:pt idx="252">
                  <c:v>1.6299999999999999E-2</c:v>
                </c:pt>
                <c:pt idx="253">
                  <c:v>-6.6E-3</c:v>
                </c:pt>
                <c:pt idx="254">
                  <c:v>-1.6000000000000001E-3</c:v>
                </c:pt>
                <c:pt idx="255">
                  <c:v>-5.7999999999999996E-3</c:v>
                </c:pt>
                <c:pt idx="256">
                  <c:v>4.5199999999999997E-2</c:v>
                </c:pt>
                <c:pt idx="257">
                  <c:v>8.8000000000000005E-3</c:v>
                </c:pt>
                <c:pt idx="258">
                  <c:v>-1.14E-2</c:v>
                </c:pt>
                <c:pt idx="259">
                  <c:v>3.3999999999999998E-3</c:v>
                </c:pt>
                <c:pt idx="260">
                  <c:v>2.0199999999999999E-2</c:v>
                </c:pt>
                <c:pt idx="261">
                  <c:v>3.1199999999999999E-2</c:v>
                </c:pt>
                <c:pt idx="262">
                  <c:v>-9.2999999999999992E-3</c:v>
                </c:pt>
                <c:pt idx="263">
                  <c:v>1.5599999999999999E-2</c:v>
                </c:pt>
                <c:pt idx="264">
                  <c:v>1.77E-2</c:v>
                </c:pt>
                <c:pt idx="265">
                  <c:v>1.1599999999999999E-2</c:v>
                </c:pt>
                <c:pt idx="266">
                  <c:v>3.0999999999999999E-3</c:v>
                </c:pt>
                <c:pt idx="267">
                  <c:v>5.7000000000000002E-3</c:v>
                </c:pt>
                <c:pt idx="268">
                  <c:v>6.7000000000000002E-3</c:v>
                </c:pt>
                <c:pt idx="269">
                  <c:v>3.0000000000000001E-3</c:v>
                </c:pt>
                <c:pt idx="270">
                  <c:v>-3.5000000000000001E-3</c:v>
                </c:pt>
                <c:pt idx="271">
                  <c:v>2.2000000000000001E-3</c:v>
                </c:pt>
                <c:pt idx="272">
                  <c:v>-2E-3</c:v>
                </c:pt>
                <c:pt idx="273">
                  <c:v>-2.7300000000000001E-2</c:v>
                </c:pt>
                <c:pt idx="274">
                  <c:v>1.24E-2</c:v>
                </c:pt>
                <c:pt idx="275">
                  <c:v>-5.7000000000000002E-3</c:v>
                </c:pt>
                <c:pt idx="276">
                  <c:v>4.48E-2</c:v>
                </c:pt>
                <c:pt idx="277">
                  <c:v>-1.9E-3</c:v>
                </c:pt>
                <c:pt idx="278">
                  <c:v>2.1899999999999999E-2</c:v>
                </c:pt>
                <c:pt idx="279">
                  <c:v>4.3E-3</c:v>
                </c:pt>
                <c:pt idx="280">
                  <c:v>-8.6E-3</c:v>
                </c:pt>
                <c:pt idx="281">
                  <c:v>-3.1E-2</c:v>
                </c:pt>
                <c:pt idx="282">
                  <c:v>1.8499999999999999E-2</c:v>
                </c:pt>
                <c:pt idx="283">
                  <c:v>-3.5299999999999998E-2</c:v>
                </c:pt>
                <c:pt idx="284">
                  <c:v>1.2200000000000001E-2</c:v>
                </c:pt>
                <c:pt idx="285">
                  <c:v>-1.3899999999999999E-2</c:v>
                </c:pt>
                <c:pt idx="286">
                  <c:v>2.58E-2</c:v>
                </c:pt>
                <c:pt idx="287">
                  <c:v>8.2000000000000007E-3</c:v>
                </c:pt>
                <c:pt idx="288">
                  <c:v>8.3000000000000001E-3</c:v>
                </c:pt>
                <c:pt idx="289">
                  <c:v>3.3E-3</c:v>
                </c:pt>
                <c:pt idx="290">
                  <c:v>-2.6100000000000002E-2</c:v>
                </c:pt>
                <c:pt idx="291">
                  <c:v>-3.3300000000000003E-2</c:v>
                </c:pt>
                <c:pt idx="292">
                  <c:v>3.5099999999999999E-2</c:v>
                </c:pt>
                <c:pt idx="293">
                  <c:v>5.0000000000000001E-4</c:v>
                </c:pt>
                <c:pt idx="294">
                  <c:v>-1E-3</c:v>
                </c:pt>
                <c:pt idx="295">
                  <c:v>8.3000000000000001E-3</c:v>
                </c:pt>
                <c:pt idx="296">
                  <c:v>-1.66E-2</c:v>
                </c:pt>
                <c:pt idx="297">
                  <c:v>4.1999999999999997E-3</c:v>
                </c:pt>
                <c:pt idx="298">
                  <c:v>3.0499999999999999E-2</c:v>
                </c:pt>
                <c:pt idx="299">
                  <c:v>-2.1000000000000001E-2</c:v>
                </c:pt>
                <c:pt idx="300">
                  <c:v>-1.47E-2</c:v>
                </c:pt>
                <c:pt idx="301">
                  <c:v>1.89E-2</c:v>
                </c:pt>
                <c:pt idx="302">
                  <c:v>-3.6900000000000002E-2</c:v>
                </c:pt>
                <c:pt idx="303">
                  <c:v>2.0000000000000001E-4</c:v>
                </c:pt>
                <c:pt idx="304">
                  <c:v>1.6299999999999999E-2</c:v>
                </c:pt>
                <c:pt idx="305">
                  <c:v>-6.6E-3</c:v>
                </c:pt>
                <c:pt idx="306">
                  <c:v>-1.6000000000000001E-3</c:v>
                </c:pt>
                <c:pt idx="307">
                  <c:v>-5.7999999999999996E-3</c:v>
                </c:pt>
                <c:pt idx="308">
                  <c:v>4.5199999999999997E-2</c:v>
                </c:pt>
                <c:pt idx="309">
                  <c:v>8.8000000000000005E-3</c:v>
                </c:pt>
                <c:pt idx="310">
                  <c:v>-1.14E-2</c:v>
                </c:pt>
                <c:pt idx="311">
                  <c:v>3.3999999999999998E-3</c:v>
                </c:pt>
                <c:pt idx="312">
                  <c:v>2.0199999999999999E-2</c:v>
                </c:pt>
                <c:pt idx="313">
                  <c:v>1.14E-2</c:v>
                </c:pt>
                <c:pt idx="314">
                  <c:v>1.3899999999999999E-2</c:v>
                </c:pt>
                <c:pt idx="315">
                  <c:v>1.2800000000000001E-2</c:v>
                </c:pt>
                <c:pt idx="316">
                  <c:v>3.3999999999999998E-3</c:v>
                </c:pt>
                <c:pt idx="317">
                  <c:v>5.4999999999999997E-3</c:v>
                </c:pt>
                <c:pt idx="318">
                  <c:v>2.98E-2</c:v>
                </c:pt>
                <c:pt idx="319">
                  <c:v>8.6E-3</c:v>
                </c:pt>
                <c:pt idx="320">
                  <c:v>-6.4000000000000003E-3</c:v>
                </c:pt>
                <c:pt idx="321">
                  <c:v>1.2200000000000001E-2</c:v>
                </c:pt>
                <c:pt idx="322">
                  <c:v>4.07E-2</c:v>
                </c:pt>
                <c:pt idx="323">
                  <c:v>2.0999999999999999E-3</c:v>
                </c:pt>
                <c:pt idx="324">
                  <c:v>2.2700000000000001E-2</c:v>
                </c:pt>
                <c:pt idx="325">
                  <c:v>-7.9600000000000004E-2</c:v>
                </c:pt>
                <c:pt idx="326">
                  <c:v>-9.4000000000000004E-3</c:v>
                </c:pt>
                <c:pt idx="327">
                  <c:v>3.7600000000000001E-2</c:v>
                </c:pt>
                <c:pt idx="328">
                  <c:v>3.8600000000000002E-2</c:v>
                </c:pt>
                <c:pt idx="329">
                  <c:v>1.2E-2</c:v>
                </c:pt>
                <c:pt idx="330">
                  <c:v>1.41E-2</c:v>
                </c:pt>
                <c:pt idx="331">
                  <c:v>3.0599999999999999E-2</c:v>
                </c:pt>
                <c:pt idx="332">
                  <c:v>-1E-3</c:v>
                </c:pt>
                <c:pt idx="333">
                  <c:v>1.6E-2</c:v>
                </c:pt>
                <c:pt idx="334">
                  <c:v>6.4000000000000003E-3</c:v>
                </c:pt>
                <c:pt idx="335">
                  <c:v>-4.0000000000000001E-3</c:v>
                </c:pt>
                <c:pt idx="336">
                  <c:v>-1.8200000000000001E-2</c:v>
                </c:pt>
                <c:pt idx="337">
                  <c:v>4.1599999999999998E-2</c:v>
                </c:pt>
                <c:pt idx="338">
                  <c:v>2.1899999999999999E-2</c:v>
                </c:pt>
                <c:pt idx="339">
                  <c:v>2.1899999999999999E-2</c:v>
                </c:pt>
                <c:pt idx="340">
                  <c:v>1.29E-2</c:v>
                </c:pt>
                <c:pt idx="341">
                  <c:v>-8.5000000000000006E-3</c:v>
                </c:pt>
                <c:pt idx="342">
                  <c:v>-4.4000000000000003E-3</c:v>
                </c:pt>
                <c:pt idx="343">
                  <c:v>5.62E-2</c:v>
                </c:pt>
                <c:pt idx="344">
                  <c:v>2.7099999999999999E-2</c:v>
                </c:pt>
                <c:pt idx="345">
                  <c:v>-1.0500000000000001E-2</c:v>
                </c:pt>
                <c:pt idx="346">
                  <c:v>-3.9100000000000003E-2</c:v>
                </c:pt>
                <c:pt idx="347">
                  <c:v>6.9999999999999999E-4</c:v>
                </c:pt>
                <c:pt idx="348">
                  <c:v>1.9599999999999999E-2</c:v>
                </c:pt>
                <c:pt idx="349">
                  <c:v>-1.5599999999999999E-2</c:v>
                </c:pt>
                <c:pt idx="350">
                  <c:v>6.9999999999999999E-4</c:v>
                </c:pt>
                <c:pt idx="351">
                  <c:v>2.2100000000000002E-2</c:v>
                </c:pt>
                <c:pt idx="352">
                  <c:v>1.61E-2</c:v>
                </c:pt>
                <c:pt idx="353">
                  <c:v>-5.8099999999999999E-2</c:v>
                </c:pt>
                <c:pt idx="354">
                  <c:v>1.2E-2</c:v>
                </c:pt>
                <c:pt idx="355">
                  <c:v>-8.0999999999999996E-3</c:v>
                </c:pt>
                <c:pt idx="356">
                  <c:v>-4.1999999999999997E-3</c:v>
                </c:pt>
                <c:pt idx="357">
                  <c:v>3.6499999999999998E-2</c:v>
                </c:pt>
                <c:pt idx="358">
                  <c:v>1.1000000000000001E-3</c:v>
                </c:pt>
                <c:pt idx="359">
                  <c:v>1.04E-2</c:v>
                </c:pt>
                <c:pt idx="360">
                  <c:v>1.04E-2</c:v>
                </c:pt>
                <c:pt idx="361">
                  <c:v>-2.9999999999999997E-4</c:v>
                </c:pt>
                <c:pt idx="362">
                  <c:v>3.8999999999999998E-3</c:v>
                </c:pt>
                <c:pt idx="363">
                  <c:v>7.0000000000000001E-3</c:v>
                </c:pt>
              </c:numCache>
            </c:numRef>
          </c:xVal>
          <c:yVal>
            <c:numRef>
              <c:f>'Beta 5-Year'!$B$25:$B$388</c:f>
              <c:numCache>
                <c:formatCode>General</c:formatCode>
                <c:ptCount val="364"/>
                <c:pt idx="0">
                  <c:v>5.8302475749836876E-3</c:v>
                </c:pt>
                <c:pt idx="1">
                  <c:v>9.9771935336939298E-3</c:v>
                </c:pt>
                <c:pt idx="2">
                  <c:v>1.2077594733560158E-2</c:v>
                </c:pt>
                <c:pt idx="3">
                  <c:v>-1.7651160710700282E-2</c:v>
                </c:pt>
                <c:pt idx="4">
                  <c:v>3.7837028161396714E-3</c:v>
                </c:pt>
                <c:pt idx="5">
                  <c:v>1.051575794391604E-2</c:v>
                </c:pt>
                <c:pt idx="6">
                  <c:v>-1.3288788987901196E-2</c:v>
                </c:pt>
                <c:pt idx="7">
                  <c:v>-0.1003746541208163</c:v>
                </c:pt>
                <c:pt idx="8">
                  <c:v>-2.2821379048832531E-2</c:v>
                </c:pt>
                <c:pt idx="9">
                  <c:v>-0.10064393632592734</c:v>
                </c:pt>
                <c:pt idx="10">
                  <c:v>6.8535199544056957E-3</c:v>
                </c:pt>
                <c:pt idx="11">
                  <c:v>-3.6324314257057174E-4</c:v>
                </c:pt>
                <c:pt idx="12">
                  <c:v>-6.1258823319471425E-3</c:v>
                </c:pt>
                <c:pt idx="13">
                  <c:v>7.0080981714481336E-2</c:v>
                </c:pt>
                <c:pt idx="14">
                  <c:v>3.2989948469397731E-3</c:v>
                </c:pt>
                <c:pt idx="15">
                  <c:v>3.4605641700064058E-3</c:v>
                </c:pt>
                <c:pt idx="16">
                  <c:v>2.3172021584135609E-2</c:v>
                </c:pt>
                <c:pt idx="17">
                  <c:v>-1.6951026977411542E-2</c:v>
                </c:pt>
                <c:pt idx="18">
                  <c:v>-5.8566001268360868E-3</c:v>
                </c:pt>
                <c:pt idx="19">
                  <c:v>1.8271085451114416E-2</c:v>
                </c:pt>
                <c:pt idx="20">
                  <c:v>4.2129488823953863E-2</c:v>
                </c:pt>
                <c:pt idx="21">
                  <c:v>2.9257799419645451E-2</c:v>
                </c:pt>
                <c:pt idx="22">
                  <c:v>-2.5083349571765397E-2</c:v>
                </c:pt>
                <c:pt idx="23">
                  <c:v>2.1717897676535917E-2</c:v>
                </c:pt>
                <c:pt idx="24">
                  <c:v>-1.7489591387633653E-2</c:v>
                </c:pt>
                <c:pt idx="25">
                  <c:v>1.7732521040892305E-2</c:v>
                </c:pt>
                <c:pt idx="26">
                  <c:v>-1.7112596300478178E-2</c:v>
                </c:pt>
                <c:pt idx="27">
                  <c:v>1.1000465913115938E-2</c:v>
                </c:pt>
                <c:pt idx="28">
                  <c:v>-2.2482185783479543E-3</c:v>
                </c:pt>
                <c:pt idx="29">
                  <c:v>-1.0380541172701808E-2</c:v>
                </c:pt>
                <c:pt idx="30">
                  <c:v>1.6870817984536927E-2</c:v>
                </c:pt>
                <c:pt idx="31">
                  <c:v>5.2916831647615778E-3</c:v>
                </c:pt>
                <c:pt idx="32">
                  <c:v>2.8681433187620854E-3</c:v>
                </c:pt>
                <c:pt idx="33">
                  <c:v>4.8069751955616795E-3</c:v>
                </c:pt>
                <c:pt idx="34">
                  <c:v>7.8767923338277021E-3</c:v>
                </c:pt>
                <c:pt idx="35">
                  <c:v>1.037024324006913E-3</c:v>
                </c:pt>
                <c:pt idx="36">
                  <c:v>2.2848882938002343E-2</c:v>
                </c:pt>
                <c:pt idx="37">
                  <c:v>-2.9445721294564478E-2</c:v>
                </c:pt>
                <c:pt idx="38">
                  <c:v>1.0569614384938249E-2</c:v>
                </c:pt>
                <c:pt idx="39">
                  <c:v>2.5972556517290579E-2</c:v>
                </c:pt>
                <c:pt idx="40">
                  <c:v>-2.206738887452158E-2</c:v>
                </c:pt>
                <c:pt idx="41">
                  <c:v>-3.0560651936811182E-3</c:v>
                </c:pt>
                <c:pt idx="42">
                  <c:v>-3.3861949458385783E-2</c:v>
                </c:pt>
                <c:pt idx="43">
                  <c:v>2.1394759030402652E-2</c:v>
                </c:pt>
                <c:pt idx="44">
                  <c:v>6.5664753550660052E-2</c:v>
                </c:pt>
                <c:pt idx="45">
                  <c:v>3.9759805418976578E-2</c:v>
                </c:pt>
                <c:pt idx="46">
                  <c:v>3.238147299893368E-2</c:v>
                </c:pt>
                <c:pt idx="47">
                  <c:v>3.9113528126710054E-2</c:v>
                </c:pt>
                <c:pt idx="48">
                  <c:v>-2.5553026052614961E-4</c:v>
                </c:pt>
                <c:pt idx="49">
                  <c:v>1.8324941892136626E-2</c:v>
                </c:pt>
                <c:pt idx="50">
                  <c:v>-4.6717584243474459E-3</c:v>
                </c:pt>
                <c:pt idx="51">
                  <c:v>1.8486511215203262E-2</c:v>
                </c:pt>
                <c:pt idx="52">
                  <c:v>1.0623470825960461E-2</c:v>
                </c:pt>
                <c:pt idx="53">
                  <c:v>-1.5389190187767425E-2</c:v>
                </c:pt>
                <c:pt idx="54">
                  <c:v>-3.8100553679920714E-3</c:v>
                </c:pt>
                <c:pt idx="55">
                  <c:v>-1.6627888331278276E-2</c:v>
                </c:pt>
                <c:pt idx="56">
                  <c:v>1.4662703902626282E-2</c:v>
                </c:pt>
                <c:pt idx="57">
                  <c:v>1.1862168969471313E-2</c:v>
                </c:pt>
                <c:pt idx="58">
                  <c:v>7.4997972466722268E-3</c:v>
                </c:pt>
                <c:pt idx="59">
                  <c:v>1.1323604559249204E-2</c:v>
                </c:pt>
                <c:pt idx="60">
                  <c:v>2.5972556517290579E-2</c:v>
                </c:pt>
                <c:pt idx="61">
                  <c:v>1.9940635122802954E-2</c:v>
                </c:pt>
                <c:pt idx="62">
                  <c:v>-6.8260160652358834E-3</c:v>
                </c:pt>
                <c:pt idx="63">
                  <c:v>1.5901402046137131E-2</c:v>
                </c:pt>
                <c:pt idx="64">
                  <c:v>1.8594224097247682E-2</c:v>
                </c:pt>
                <c:pt idx="65">
                  <c:v>1.390871372831533E-2</c:v>
                </c:pt>
                <c:pt idx="66">
                  <c:v>7.9845052158721251E-3</c:v>
                </c:pt>
                <c:pt idx="67">
                  <c:v>4.3761236673839918E-3</c:v>
                </c:pt>
                <c:pt idx="68">
                  <c:v>1.0246475738804984E-2</c:v>
                </c:pt>
                <c:pt idx="69">
                  <c:v>-4.1331940141253378E-3</c:v>
                </c:pt>
                <c:pt idx="70">
                  <c:v>9.8156242106272971E-3</c:v>
                </c:pt>
                <c:pt idx="71">
                  <c:v>-1.9697705469544302E-2</c:v>
                </c:pt>
                <c:pt idx="72">
                  <c:v>1.6224540692270396E-2</c:v>
                </c:pt>
                <c:pt idx="73">
                  <c:v>1.2293020497649002E-2</c:v>
                </c:pt>
                <c:pt idx="74">
                  <c:v>1.8271085451114416E-2</c:v>
                </c:pt>
                <c:pt idx="75">
                  <c:v>-8.0108577677245243E-3</c:v>
                </c:pt>
                <c:pt idx="76">
                  <c:v>5.0762574006727335E-3</c:v>
                </c:pt>
                <c:pt idx="77">
                  <c:v>-8.7109915010132669E-3</c:v>
                </c:pt>
                <c:pt idx="78">
                  <c:v>-3.7561989269698608E-3</c:v>
                </c:pt>
                <c:pt idx="79">
                  <c:v>-7.9409467074825942E-4</c:v>
                </c:pt>
                <c:pt idx="80">
                  <c:v>2.3295789085399756E-3</c:v>
                </c:pt>
                <c:pt idx="81">
                  <c:v>1.8648080538269891E-2</c:v>
                </c:pt>
                <c:pt idx="82">
                  <c:v>6.961232836450117E-3</c:v>
                </c:pt>
                <c:pt idx="83">
                  <c:v>4.8608316365838901E-3</c:v>
                </c:pt>
                <c:pt idx="84">
                  <c:v>-3.5407731628810165E-3</c:v>
                </c:pt>
                <c:pt idx="85">
                  <c:v>2.2848882938002343E-2</c:v>
                </c:pt>
                <c:pt idx="86">
                  <c:v>4.1606979032951484E-3</c:v>
                </c:pt>
                <c:pt idx="87">
                  <c:v>-4.4024762192363918E-3</c:v>
                </c:pt>
                <c:pt idx="88">
                  <c:v>1.0785040149027094E-2</c:v>
                </c:pt>
                <c:pt idx="89">
                  <c:v>-1.9643849028522085E-2</c:v>
                </c:pt>
                <c:pt idx="90">
                  <c:v>2.5450046726288198E-3</c:v>
                </c:pt>
                <c:pt idx="91">
                  <c:v>1.7086243748625773E-2</c:v>
                </c:pt>
                <c:pt idx="92">
                  <c:v>5.0762574006727335E-3</c:v>
                </c:pt>
                <c:pt idx="93">
                  <c:v>9.9771935336939298E-3</c:v>
                </c:pt>
                <c:pt idx="94">
                  <c:v>-3.6324314257057174E-4</c:v>
                </c:pt>
                <c:pt idx="95">
                  <c:v>9.0616340363163447E-3</c:v>
                </c:pt>
                <c:pt idx="96">
                  <c:v>7.9845052158721251E-3</c:v>
                </c:pt>
                <c:pt idx="97">
                  <c:v>4.4299801084062024E-3</c:v>
                </c:pt>
                <c:pt idx="98">
                  <c:v>-2.9230295530475639E-2</c:v>
                </c:pt>
                <c:pt idx="99">
                  <c:v>1.6493822897381452E-2</c:v>
                </c:pt>
                <c:pt idx="100">
                  <c:v>1.5685976282048292E-2</c:v>
                </c:pt>
                <c:pt idx="101">
                  <c:v>-2.8944958706144854E-3</c:v>
                </c:pt>
                <c:pt idx="102">
                  <c:v>5.7225346929392655E-3</c:v>
                </c:pt>
                <c:pt idx="103">
                  <c:v>5.3455396057837884E-3</c:v>
                </c:pt>
                <c:pt idx="104">
                  <c:v>1.1700599646404681E-2</c:v>
                </c:pt>
                <c:pt idx="105">
                  <c:v>2.9257799419645451E-2</c:v>
                </c:pt>
                <c:pt idx="106">
                  <c:v>-1.4781737848172747E-4</c:v>
                </c:pt>
                <c:pt idx="107">
                  <c:v>-6.5028774191026179E-3</c:v>
                </c:pt>
                <c:pt idx="108">
                  <c:v>1.5793689164092711E-2</c:v>
                </c:pt>
                <c:pt idx="109">
                  <c:v>1.8648080538269891E-2</c:v>
                </c:pt>
                <c:pt idx="110">
                  <c:v>-4.6179019833252361E-3</c:v>
                </c:pt>
                <c:pt idx="111">
                  <c:v>-1.2373229490523613E-2</c:v>
                </c:pt>
                <c:pt idx="112">
                  <c:v>-5.7504927067136384E-2</c:v>
                </c:pt>
                <c:pt idx="113">
                  <c:v>7.8767923338277021E-3</c:v>
                </c:pt>
                <c:pt idx="114">
                  <c:v>2.6511120927512691E-2</c:v>
                </c:pt>
                <c:pt idx="115">
                  <c:v>-8.5494221779466341E-3</c:v>
                </c:pt>
                <c:pt idx="116">
                  <c:v>3.4158735552666644E-2</c:v>
                </c:pt>
                <c:pt idx="117">
                  <c:v>1.3208579995026587E-2</c:v>
                </c:pt>
                <c:pt idx="118">
                  <c:v>1.1323604559249204E-2</c:v>
                </c:pt>
                <c:pt idx="119">
                  <c:v>2.1771754117558127E-2</c:v>
                </c:pt>
                <c:pt idx="120">
                  <c:v>-1.167309575723487E-2</c:v>
                </c:pt>
                <c:pt idx="121">
                  <c:v>-2.8745587561275744E-2</c:v>
                </c:pt>
                <c:pt idx="122">
                  <c:v>3.9452721392063041E-3</c:v>
                </c:pt>
                <c:pt idx="123">
                  <c:v>-5.2481246563720451E-4</c:v>
                </c:pt>
                <c:pt idx="124">
                  <c:v>2.3441303789246665E-2</c:v>
                </c:pt>
                <c:pt idx="125">
                  <c:v>7.0689457184945391E-3</c:v>
                </c:pt>
                <c:pt idx="126">
                  <c:v>-1.6843314095367122E-2</c:v>
                </c:pt>
                <c:pt idx="127">
                  <c:v>-1.9428423264433246E-2</c:v>
                </c:pt>
                <c:pt idx="128">
                  <c:v>9.9233370926717183E-3</c:v>
                </c:pt>
                <c:pt idx="129">
                  <c:v>-1.4958338659589737E-2</c:v>
                </c:pt>
                <c:pt idx="130">
                  <c:v>1.360162970140179E-3</c:v>
                </c:pt>
                <c:pt idx="131">
                  <c:v>-1.2788026399481577E-3</c:v>
                </c:pt>
                <c:pt idx="132">
                  <c:v>2.7749819071023543E-2</c:v>
                </c:pt>
                <c:pt idx="133">
                  <c:v>1.7463238835781249E-2</c:v>
                </c:pt>
                <c:pt idx="134">
                  <c:v>2.6527175546732415E-3</c:v>
                </c:pt>
                <c:pt idx="135">
                  <c:v>2.2525744291869078E-2</c:v>
                </c:pt>
                <c:pt idx="136">
                  <c:v>1.627839713329261E-2</c:v>
                </c:pt>
                <c:pt idx="137">
                  <c:v>5.5231635480701468E-4</c:v>
                </c:pt>
                <c:pt idx="138">
                  <c:v>-2.5729626864031928E-2</c:v>
                </c:pt>
                <c:pt idx="139">
                  <c:v>1.9525838213844994E-3</c:v>
                </c:pt>
                <c:pt idx="140">
                  <c:v>1.2146482662932744E-4</c:v>
                </c:pt>
                <c:pt idx="141">
                  <c:v>-2.0720977848966309E-2</c:v>
                </c:pt>
                <c:pt idx="142">
                  <c:v>2.830341496959602E-4</c:v>
                </c:pt>
                <c:pt idx="143">
                  <c:v>1.8163372569069997E-2</c:v>
                </c:pt>
                <c:pt idx="144">
                  <c:v>1.5847545605114921E-2</c:v>
                </c:pt>
                <c:pt idx="145">
                  <c:v>1.8432654774181045E-2</c:v>
                </c:pt>
                <c:pt idx="146">
                  <c:v>7.3920843646278047E-3</c:v>
                </c:pt>
                <c:pt idx="147">
                  <c:v>1.5255124753870601E-2</c:v>
                </c:pt>
                <c:pt idx="148">
                  <c:v>1.5201268312848392E-2</c:v>
                </c:pt>
                <c:pt idx="149">
                  <c:v>-9.5566399381489218E-4</c:v>
                </c:pt>
                <c:pt idx="150">
                  <c:v>2.0586912415069485E-2</c:v>
                </c:pt>
                <c:pt idx="151">
                  <c:v>-4.2409068961697591E-3</c:v>
                </c:pt>
                <c:pt idx="152">
                  <c:v>1.0946609472093726E-2</c:v>
                </c:pt>
                <c:pt idx="153">
                  <c:v>1.360162970140179E-3</c:v>
                </c:pt>
                <c:pt idx="154">
                  <c:v>9.3309162414273988E-3</c:v>
                </c:pt>
                <c:pt idx="155">
                  <c:v>8.792351831205289E-3</c:v>
                </c:pt>
                <c:pt idx="156">
                  <c:v>1.6332253574314823E-2</c:v>
                </c:pt>
                <c:pt idx="157">
                  <c:v>1.337014931809322E-2</c:v>
                </c:pt>
                <c:pt idx="158">
                  <c:v>9.7079113285828758E-3</c:v>
                </c:pt>
                <c:pt idx="159">
                  <c:v>2.381829887640214E-2</c:v>
                </c:pt>
                <c:pt idx="160">
                  <c:v>1.3316292877071008E-2</c:v>
                </c:pt>
                <c:pt idx="161">
                  <c:v>2.1879466999602547E-2</c:v>
                </c:pt>
                <c:pt idx="162">
                  <c:v>2.1233189707336016E-2</c:v>
                </c:pt>
                <c:pt idx="163">
                  <c:v>8.9539211542719217E-3</c:v>
                </c:pt>
                <c:pt idx="164">
                  <c:v>4.4299801084062024E-3</c:v>
                </c:pt>
                <c:pt idx="165">
                  <c:v>-2.4437072279498866E-2</c:v>
                </c:pt>
                <c:pt idx="166">
                  <c:v>-1.4581343572434258E-2</c:v>
                </c:pt>
                <c:pt idx="167">
                  <c:v>4.3222672263617812E-3</c:v>
                </c:pt>
                <c:pt idx="168">
                  <c:v>2.1394759030402652E-2</c:v>
                </c:pt>
                <c:pt idx="169">
                  <c:v>1.3693287964226485E-2</c:v>
                </c:pt>
                <c:pt idx="170">
                  <c:v>1.8217229010092206E-2</c:v>
                </c:pt>
                <c:pt idx="171">
                  <c:v>7.9306487748499153E-3</c:v>
                </c:pt>
                <c:pt idx="172">
                  <c:v>-8.9264172651021111E-3</c:v>
                </c:pt>
                <c:pt idx="173">
                  <c:v>1.6763105102492508E-2</c:v>
                </c:pt>
                <c:pt idx="174">
                  <c:v>9.3847726824496103E-3</c:v>
                </c:pt>
                <c:pt idx="175">
                  <c:v>8.3615003030276022E-3</c:v>
                </c:pt>
                <c:pt idx="176">
                  <c:v>4.589943969550863E-2</c:v>
                </c:pt>
                <c:pt idx="177">
                  <c:v>2.4372917905843977E-3</c:v>
                </c:pt>
                <c:pt idx="178">
                  <c:v>2.3172021584135609E-2</c:v>
                </c:pt>
                <c:pt idx="179">
                  <c:v>1.0569614384938249E-2</c:v>
                </c:pt>
                <c:pt idx="180">
                  <c:v>6.7608385607116368E-5</c:v>
                </c:pt>
                <c:pt idx="181">
                  <c:v>7.9845052158721251E-3</c:v>
                </c:pt>
                <c:pt idx="182">
                  <c:v>3.6759899340952497E-3</c:v>
                </c:pt>
                <c:pt idx="183">
                  <c:v>2.371058599435772E-2</c:v>
                </c:pt>
                <c:pt idx="184">
                  <c:v>9.2770598004051873E-3</c:v>
                </c:pt>
                <c:pt idx="185">
                  <c:v>1.6294451752512334E-3</c:v>
                </c:pt>
                <c:pt idx="186">
                  <c:v>-2.0327928142591109E-3</c:v>
                </c:pt>
                <c:pt idx="187">
                  <c:v>-9.5726945573686422E-3</c:v>
                </c:pt>
                <c:pt idx="188">
                  <c:v>-6.072025890924931E-3</c:v>
                </c:pt>
                <c:pt idx="189">
                  <c:v>1.9294357830536422E-2</c:v>
                </c:pt>
                <c:pt idx="190">
                  <c:v>3.6759899340952497E-3</c:v>
                </c:pt>
                <c:pt idx="191">
                  <c:v>-1.2804081018701301E-2</c:v>
                </c:pt>
                <c:pt idx="192">
                  <c:v>3.4067077289841948E-3</c:v>
                </c:pt>
                <c:pt idx="193">
                  <c:v>-1.3665784075056675E-2</c:v>
                </c:pt>
                <c:pt idx="194">
                  <c:v>6.7608385607116368E-5</c:v>
                </c:pt>
                <c:pt idx="195">
                  <c:v>-2.8476305356164688E-2</c:v>
                </c:pt>
                <c:pt idx="196">
                  <c:v>1.9294357830536422E-2</c:v>
                </c:pt>
                <c:pt idx="197">
                  <c:v>6.2072426621391638E-3</c:v>
                </c:pt>
                <c:pt idx="198">
                  <c:v>5.5609653698726327E-3</c:v>
                </c:pt>
                <c:pt idx="199">
                  <c:v>2.2525744291869078E-2</c:v>
                </c:pt>
                <c:pt idx="200">
                  <c:v>-3.594629603903228E-3</c:v>
                </c:pt>
                <c:pt idx="201">
                  <c:v>2.5003140578890783E-2</c:v>
                </c:pt>
                <c:pt idx="202">
                  <c:v>7.338227923605594E-3</c:v>
                </c:pt>
                <c:pt idx="203">
                  <c:v>1.2939297789915533E-2</c:v>
                </c:pt>
                <c:pt idx="204">
                  <c:v>1.6833016162734445E-3</c:v>
                </c:pt>
                <c:pt idx="205">
                  <c:v>1.0408045061871617E-2</c:v>
                </c:pt>
                <c:pt idx="206">
                  <c:v>3.8375592571618824E-3</c:v>
                </c:pt>
                <c:pt idx="207">
                  <c:v>4.6992623135172574E-3</c:v>
                </c:pt>
                <c:pt idx="208">
                  <c:v>1.1485173882315836E-2</c:v>
                </c:pt>
                <c:pt idx="209">
                  <c:v>2.0586912415069485E-2</c:v>
                </c:pt>
                <c:pt idx="210">
                  <c:v>-1.2249461989259462E-3</c:v>
                </c:pt>
                <c:pt idx="211">
                  <c:v>1.2185307615604579E-2</c:v>
                </c:pt>
                <c:pt idx="212">
                  <c:v>1.3316292877071008E-2</c:v>
                </c:pt>
                <c:pt idx="213">
                  <c:v>1.0031049974716141E-2</c:v>
                </c:pt>
                <c:pt idx="214">
                  <c:v>5.4532524878282106E-3</c:v>
                </c:pt>
                <c:pt idx="215">
                  <c:v>6.8535199544056957E-3</c:v>
                </c:pt>
                <c:pt idx="216">
                  <c:v>7.3920843646278047E-3</c:v>
                </c:pt>
                <c:pt idx="217">
                  <c:v>5.3993960468059999E-3</c:v>
                </c:pt>
                <c:pt idx="218">
                  <c:v>1.8987273803622883E-3</c:v>
                </c:pt>
                <c:pt idx="219">
                  <c:v>4.9685445186283123E-3</c:v>
                </c:pt>
                <c:pt idx="220">
                  <c:v>2.7065739956954526E-3</c:v>
                </c:pt>
                <c:pt idx="221">
                  <c:v>-1.0919105582923918E-2</c:v>
                </c:pt>
                <c:pt idx="222">
                  <c:v>1.0461901502893828E-2</c:v>
                </c:pt>
                <c:pt idx="223">
                  <c:v>7.1388567787364745E-4</c:v>
                </c:pt>
                <c:pt idx="224">
                  <c:v>2.7911388394090172E-2</c:v>
                </c:pt>
                <c:pt idx="225">
                  <c:v>2.7604304367176632E-3</c:v>
                </c:pt>
                <c:pt idx="226">
                  <c:v>1.5578263400003867E-2</c:v>
                </c:pt>
                <c:pt idx="227">
                  <c:v>6.0995297800947416E-3</c:v>
                </c:pt>
                <c:pt idx="228">
                  <c:v>-8.4795111177047005E-4</c:v>
                </c:pt>
                <c:pt idx="229">
                  <c:v>-1.2911793900745721E-2</c:v>
                </c:pt>
                <c:pt idx="230">
                  <c:v>1.3747144405248695E-2</c:v>
                </c:pt>
                <c:pt idx="231">
                  <c:v>-1.5227620864700789E-2</c:v>
                </c:pt>
                <c:pt idx="232">
                  <c:v>1.0354188620849407E-2</c:v>
                </c:pt>
                <c:pt idx="233">
                  <c:v>-3.7023424859476493E-3</c:v>
                </c:pt>
                <c:pt idx="234">
                  <c:v>1.7678664599870095E-2</c:v>
                </c:pt>
                <c:pt idx="235">
                  <c:v>8.1999309799609694E-3</c:v>
                </c:pt>
                <c:pt idx="236">
                  <c:v>8.2537874209831809E-3</c:v>
                </c:pt>
                <c:pt idx="237">
                  <c:v>5.5609653698726327E-3</c:v>
                </c:pt>
                <c:pt idx="238">
                  <c:v>-1.0272828290657387E-2</c:v>
                </c:pt>
                <c:pt idx="239">
                  <c:v>-1.4150492044256573E-2</c:v>
                </c:pt>
                <c:pt idx="240">
                  <c:v>2.2687313614935714E-2</c:v>
                </c:pt>
                <c:pt idx="241">
                  <c:v>4.0529850212507263E-3</c:v>
                </c:pt>
                <c:pt idx="242">
                  <c:v>3.245138405917562E-3</c:v>
                </c:pt>
                <c:pt idx="243">
                  <c:v>8.2537874209831809E-3</c:v>
                </c:pt>
                <c:pt idx="244">
                  <c:v>-5.1564663935473459E-3</c:v>
                </c:pt>
                <c:pt idx="245">
                  <c:v>6.045673339072531E-3</c:v>
                </c:pt>
                <c:pt idx="246">
                  <c:v>2.0209917327914009E-2</c:v>
                </c:pt>
                <c:pt idx="247">
                  <c:v>-7.5261497985246277E-3</c:v>
                </c:pt>
                <c:pt idx="248">
                  <c:v>-4.1331940141253378E-3</c:v>
                </c:pt>
                <c:pt idx="249">
                  <c:v>1.3962570169337539E-2</c:v>
                </c:pt>
                <c:pt idx="250">
                  <c:v>-1.6089323921056171E-2</c:v>
                </c:pt>
                <c:pt idx="251">
                  <c:v>3.8914156981840931E-3</c:v>
                </c:pt>
                <c:pt idx="252">
                  <c:v>1.2562302702760054E-2</c:v>
                </c:pt>
                <c:pt idx="253">
                  <c:v>2.2917770867374914E-4</c:v>
                </c:pt>
                <c:pt idx="254">
                  <c:v>2.921999759784296E-3</c:v>
                </c:pt>
                <c:pt idx="255">
                  <c:v>6.6002923685143681E-4</c:v>
                </c:pt>
                <c:pt idx="256">
                  <c:v>2.8126814158179018E-2</c:v>
                </c:pt>
                <c:pt idx="257">
                  <c:v>8.5230696260942349E-3</c:v>
                </c:pt>
                <c:pt idx="258">
                  <c:v>-2.3559314603923765E-3</c:v>
                </c:pt>
                <c:pt idx="259">
                  <c:v>5.6148218108948433E-3</c:v>
                </c:pt>
                <c:pt idx="260">
                  <c:v>1.4662703902626282E-2</c:v>
                </c:pt>
                <c:pt idx="261">
                  <c:v>2.0586912415069485E-2</c:v>
                </c:pt>
                <c:pt idx="262">
                  <c:v>-1.2249461989259462E-3</c:v>
                </c:pt>
                <c:pt idx="263">
                  <c:v>1.2185307615604579E-2</c:v>
                </c:pt>
                <c:pt idx="264">
                  <c:v>1.3316292877071008E-2</c:v>
                </c:pt>
                <c:pt idx="265">
                  <c:v>1.0031049974716141E-2</c:v>
                </c:pt>
                <c:pt idx="266">
                  <c:v>5.4532524878282106E-3</c:v>
                </c:pt>
                <c:pt idx="267">
                  <c:v>6.8535199544056957E-3</c:v>
                </c:pt>
                <c:pt idx="268">
                  <c:v>7.3920843646278047E-3</c:v>
                </c:pt>
                <c:pt idx="269">
                  <c:v>5.3993960468059999E-3</c:v>
                </c:pt>
                <c:pt idx="270">
                  <c:v>1.8987273803622883E-3</c:v>
                </c:pt>
                <c:pt idx="271">
                  <c:v>4.9685445186283123E-3</c:v>
                </c:pt>
                <c:pt idx="272">
                  <c:v>2.7065739956954526E-3</c:v>
                </c:pt>
                <c:pt idx="273">
                  <c:v>-1.0919105582923918E-2</c:v>
                </c:pt>
                <c:pt idx="274">
                  <c:v>1.0461901502893828E-2</c:v>
                </c:pt>
                <c:pt idx="275">
                  <c:v>7.1388567787364745E-4</c:v>
                </c:pt>
                <c:pt idx="276">
                  <c:v>2.7911388394090172E-2</c:v>
                </c:pt>
                <c:pt idx="277">
                  <c:v>2.7604304367176632E-3</c:v>
                </c:pt>
                <c:pt idx="278">
                  <c:v>1.5578263400003867E-2</c:v>
                </c:pt>
                <c:pt idx="279">
                  <c:v>6.0995297800947416E-3</c:v>
                </c:pt>
                <c:pt idx="280">
                  <c:v>-8.4795111177047005E-4</c:v>
                </c:pt>
                <c:pt idx="281">
                  <c:v>-1.2911793900745721E-2</c:v>
                </c:pt>
                <c:pt idx="282">
                  <c:v>1.3747144405248695E-2</c:v>
                </c:pt>
                <c:pt idx="283">
                  <c:v>-1.5227620864700789E-2</c:v>
                </c:pt>
                <c:pt idx="284">
                  <c:v>1.0354188620849407E-2</c:v>
                </c:pt>
                <c:pt idx="285">
                  <c:v>-3.7023424859476493E-3</c:v>
                </c:pt>
                <c:pt idx="286">
                  <c:v>1.7678664599870095E-2</c:v>
                </c:pt>
                <c:pt idx="287">
                  <c:v>8.1999309799609694E-3</c:v>
                </c:pt>
                <c:pt idx="288">
                  <c:v>8.2537874209831809E-3</c:v>
                </c:pt>
                <c:pt idx="289">
                  <c:v>5.5609653698726327E-3</c:v>
                </c:pt>
                <c:pt idx="290">
                  <c:v>-1.0272828290657387E-2</c:v>
                </c:pt>
                <c:pt idx="291">
                  <c:v>-1.4150492044256573E-2</c:v>
                </c:pt>
                <c:pt idx="292">
                  <c:v>2.2687313614935714E-2</c:v>
                </c:pt>
                <c:pt idx="293">
                  <c:v>4.0529850212507263E-3</c:v>
                </c:pt>
                <c:pt idx="294">
                  <c:v>3.245138405917562E-3</c:v>
                </c:pt>
                <c:pt idx="295">
                  <c:v>8.2537874209831809E-3</c:v>
                </c:pt>
                <c:pt idx="296">
                  <c:v>-5.1564663935473459E-3</c:v>
                </c:pt>
                <c:pt idx="297">
                  <c:v>6.045673339072531E-3</c:v>
                </c:pt>
                <c:pt idx="298">
                  <c:v>2.0209917327914009E-2</c:v>
                </c:pt>
                <c:pt idx="299">
                  <c:v>-7.5261497985246277E-3</c:v>
                </c:pt>
                <c:pt idx="300">
                  <c:v>-4.1331940141253378E-3</c:v>
                </c:pt>
                <c:pt idx="301">
                  <c:v>1.3962570169337539E-2</c:v>
                </c:pt>
                <c:pt idx="302">
                  <c:v>-1.6089323921056171E-2</c:v>
                </c:pt>
                <c:pt idx="303">
                  <c:v>3.8914156981840931E-3</c:v>
                </c:pt>
                <c:pt idx="304">
                  <c:v>1.2562302702760054E-2</c:v>
                </c:pt>
                <c:pt idx="305">
                  <c:v>2.2917770867374914E-4</c:v>
                </c:pt>
                <c:pt idx="306">
                  <c:v>2.921999759784296E-3</c:v>
                </c:pt>
                <c:pt idx="307">
                  <c:v>6.6002923685143681E-4</c:v>
                </c:pt>
                <c:pt idx="308">
                  <c:v>2.8126814158179018E-2</c:v>
                </c:pt>
                <c:pt idx="309">
                  <c:v>8.5230696260942349E-3</c:v>
                </c:pt>
                <c:pt idx="310">
                  <c:v>-2.3559314603923765E-3</c:v>
                </c:pt>
                <c:pt idx="311">
                  <c:v>5.6148218108948433E-3</c:v>
                </c:pt>
                <c:pt idx="312">
                  <c:v>1.4662703902626282E-2</c:v>
                </c:pt>
                <c:pt idx="313">
                  <c:v>9.9233370926717183E-3</c:v>
                </c:pt>
                <c:pt idx="314">
                  <c:v>1.1269748118226992E-2</c:v>
                </c:pt>
                <c:pt idx="315">
                  <c:v>1.0677327266982672E-2</c:v>
                </c:pt>
                <c:pt idx="316">
                  <c:v>5.6148218108948433E-3</c:v>
                </c:pt>
                <c:pt idx="317">
                  <c:v>6.7458070723612727E-3</c:v>
                </c:pt>
                <c:pt idx="318">
                  <c:v>1.9832922240758534E-2</c:v>
                </c:pt>
                <c:pt idx="319">
                  <c:v>8.4153567440498137E-3</c:v>
                </c:pt>
                <c:pt idx="320">
                  <c:v>3.3689059071817084E-4</c:v>
                </c:pt>
                <c:pt idx="321">
                  <c:v>1.0354188620849407E-2</c:v>
                </c:pt>
                <c:pt idx="322">
                  <c:v>2.5703274312179523E-2</c:v>
                </c:pt>
                <c:pt idx="323">
                  <c:v>4.9146880776061008E-3</c:v>
                </c:pt>
                <c:pt idx="324">
                  <c:v>1.6009114928181557E-2</c:v>
                </c:pt>
                <c:pt idx="325">
                  <c:v>-3.9086024237540241E-2</c:v>
                </c:pt>
                <c:pt idx="326">
                  <c:v>-1.2788026399481577E-3</c:v>
                </c:pt>
                <c:pt idx="327">
                  <c:v>2.4033724640490986E-2</c:v>
                </c:pt>
                <c:pt idx="328">
                  <c:v>2.4572289050713098E-2</c:v>
                </c:pt>
                <c:pt idx="329">
                  <c:v>1.0246475738804984E-2</c:v>
                </c:pt>
                <c:pt idx="330">
                  <c:v>1.1377461000271413E-2</c:v>
                </c:pt>
                <c:pt idx="331">
                  <c:v>2.0263773768936219E-2</c:v>
                </c:pt>
                <c:pt idx="332">
                  <c:v>3.245138405917562E-3</c:v>
                </c:pt>
                <c:pt idx="333">
                  <c:v>1.2400733379693423E-2</c:v>
                </c:pt>
                <c:pt idx="334">
                  <c:v>7.2305150415611719E-3</c:v>
                </c:pt>
                <c:pt idx="335">
                  <c:v>1.6294451752512334E-3</c:v>
                </c:pt>
                <c:pt idx="336">
                  <c:v>-6.0181694499027213E-3</c:v>
                </c:pt>
                <c:pt idx="337">
                  <c:v>2.6187982281379425E-2</c:v>
                </c:pt>
                <c:pt idx="338">
                  <c:v>1.5578263400003867E-2</c:v>
                </c:pt>
                <c:pt idx="339">
                  <c:v>1.5578263400003867E-2</c:v>
                </c:pt>
                <c:pt idx="340">
                  <c:v>1.0731183708004882E-2</c:v>
                </c:pt>
                <c:pt idx="341">
                  <c:v>-7.9409467074825942E-4</c:v>
                </c:pt>
                <c:pt idx="342">
                  <c:v>1.4140194111623896E-3</c:v>
                </c:pt>
                <c:pt idx="343">
                  <c:v>3.4051022670622225E-2</c:v>
                </c:pt>
                <c:pt idx="344">
                  <c:v>1.8378798333158836E-2</c:v>
                </c:pt>
                <c:pt idx="345">
                  <c:v>-1.8712234911924782E-3</c:v>
                </c:pt>
                <c:pt idx="346">
                  <c:v>-1.7274165623544807E-2</c:v>
                </c:pt>
                <c:pt idx="347">
                  <c:v>4.1606979032951484E-3</c:v>
                </c:pt>
                <c:pt idx="348">
                  <c:v>1.4339565256493016E-2</c:v>
                </c:pt>
                <c:pt idx="349">
                  <c:v>-4.6179019833252361E-3</c:v>
                </c:pt>
                <c:pt idx="350">
                  <c:v>4.1606979032951484E-3</c:v>
                </c:pt>
                <c:pt idx="351">
                  <c:v>1.5685976282048292E-2</c:v>
                </c:pt>
                <c:pt idx="352">
                  <c:v>1.2454589820715633E-2</c:v>
                </c:pt>
                <c:pt idx="353">
                  <c:v>-2.7506889417764885E-2</c:v>
                </c:pt>
                <c:pt idx="354">
                  <c:v>1.0246475738804984E-2</c:v>
                </c:pt>
                <c:pt idx="355">
                  <c:v>-5.7866890665941514E-4</c:v>
                </c:pt>
                <c:pt idx="356">
                  <c:v>1.5217322932068117E-3</c:v>
                </c:pt>
                <c:pt idx="357">
                  <c:v>2.3441303789246665E-2</c:v>
                </c:pt>
                <c:pt idx="358">
                  <c:v>4.3761236673839918E-3</c:v>
                </c:pt>
                <c:pt idx="359">
                  <c:v>9.3847726824496103E-3</c:v>
                </c:pt>
                <c:pt idx="360">
                  <c:v>9.3847726824496103E-3</c:v>
                </c:pt>
                <c:pt idx="361">
                  <c:v>3.6221334930730386E-3</c:v>
                </c:pt>
                <c:pt idx="362">
                  <c:v>5.8841040160058982E-3</c:v>
                </c:pt>
                <c:pt idx="363">
                  <c:v>7.5536536876944374E-3</c:v>
                </c:pt>
              </c:numCache>
            </c:numRef>
          </c:yVal>
          <c:smooth val="0"/>
          <c:extLst>
            <c:ext xmlns:c16="http://schemas.microsoft.com/office/drawing/2014/chart" uri="{C3380CC4-5D6E-409C-BE32-E72D297353CC}">
              <c16:uniqueId val="{00000001-44DD-4942-8416-54251B05CAA0}"/>
            </c:ext>
          </c:extLst>
        </c:ser>
        <c:dLbls>
          <c:showLegendKey val="0"/>
          <c:showVal val="0"/>
          <c:showCatName val="0"/>
          <c:showSerName val="0"/>
          <c:showPercent val="0"/>
          <c:showBubbleSize val="0"/>
        </c:dLbls>
        <c:axId val="44874464"/>
        <c:axId val="44875424"/>
      </c:scatterChart>
      <c:valAx>
        <c:axId val="44874464"/>
        <c:scaling>
          <c:orientation val="minMax"/>
        </c:scaling>
        <c:delete val="0"/>
        <c:axPos val="b"/>
        <c:majorGridlines>
          <c:spPr>
            <a:ln w="9525" cap="flat" cmpd="sng" algn="ctr">
              <a:solidFill>
                <a:schemeClr val="dk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50000"/>
                    <a:lumOff val="50000"/>
                  </a:schemeClr>
                </a:solidFill>
                <a:latin typeface="+mn-lt"/>
                <a:ea typeface="+mn-ea"/>
                <a:cs typeface="+mn-cs"/>
              </a:defRPr>
            </a:pPr>
            <a:endParaRPr lang="en-US"/>
          </a:p>
        </c:txPr>
        <c:crossAx val="44875424"/>
        <c:crosses val="autoZero"/>
        <c:crossBetween val="midCat"/>
      </c:valAx>
      <c:valAx>
        <c:axId val="44875424"/>
        <c:scaling>
          <c:orientation val="minMax"/>
        </c:scaling>
        <c:delete val="0"/>
        <c:axPos val="l"/>
        <c:majorGridlines>
          <c:spPr>
            <a:ln w="9525" cap="flat" cmpd="sng" algn="ctr">
              <a:solidFill>
                <a:schemeClr val="dk1">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dk1">
                        <a:lumMod val="50000"/>
                        <a:lumOff val="50000"/>
                      </a:schemeClr>
                    </a:solidFill>
                    <a:latin typeface="+mn-lt"/>
                    <a:ea typeface="+mn-ea"/>
                    <a:cs typeface="+mn-cs"/>
                  </a:defRPr>
                </a:pPr>
                <a:r>
                  <a:rPr lang="en-US"/>
                  <a:t>Y</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50000"/>
                      <a:lumOff val="50000"/>
                    </a:schemeClr>
                  </a:solidFill>
                  <a:latin typeface="+mn-lt"/>
                  <a:ea typeface="+mn-ea"/>
                  <a:cs typeface="+mn-cs"/>
                </a:defRPr>
              </a:pPr>
              <a:endParaRPr lang="en-US"/>
            </a:p>
          </c:txPr>
        </c:title>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50000"/>
                    <a:lumOff val="50000"/>
                  </a:schemeClr>
                </a:solidFill>
                <a:latin typeface="+mn-lt"/>
                <a:ea typeface="+mn-ea"/>
                <a:cs typeface="+mn-cs"/>
              </a:defRPr>
            </a:pPr>
            <a:endParaRPr lang="en-US"/>
          </a:p>
        </c:txPr>
        <c:crossAx val="4487446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2020</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EDB3-4AAF-AC2C-25150E773E38}"/>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EDB3-4AAF-AC2C-25150E773E38}"/>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WACC!$A$13:$A$14</c:f>
              <c:strCache>
                <c:ptCount val="2"/>
                <c:pt idx="0">
                  <c:v>Equity</c:v>
                </c:pt>
                <c:pt idx="1">
                  <c:v>Dept</c:v>
                </c:pt>
              </c:strCache>
            </c:strRef>
          </c:cat>
          <c:val>
            <c:numRef>
              <c:f>WACC!$B$13:$B$14</c:f>
              <c:numCache>
                <c:formatCode>_([$€-2]\ * #,##0.00_);_([$€-2]\ * \(#,##0.00\);_([$€-2]\ * "-"??_);_(@_)</c:formatCode>
                <c:ptCount val="2"/>
                <c:pt idx="0" formatCode="_ [$€-2]\ * #,##0.00_ ;_ [$€-2]\ * \-#,##0.00_ ;_ [$€-2]\ * &quot;-&quot;??_ ;_ @_ ">
                  <c:v>216238468.44</c:v>
                </c:pt>
                <c:pt idx="1">
                  <c:v>11361040</c:v>
                </c:pt>
              </c:numCache>
            </c:numRef>
          </c:val>
          <c:extLst>
            <c:ext xmlns:c16="http://schemas.microsoft.com/office/drawing/2014/chart" uri="{C3380CC4-5D6E-409C-BE32-E72D297353CC}">
              <c16:uniqueId val="{00000004-EDB3-4AAF-AC2C-25150E773E38}"/>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2021</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E048-4E29-A95C-8DA59650D911}"/>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E048-4E29-A95C-8DA59650D911}"/>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WACC!$A$13:$A$14</c:f>
              <c:strCache>
                <c:ptCount val="2"/>
                <c:pt idx="0">
                  <c:v>Equity</c:v>
                </c:pt>
                <c:pt idx="1">
                  <c:v>Dept</c:v>
                </c:pt>
              </c:strCache>
            </c:strRef>
          </c:cat>
          <c:val>
            <c:numRef>
              <c:f>WACC!$C$13:$C$14</c:f>
              <c:numCache>
                <c:formatCode>_([$€-2]\ * #,##0.00_);_([$€-2]\ * \(#,##0.00\);_([$€-2]\ * "-"??_);_(@_)</c:formatCode>
                <c:ptCount val="2"/>
                <c:pt idx="0" formatCode="_ [$€-2]\ * #,##0.00_ ;_ [$€-2]\ * \-#,##0.00_ ;_ [$€-2]\ * &quot;-&quot;??_ ;_ @_ ">
                  <c:v>280134253.5</c:v>
                </c:pt>
                <c:pt idx="1">
                  <c:v>9333147</c:v>
                </c:pt>
              </c:numCache>
            </c:numRef>
          </c:val>
          <c:extLst>
            <c:ext xmlns:c16="http://schemas.microsoft.com/office/drawing/2014/chart" uri="{C3380CC4-5D6E-409C-BE32-E72D297353CC}">
              <c16:uniqueId val="{00000004-E048-4E29-A95C-8DA59650D911}"/>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2022</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6067-4B9B-9B43-B827552E6AE7}"/>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6067-4B9B-9B43-B827552E6AE7}"/>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WACC!$A$13:$A$14</c:f>
              <c:strCache>
                <c:ptCount val="2"/>
                <c:pt idx="0">
                  <c:v>Equity</c:v>
                </c:pt>
                <c:pt idx="1">
                  <c:v>Dept</c:v>
                </c:pt>
              </c:strCache>
            </c:strRef>
          </c:cat>
          <c:val>
            <c:numRef>
              <c:f>WACC!$D$13:$D$14</c:f>
              <c:numCache>
                <c:formatCode>_([$€-2]\ * #,##0.00_);_([$€-2]\ * \(#,##0.00\);_([$€-2]\ * "-"??_);_(@_)</c:formatCode>
                <c:ptCount val="2"/>
                <c:pt idx="0" formatCode="_ [$€-2]\ * #,##0.00_ ;_ [$€-2]\ * \-#,##0.00_ ;_ [$€-2]\ * &quot;-&quot;??_ ;_ @_ ">
                  <c:v>204271958</c:v>
                </c:pt>
                <c:pt idx="1">
                  <c:v>15241863</c:v>
                </c:pt>
              </c:numCache>
            </c:numRef>
          </c:val>
          <c:extLst>
            <c:ext xmlns:c16="http://schemas.microsoft.com/office/drawing/2014/chart" uri="{C3380CC4-5D6E-409C-BE32-E72D297353CC}">
              <c16:uniqueId val="{00000004-6067-4B9B-9B43-B827552E6AE7}"/>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2023</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9253-4923-8DF8-071A8E494374}"/>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9253-4923-8DF8-071A8E494374}"/>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WACC!$A$13:$A$14</c:f>
              <c:strCache>
                <c:ptCount val="2"/>
                <c:pt idx="0">
                  <c:v>Equity</c:v>
                </c:pt>
                <c:pt idx="1">
                  <c:v>Dept</c:v>
                </c:pt>
              </c:strCache>
            </c:strRef>
          </c:cat>
          <c:val>
            <c:numRef>
              <c:f>WACC!$E$13:$E$14</c:f>
              <c:numCache>
                <c:formatCode>_([$€-2]\ * #,##0.00_);_([$€-2]\ * \(#,##0.00\);_([$€-2]\ * "-"??_);_(@_)</c:formatCode>
                <c:ptCount val="2"/>
                <c:pt idx="0" formatCode="_ [$€-2]\ * #,##0.00_ ;_ [$€-2]\ * \-#,##0.00_ ;_ [$€-2]\ * &quot;-&quot;??_ ;_ @_ ">
                  <c:v>323322139</c:v>
                </c:pt>
                <c:pt idx="1">
                  <c:v>12522674</c:v>
                </c:pt>
              </c:numCache>
            </c:numRef>
          </c:val>
          <c:extLst>
            <c:ext xmlns:c16="http://schemas.microsoft.com/office/drawing/2014/chart" uri="{C3380CC4-5D6E-409C-BE32-E72D297353CC}">
              <c16:uniqueId val="{00000004-9253-4923-8DF8-071A8E494374}"/>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2024</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9F4B-4D09-8E97-06DF2922AB29}"/>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9F4B-4D09-8E97-06DF2922AB29}"/>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WACC!$A$13:$A$14</c:f>
              <c:strCache>
                <c:ptCount val="2"/>
                <c:pt idx="0">
                  <c:v>Equity</c:v>
                </c:pt>
                <c:pt idx="1">
                  <c:v>Dept</c:v>
                </c:pt>
              </c:strCache>
            </c:strRef>
          </c:cat>
          <c:val>
            <c:numRef>
              <c:f>WACC!$F$13:$F$14</c:f>
              <c:numCache>
                <c:formatCode>_([$€-2]\ * #,##0.00_);_([$€-2]\ * \(#,##0.00\);_([$€-2]\ * "-"??_);_(@_)</c:formatCode>
                <c:ptCount val="2"/>
                <c:pt idx="0" formatCode="_ [$€-2]\ * #,##0.00_ ;_ [$€-2]\ * \-#,##0.00_ ;_ [$€-2]\ * &quot;-&quot;??_ ;_ @_ ">
                  <c:v>513096383.60000002</c:v>
                </c:pt>
                <c:pt idx="1">
                  <c:v>4794837</c:v>
                </c:pt>
              </c:numCache>
            </c:numRef>
          </c:val>
          <c:extLst>
            <c:ext xmlns:c16="http://schemas.microsoft.com/office/drawing/2014/chart" uri="{C3380CC4-5D6E-409C-BE32-E72D297353CC}">
              <c16:uniqueId val="{00000004-9F4B-4D09-8E97-06DF2922AB29}"/>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4">
  <cs:axisTitle>
    <cs:lnRef idx="0"/>
    <cs:fillRef idx="0"/>
    <cs:effectRef idx="0"/>
    <cs:fontRef idx="minor">
      <a:schemeClr val="dk1">
        <a:lumMod val="50000"/>
        <a:lumOff val="50000"/>
      </a:schemeClr>
    </cs:fontRef>
    <cs:defRPr sz="1197" b="1" kern="1200"/>
  </cs:axisTitle>
  <cs:categoryAxis>
    <cs:lnRef idx="0"/>
    <cs:fillRef idx="0"/>
    <cs:effectRef idx="0"/>
    <cs:fontRef idx="minor">
      <a:schemeClr val="dk1">
        <a:lumMod val="50000"/>
        <a:lumOff val="50000"/>
      </a:schemeClr>
    </cs:fontRef>
    <cs:spPr>
      <a:ln w="9525" cap="flat" cmpd="sng" algn="ctr">
        <a:solidFill>
          <a:schemeClr val="dk1">
            <a:lumMod val="15000"/>
            <a:lumOff val="85000"/>
          </a:schemeClr>
        </a:solidFill>
        <a:round/>
      </a:ln>
    </cs:spPr>
    <cs:defRPr sz="1197" kern="1200"/>
  </cs:categoryAxis>
  <cs:chartArea>
    <cs:lnRef idx="0"/>
    <cs:fillRef idx="0"/>
    <cs:effectRef idx="0"/>
    <cs:fontRef idx="minor">
      <a:schemeClr val="dk1"/>
    </cs:fontRef>
    <cs: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a:solidFill>
          <a:schemeClr val="phClr">
            <a:alpha val="20000"/>
          </a:schemeClr>
        </a:solidFill>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dk1">
        <a:lumMod val="50000"/>
        <a:lumOff val="50000"/>
      </a:schemeClr>
    </cs:fontRef>
    <cs:spPr>
      <a:ln w="9525" cap="rnd">
        <a:solidFill>
          <a:schemeClr val="dk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tx1"/>
    </cs:fontRef>
    <cs:spPr>
      <a:ln w="9525">
        <a:solidFill>
          <a:schemeClr val="dk1">
            <a:lumMod val="35000"/>
            <a:lumOff val="65000"/>
          </a:schemeClr>
        </a:solidFill>
      </a:ln>
    </cs:spPr>
  </cs:dropLine>
  <cs:errorBar>
    <cs:lnRef idx="0"/>
    <cs:fillRef idx="0"/>
    <cs:effectRef idx="0"/>
    <cs:fontRef idx="minor">
      <a:schemeClr val="tx1"/>
    </cs:fontRef>
    <cs:spPr>
      <a:ln w="9525">
        <a:solidFill>
          <a:schemeClr val="dk1">
            <a:lumMod val="50000"/>
            <a:lumOff val="50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15000"/>
            <a:lumOff val="85000"/>
          </a:schemeClr>
        </a:solidFill>
        <a:round/>
      </a:ln>
    </cs:spPr>
  </cs:gridlineMajor>
  <cs:gridlineMinor>
    <cs:lnRef idx="0"/>
    <cs:fillRef idx="0"/>
    <cs:effectRef idx="0"/>
    <cs:fontRef idx="minor">
      <a:schemeClr val="tx1"/>
    </cs:fontRef>
    <cs:spPr>
      <a:ln w="9525" cap="flat" cmpd="sng" algn="ctr">
        <a:solidFill>
          <a:schemeClr val="dk1">
            <a:lumMod val="5000"/>
            <a:lumOff val="95000"/>
          </a:schemeClr>
        </a:solidFill>
        <a:round/>
      </a:ln>
    </cs:spPr>
  </cs:gridlineMinor>
  <cs:hiLoLine>
    <cs:lnRef idx="0"/>
    <cs:fillRef idx="0"/>
    <cs:effectRef idx="0"/>
    <cs:fontRef idx="minor">
      <a:schemeClr val="tx1"/>
    </cs:fontRef>
    <cs:spPr>
      <a:ln w="9525">
        <a:solidFill>
          <a:schemeClr val="dk1">
            <a:lumMod val="35000"/>
            <a:lumOff val="65000"/>
          </a:schemeClr>
        </a:solidFill>
      </a:ln>
    </cs:spPr>
  </cs:hiLoLine>
  <cs:leaderLine>
    <cs:lnRef idx="0"/>
    <cs:fillRef idx="0"/>
    <cs:effectRef idx="0"/>
    <cs:fontRef idx="minor">
      <a:schemeClr val="tx1"/>
    </cs:fontRef>
    <cs:spPr>
      <a:ln w="9525">
        <a:solidFill>
          <a:schemeClr val="dk1">
            <a:lumMod val="35000"/>
            <a:lumOff val="65000"/>
          </a:schemeClr>
        </a:solidFill>
      </a:ln>
    </cs:spPr>
  </cs:leaderLine>
  <cs:legend>
    <cs:lnRef idx="0"/>
    <cs:fillRef idx="0"/>
    <cs:effectRef idx="0"/>
    <cs:fontRef idx="minor">
      <a:schemeClr val="dk1">
        <a:lumMod val="50000"/>
        <a:lumOff val="50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50000"/>
        <a:lumOff val="50000"/>
      </a:schemeClr>
    </cs:fontRef>
    <cs:spPr>
      <a:ln w="9525">
        <a:solidFill>
          <a:schemeClr val="dk1">
            <a:lumMod val="15000"/>
            <a:lumOff val="85000"/>
          </a:schemeClr>
        </a:solidFill>
      </a:ln>
    </cs:spPr>
    <cs:defRPr sz="1197" kern="1200"/>
  </cs:seriesAxis>
  <cs:seriesLine>
    <cs:lnRef idx="0"/>
    <cs:fillRef idx="0"/>
    <cs:effectRef idx="0"/>
    <cs:fontRef idx="minor">
      <a:schemeClr val="tx1"/>
    </cs:fontRef>
    <cs:spPr>
      <a:ln w="9525">
        <a:solidFill>
          <a:schemeClr val="dk1">
            <a:lumMod val="35000"/>
            <a:lumOff val="65000"/>
          </a:schemeClr>
        </a:solidFill>
      </a:ln>
    </cs:spPr>
  </cs:seriesLine>
  <cs:title>
    <cs:lnRef idx="0"/>
    <cs:fillRef idx="0"/>
    <cs:effectRef idx="0"/>
    <cs:fontRef idx="minor">
      <a:schemeClr val="dk1">
        <a:lumMod val="50000"/>
        <a:lumOff val="50000"/>
      </a:schemeClr>
    </cs:fontRef>
    <cs:defRPr sz="2128" b="0" kern="1200" spc="70" baseline="0"/>
  </cs:title>
  <cs:trendline>
    <cs:lnRef idx="0">
      <cs:styleClr val="0"/>
    </cs:lnRef>
    <cs:fillRef idx="0"/>
    <cs:effectRef idx="0"/>
    <cs:fontRef idx="minor">
      <a:schemeClr val="tx1"/>
    </cs:fontRef>
    <cs:spPr>
      <a:ln w="63500" cap="rnd" cmpd="sng" algn="ctr">
        <a:solidFill>
          <a:schemeClr val="phClr">
            <a:alpha val="25000"/>
          </a:schemeClr>
        </a:solidFill>
        <a:round/>
      </a:ln>
    </cs:spPr>
  </cs:trendline>
  <cs:trendlineLabel>
    <cs:lnRef idx="0"/>
    <cs:fillRef idx="0"/>
    <cs:effectRef idx="0"/>
    <cs:fontRef idx="minor">
      <a:schemeClr val="dk1">
        <a:lumMod val="50000"/>
        <a:lumOff val="50000"/>
      </a:schemeClr>
    </cs:fontRef>
    <cs:defRPr sz="1197" kern="1200"/>
  </cs:trendlineLabel>
  <cs:upBar>
    <cs:lnRef idx="0"/>
    <cs:fillRef idx="0"/>
    <cs:effectRef idx="0"/>
    <cs:fontRef idx="minor">
      <a:schemeClr val="tx1"/>
    </cs:fontRef>
    <cs:spPr>
      <a:solidFill>
        <a:schemeClr val="lt1"/>
      </a:solidFill>
      <a:ln w="9525">
        <a:solidFill>
          <a:schemeClr val="dk1">
            <a:lumMod val="50000"/>
            <a:lumOff val="50000"/>
          </a:schemeClr>
        </a:solidFill>
      </a:ln>
    </cs:spPr>
  </cs:upBar>
  <cs:valueAxis>
    <cs:lnRef idx="0"/>
    <cs:fillRef idx="0"/>
    <cs:effectRef idx="0"/>
    <cs:fontRef idx="minor">
      <a:schemeClr val="dk1">
        <a:lumMod val="50000"/>
        <a:lumOff val="50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8F59C1-BC1C-46C5-8C42-42CAB890049F}"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1546CA1D-F365-490B-ACA1-25954D9AA1B3}">
      <dgm:prSet/>
      <dgm:spPr/>
      <dgm:t>
        <a:bodyPr/>
        <a:lstStyle/>
        <a:p>
          <a:r>
            <a:rPr lang="el-GR"/>
            <a:t>Κατά την περίοδο 2021–2022 οι δείκτες κερδοφορίας υποχωρούν αισθητά σε σχέση με τα υπόλοιπα έτη, υποδηλώνοντας ασθενέστερη απόδοση ιδίων και απασχολούμενων κεφαλαίων.</a:t>
          </a:r>
          <a:endParaRPr lang="en-US"/>
        </a:p>
      </dgm:t>
    </dgm:pt>
    <dgm:pt modelId="{A3DFA6C7-AA7B-43DF-9CE7-E96A6291923C}" type="parTrans" cxnId="{5A8C298C-4CD8-4173-8AE5-40776E53E0D4}">
      <dgm:prSet/>
      <dgm:spPr/>
      <dgm:t>
        <a:bodyPr/>
        <a:lstStyle/>
        <a:p>
          <a:endParaRPr lang="en-US"/>
        </a:p>
      </dgm:t>
    </dgm:pt>
    <dgm:pt modelId="{EAD48E0D-A058-474E-97AF-A7F4E971552F}" type="sibTrans" cxnId="{5A8C298C-4CD8-4173-8AE5-40776E53E0D4}">
      <dgm:prSet/>
      <dgm:spPr/>
      <dgm:t>
        <a:bodyPr/>
        <a:lstStyle/>
        <a:p>
          <a:endParaRPr lang="en-US"/>
        </a:p>
      </dgm:t>
    </dgm:pt>
    <dgm:pt modelId="{AB1AE45C-5531-42A5-81A7-F3C86F6304ED}">
      <dgm:prSet/>
      <dgm:spPr/>
      <dgm:t>
        <a:bodyPr/>
        <a:lstStyle/>
        <a:p>
          <a:r>
            <a:rPr lang="el-GR"/>
            <a:t>Αντίθετα, τα έτη 2020, 2023 και 2024 εμφανίζουν σημαντικά υψηλότερα επίπεδα κερδοφορίας, με ROE και ROCE να κινούνται σε ιδιαίτερα ικανοποιητικά επίπεδα.</a:t>
          </a:r>
          <a:endParaRPr lang="en-US"/>
        </a:p>
      </dgm:t>
    </dgm:pt>
    <dgm:pt modelId="{B11F592A-C3EC-45D0-B867-976838DB1877}" type="parTrans" cxnId="{907A8047-201E-484B-9FF1-EB6BA3AF25E5}">
      <dgm:prSet/>
      <dgm:spPr/>
      <dgm:t>
        <a:bodyPr/>
        <a:lstStyle/>
        <a:p>
          <a:endParaRPr lang="en-US"/>
        </a:p>
      </dgm:t>
    </dgm:pt>
    <dgm:pt modelId="{8305029E-8A1E-42E7-83EC-3B489CBEAAD8}" type="sibTrans" cxnId="{907A8047-201E-484B-9FF1-EB6BA3AF25E5}">
      <dgm:prSet/>
      <dgm:spPr/>
      <dgm:t>
        <a:bodyPr/>
        <a:lstStyle/>
        <a:p>
          <a:endParaRPr lang="en-US"/>
        </a:p>
      </dgm:t>
    </dgm:pt>
    <dgm:pt modelId="{72EB0D4A-D114-47CF-AE73-E85DD9EB256B}">
      <dgm:prSet/>
      <dgm:spPr/>
      <dgm:t>
        <a:bodyPr/>
        <a:lstStyle/>
        <a:p>
          <a:r>
            <a:rPr lang="el-GR"/>
            <a:t>Η μεταβλητότητα των δεικτών πιθανόν συνδέεται με εξωγενείς πιέσεις κόστους / margins την περίοδο 2021–2022 και βελτίωση λειτουργικής απόδοσης στα επόμενα έτη.</a:t>
          </a:r>
          <a:endParaRPr lang="en-US"/>
        </a:p>
      </dgm:t>
    </dgm:pt>
    <dgm:pt modelId="{1C58B990-9BE5-4052-8CE9-9753881C0564}" type="parTrans" cxnId="{3864BF27-C8FA-46F5-9841-01222EFFBE26}">
      <dgm:prSet/>
      <dgm:spPr/>
      <dgm:t>
        <a:bodyPr/>
        <a:lstStyle/>
        <a:p>
          <a:endParaRPr lang="en-US"/>
        </a:p>
      </dgm:t>
    </dgm:pt>
    <dgm:pt modelId="{10D6EBF7-66DB-48C0-9D14-FE98474ED704}" type="sibTrans" cxnId="{3864BF27-C8FA-46F5-9841-01222EFFBE26}">
      <dgm:prSet/>
      <dgm:spPr/>
      <dgm:t>
        <a:bodyPr/>
        <a:lstStyle/>
        <a:p>
          <a:endParaRPr lang="en-US"/>
        </a:p>
      </dgm:t>
    </dgm:pt>
    <dgm:pt modelId="{5541DEE0-F92E-40A9-B07C-8FAD0D85E6F3}" type="pres">
      <dgm:prSet presAssocID="{4C8F59C1-BC1C-46C5-8C42-42CAB890049F}" presName="hierChild1" presStyleCnt="0">
        <dgm:presLayoutVars>
          <dgm:chPref val="1"/>
          <dgm:dir/>
          <dgm:animOne val="branch"/>
          <dgm:animLvl val="lvl"/>
          <dgm:resizeHandles/>
        </dgm:presLayoutVars>
      </dgm:prSet>
      <dgm:spPr/>
    </dgm:pt>
    <dgm:pt modelId="{C9626C17-D730-4BE5-B8E6-9CD96B65FFC6}" type="pres">
      <dgm:prSet presAssocID="{1546CA1D-F365-490B-ACA1-25954D9AA1B3}" presName="hierRoot1" presStyleCnt="0"/>
      <dgm:spPr/>
    </dgm:pt>
    <dgm:pt modelId="{8793F652-E6C0-4F98-A6E5-1D674D6C5800}" type="pres">
      <dgm:prSet presAssocID="{1546CA1D-F365-490B-ACA1-25954D9AA1B3}" presName="composite" presStyleCnt="0"/>
      <dgm:spPr/>
    </dgm:pt>
    <dgm:pt modelId="{EB9BEEC5-74DB-43E4-A7B4-DA31D5EE8BDB}" type="pres">
      <dgm:prSet presAssocID="{1546CA1D-F365-490B-ACA1-25954D9AA1B3}" presName="background" presStyleLbl="node0" presStyleIdx="0" presStyleCnt="3"/>
      <dgm:spPr/>
    </dgm:pt>
    <dgm:pt modelId="{9FE8D7D8-5827-45C9-8B34-9F087FD17BEE}" type="pres">
      <dgm:prSet presAssocID="{1546CA1D-F365-490B-ACA1-25954D9AA1B3}" presName="text" presStyleLbl="fgAcc0" presStyleIdx="0" presStyleCnt="3">
        <dgm:presLayoutVars>
          <dgm:chPref val="3"/>
        </dgm:presLayoutVars>
      </dgm:prSet>
      <dgm:spPr/>
    </dgm:pt>
    <dgm:pt modelId="{2658EAD0-2B8D-40CC-B3FC-8B38262E2CB6}" type="pres">
      <dgm:prSet presAssocID="{1546CA1D-F365-490B-ACA1-25954D9AA1B3}" presName="hierChild2" presStyleCnt="0"/>
      <dgm:spPr/>
    </dgm:pt>
    <dgm:pt modelId="{9CD7578C-7929-483D-8F97-B0C01F7F3138}" type="pres">
      <dgm:prSet presAssocID="{AB1AE45C-5531-42A5-81A7-F3C86F6304ED}" presName="hierRoot1" presStyleCnt="0"/>
      <dgm:spPr/>
    </dgm:pt>
    <dgm:pt modelId="{CED45A6D-2EC8-446E-AA4E-CAB6BC331FDB}" type="pres">
      <dgm:prSet presAssocID="{AB1AE45C-5531-42A5-81A7-F3C86F6304ED}" presName="composite" presStyleCnt="0"/>
      <dgm:spPr/>
    </dgm:pt>
    <dgm:pt modelId="{BEFFA3D2-0F8D-4964-8103-2921863EEB74}" type="pres">
      <dgm:prSet presAssocID="{AB1AE45C-5531-42A5-81A7-F3C86F6304ED}" presName="background" presStyleLbl="node0" presStyleIdx="1" presStyleCnt="3"/>
      <dgm:spPr/>
    </dgm:pt>
    <dgm:pt modelId="{8D53AC50-BF6C-4493-8A22-60DFF83BC5B5}" type="pres">
      <dgm:prSet presAssocID="{AB1AE45C-5531-42A5-81A7-F3C86F6304ED}" presName="text" presStyleLbl="fgAcc0" presStyleIdx="1" presStyleCnt="3">
        <dgm:presLayoutVars>
          <dgm:chPref val="3"/>
        </dgm:presLayoutVars>
      </dgm:prSet>
      <dgm:spPr/>
    </dgm:pt>
    <dgm:pt modelId="{913E8118-D335-456F-84AD-1610A96EDA18}" type="pres">
      <dgm:prSet presAssocID="{AB1AE45C-5531-42A5-81A7-F3C86F6304ED}" presName="hierChild2" presStyleCnt="0"/>
      <dgm:spPr/>
    </dgm:pt>
    <dgm:pt modelId="{9D2E82B8-033D-4D94-BEFA-39CE711683D7}" type="pres">
      <dgm:prSet presAssocID="{72EB0D4A-D114-47CF-AE73-E85DD9EB256B}" presName="hierRoot1" presStyleCnt="0"/>
      <dgm:spPr/>
    </dgm:pt>
    <dgm:pt modelId="{0ECE25C7-DD84-4CE2-99EE-01396F853025}" type="pres">
      <dgm:prSet presAssocID="{72EB0D4A-D114-47CF-AE73-E85DD9EB256B}" presName="composite" presStyleCnt="0"/>
      <dgm:spPr/>
    </dgm:pt>
    <dgm:pt modelId="{32D43521-2B96-48CC-BC3A-FB204517C971}" type="pres">
      <dgm:prSet presAssocID="{72EB0D4A-D114-47CF-AE73-E85DD9EB256B}" presName="background" presStyleLbl="node0" presStyleIdx="2" presStyleCnt="3"/>
      <dgm:spPr/>
    </dgm:pt>
    <dgm:pt modelId="{D37A06A2-F67C-4AB3-BB0D-166EFAA4CD75}" type="pres">
      <dgm:prSet presAssocID="{72EB0D4A-D114-47CF-AE73-E85DD9EB256B}" presName="text" presStyleLbl="fgAcc0" presStyleIdx="2" presStyleCnt="3">
        <dgm:presLayoutVars>
          <dgm:chPref val="3"/>
        </dgm:presLayoutVars>
      </dgm:prSet>
      <dgm:spPr/>
    </dgm:pt>
    <dgm:pt modelId="{D0EF42F8-EB8C-45EB-B288-6E4402083E0E}" type="pres">
      <dgm:prSet presAssocID="{72EB0D4A-D114-47CF-AE73-E85DD9EB256B}" presName="hierChild2" presStyleCnt="0"/>
      <dgm:spPr/>
    </dgm:pt>
  </dgm:ptLst>
  <dgm:cxnLst>
    <dgm:cxn modelId="{6456F625-0A45-4D43-A3B5-BD4EFF81A207}" type="presOf" srcId="{4C8F59C1-BC1C-46C5-8C42-42CAB890049F}" destId="{5541DEE0-F92E-40A9-B07C-8FAD0D85E6F3}" srcOrd="0" destOrd="0" presId="urn:microsoft.com/office/officeart/2005/8/layout/hierarchy1"/>
    <dgm:cxn modelId="{3864BF27-C8FA-46F5-9841-01222EFFBE26}" srcId="{4C8F59C1-BC1C-46C5-8C42-42CAB890049F}" destId="{72EB0D4A-D114-47CF-AE73-E85DD9EB256B}" srcOrd="2" destOrd="0" parTransId="{1C58B990-9BE5-4052-8CE9-9753881C0564}" sibTransId="{10D6EBF7-66DB-48C0-9D14-FE98474ED704}"/>
    <dgm:cxn modelId="{C44D2430-8B0D-45B4-A44E-F3F8A3ECDA67}" type="presOf" srcId="{72EB0D4A-D114-47CF-AE73-E85DD9EB256B}" destId="{D37A06A2-F67C-4AB3-BB0D-166EFAA4CD75}" srcOrd="0" destOrd="0" presId="urn:microsoft.com/office/officeart/2005/8/layout/hierarchy1"/>
    <dgm:cxn modelId="{907A8047-201E-484B-9FF1-EB6BA3AF25E5}" srcId="{4C8F59C1-BC1C-46C5-8C42-42CAB890049F}" destId="{AB1AE45C-5531-42A5-81A7-F3C86F6304ED}" srcOrd="1" destOrd="0" parTransId="{B11F592A-C3EC-45D0-B867-976838DB1877}" sibTransId="{8305029E-8A1E-42E7-83EC-3B489CBEAAD8}"/>
    <dgm:cxn modelId="{41993F48-2009-450A-A460-C513E3204D1A}" type="presOf" srcId="{1546CA1D-F365-490B-ACA1-25954D9AA1B3}" destId="{9FE8D7D8-5827-45C9-8B34-9F087FD17BEE}" srcOrd="0" destOrd="0" presId="urn:microsoft.com/office/officeart/2005/8/layout/hierarchy1"/>
    <dgm:cxn modelId="{5A8C298C-4CD8-4173-8AE5-40776E53E0D4}" srcId="{4C8F59C1-BC1C-46C5-8C42-42CAB890049F}" destId="{1546CA1D-F365-490B-ACA1-25954D9AA1B3}" srcOrd="0" destOrd="0" parTransId="{A3DFA6C7-AA7B-43DF-9CE7-E96A6291923C}" sibTransId="{EAD48E0D-A058-474E-97AF-A7F4E971552F}"/>
    <dgm:cxn modelId="{6206408C-76C9-4F4A-8826-15317D19ED28}" type="presOf" srcId="{AB1AE45C-5531-42A5-81A7-F3C86F6304ED}" destId="{8D53AC50-BF6C-4493-8A22-60DFF83BC5B5}" srcOrd="0" destOrd="0" presId="urn:microsoft.com/office/officeart/2005/8/layout/hierarchy1"/>
    <dgm:cxn modelId="{651EA125-21A9-4F95-B3C7-9788F6070CA2}" type="presParOf" srcId="{5541DEE0-F92E-40A9-B07C-8FAD0D85E6F3}" destId="{C9626C17-D730-4BE5-B8E6-9CD96B65FFC6}" srcOrd="0" destOrd="0" presId="urn:microsoft.com/office/officeart/2005/8/layout/hierarchy1"/>
    <dgm:cxn modelId="{23D4737D-85D4-45DD-A3E5-E0DED573C93D}" type="presParOf" srcId="{C9626C17-D730-4BE5-B8E6-9CD96B65FFC6}" destId="{8793F652-E6C0-4F98-A6E5-1D674D6C5800}" srcOrd="0" destOrd="0" presId="urn:microsoft.com/office/officeart/2005/8/layout/hierarchy1"/>
    <dgm:cxn modelId="{FED708D2-1321-4D28-8F79-39A75DEAF56E}" type="presParOf" srcId="{8793F652-E6C0-4F98-A6E5-1D674D6C5800}" destId="{EB9BEEC5-74DB-43E4-A7B4-DA31D5EE8BDB}" srcOrd="0" destOrd="0" presId="urn:microsoft.com/office/officeart/2005/8/layout/hierarchy1"/>
    <dgm:cxn modelId="{EA13512D-F012-4973-9A14-91DF62E48E60}" type="presParOf" srcId="{8793F652-E6C0-4F98-A6E5-1D674D6C5800}" destId="{9FE8D7D8-5827-45C9-8B34-9F087FD17BEE}" srcOrd="1" destOrd="0" presId="urn:microsoft.com/office/officeart/2005/8/layout/hierarchy1"/>
    <dgm:cxn modelId="{07728794-F719-46AD-82DF-401EC66E44C8}" type="presParOf" srcId="{C9626C17-D730-4BE5-B8E6-9CD96B65FFC6}" destId="{2658EAD0-2B8D-40CC-B3FC-8B38262E2CB6}" srcOrd="1" destOrd="0" presId="urn:microsoft.com/office/officeart/2005/8/layout/hierarchy1"/>
    <dgm:cxn modelId="{C1FBA691-1307-4390-B150-2ACEA0E34552}" type="presParOf" srcId="{5541DEE0-F92E-40A9-B07C-8FAD0D85E6F3}" destId="{9CD7578C-7929-483D-8F97-B0C01F7F3138}" srcOrd="1" destOrd="0" presId="urn:microsoft.com/office/officeart/2005/8/layout/hierarchy1"/>
    <dgm:cxn modelId="{507FD8B1-7760-4A36-980B-6F9BA957F5E8}" type="presParOf" srcId="{9CD7578C-7929-483D-8F97-B0C01F7F3138}" destId="{CED45A6D-2EC8-446E-AA4E-CAB6BC331FDB}" srcOrd="0" destOrd="0" presId="urn:microsoft.com/office/officeart/2005/8/layout/hierarchy1"/>
    <dgm:cxn modelId="{8B2F2F97-5C12-4F80-AA78-D7889F5930DD}" type="presParOf" srcId="{CED45A6D-2EC8-446E-AA4E-CAB6BC331FDB}" destId="{BEFFA3D2-0F8D-4964-8103-2921863EEB74}" srcOrd="0" destOrd="0" presId="urn:microsoft.com/office/officeart/2005/8/layout/hierarchy1"/>
    <dgm:cxn modelId="{C34D2184-C4C4-4A3C-9461-F94D9311B15A}" type="presParOf" srcId="{CED45A6D-2EC8-446E-AA4E-CAB6BC331FDB}" destId="{8D53AC50-BF6C-4493-8A22-60DFF83BC5B5}" srcOrd="1" destOrd="0" presId="urn:microsoft.com/office/officeart/2005/8/layout/hierarchy1"/>
    <dgm:cxn modelId="{FB7F7547-469B-484A-A5A5-BB29A64A4124}" type="presParOf" srcId="{9CD7578C-7929-483D-8F97-B0C01F7F3138}" destId="{913E8118-D335-456F-84AD-1610A96EDA18}" srcOrd="1" destOrd="0" presId="urn:microsoft.com/office/officeart/2005/8/layout/hierarchy1"/>
    <dgm:cxn modelId="{5071C8C0-03F7-4067-A838-F67A50FCA27A}" type="presParOf" srcId="{5541DEE0-F92E-40A9-B07C-8FAD0D85E6F3}" destId="{9D2E82B8-033D-4D94-BEFA-39CE711683D7}" srcOrd="2" destOrd="0" presId="urn:microsoft.com/office/officeart/2005/8/layout/hierarchy1"/>
    <dgm:cxn modelId="{246506FF-84AC-4E81-9FC7-B765BD44ADF7}" type="presParOf" srcId="{9D2E82B8-033D-4D94-BEFA-39CE711683D7}" destId="{0ECE25C7-DD84-4CE2-99EE-01396F853025}" srcOrd="0" destOrd="0" presId="urn:microsoft.com/office/officeart/2005/8/layout/hierarchy1"/>
    <dgm:cxn modelId="{B1313775-59F6-4D08-B8A8-62D7DF3795C9}" type="presParOf" srcId="{0ECE25C7-DD84-4CE2-99EE-01396F853025}" destId="{32D43521-2B96-48CC-BC3A-FB204517C971}" srcOrd="0" destOrd="0" presId="urn:microsoft.com/office/officeart/2005/8/layout/hierarchy1"/>
    <dgm:cxn modelId="{1E5AA6B9-A94C-4377-B44A-C61F4F89D17C}" type="presParOf" srcId="{0ECE25C7-DD84-4CE2-99EE-01396F853025}" destId="{D37A06A2-F67C-4AB3-BB0D-166EFAA4CD75}" srcOrd="1" destOrd="0" presId="urn:microsoft.com/office/officeart/2005/8/layout/hierarchy1"/>
    <dgm:cxn modelId="{8FF56822-38F8-4835-80D3-F1DFE0112AE2}" type="presParOf" srcId="{9D2E82B8-033D-4D94-BEFA-39CE711683D7}" destId="{D0EF42F8-EB8C-45EB-B288-6E4402083E0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134A54-0067-40B5-A6EF-B12A5047753A}"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F4FA56A7-D375-4C9C-BF91-78D3CE3FA659}">
      <dgm:prSet/>
      <dgm:spPr/>
      <dgm:t>
        <a:bodyPr/>
        <a:lstStyle/>
        <a:p>
          <a:r>
            <a:rPr lang="el-GR"/>
            <a:t>Το working capital παραμένει θετικό και σε σχετικά υψηλά επίπεδα σε όλη την 5ετία, με σαφή ενίσχυση τα τελευταία έτη → η εταιρεία διατηρεί άνετο “μαξιλάρι” ρευστότητας.</a:t>
          </a:r>
          <a:endParaRPr lang="en-US"/>
        </a:p>
      </dgm:t>
    </dgm:pt>
    <dgm:pt modelId="{93F4D204-0AC6-4CF4-A722-8164912C2596}" type="parTrans" cxnId="{496DC007-FC20-41F5-9EC6-45226B55AA1E}">
      <dgm:prSet/>
      <dgm:spPr/>
      <dgm:t>
        <a:bodyPr/>
        <a:lstStyle/>
        <a:p>
          <a:endParaRPr lang="en-US"/>
        </a:p>
      </dgm:t>
    </dgm:pt>
    <dgm:pt modelId="{DD9BFB55-CEEB-441A-93D0-A172E3F4FD7A}" type="sibTrans" cxnId="{496DC007-FC20-41F5-9EC6-45226B55AA1E}">
      <dgm:prSet/>
      <dgm:spPr/>
      <dgm:t>
        <a:bodyPr/>
        <a:lstStyle/>
        <a:p>
          <a:endParaRPr lang="en-US"/>
        </a:p>
      </dgm:t>
    </dgm:pt>
    <dgm:pt modelId="{F96E57E2-9898-4740-A32A-8A786E6BEE82}">
      <dgm:prSet/>
      <dgm:spPr/>
      <dgm:t>
        <a:bodyPr/>
        <a:lstStyle/>
        <a:p>
          <a:r>
            <a:rPr lang="el-GR"/>
            <a:t>Τα Current Ratio και Quick Ratio κινούνται σταθερά πάνω από το 1 (και συνήθως κοντά ή πάνω από το 2 για το current), γεγονός που δείχνει ισχυρή ικανότητα κάλυψης βραχυπρόθεσμων υποχρεώσεων χωρίς πίεση ρευστότητας.</a:t>
          </a:r>
          <a:endParaRPr lang="en-US"/>
        </a:p>
      </dgm:t>
    </dgm:pt>
    <dgm:pt modelId="{C3F72A31-501B-49CB-8EC3-C714C5207721}" type="parTrans" cxnId="{219F13E7-1C38-44B0-B40B-D5CB6C363EE6}">
      <dgm:prSet/>
      <dgm:spPr/>
      <dgm:t>
        <a:bodyPr/>
        <a:lstStyle/>
        <a:p>
          <a:endParaRPr lang="en-US"/>
        </a:p>
      </dgm:t>
    </dgm:pt>
    <dgm:pt modelId="{86497417-84A9-4BF4-85C3-86C4E2849874}" type="sibTrans" cxnId="{219F13E7-1C38-44B0-B40B-D5CB6C363EE6}">
      <dgm:prSet/>
      <dgm:spPr/>
      <dgm:t>
        <a:bodyPr/>
        <a:lstStyle/>
        <a:p>
          <a:endParaRPr lang="en-US"/>
        </a:p>
      </dgm:t>
    </dgm:pt>
    <dgm:pt modelId="{4702156A-9D72-4BA9-B856-59C224662435}">
      <dgm:prSet/>
      <dgm:spPr/>
      <dgm:t>
        <a:bodyPr/>
        <a:lstStyle/>
        <a:p>
          <a:r>
            <a:rPr lang="el-GR"/>
            <a:t>Το 2022 παρατηρείται μια σχετική υποχώρηση (συμπεριφορά που συμβαδίζει και με τους δείκτες κερδοφορίας) η οποία όμως φαίνεται προσωρινή, καθώς τα επίπεδα ρευστότητας βελτιώνονται εκ νέου το 2023–2024.</a:t>
          </a:r>
          <a:endParaRPr lang="en-US"/>
        </a:p>
      </dgm:t>
    </dgm:pt>
    <dgm:pt modelId="{3EF9262D-41A7-4DC4-B033-9BE3F1402CA3}" type="parTrans" cxnId="{7FC7E68C-2054-4670-88FF-46B73FB5CF16}">
      <dgm:prSet/>
      <dgm:spPr/>
      <dgm:t>
        <a:bodyPr/>
        <a:lstStyle/>
        <a:p>
          <a:endParaRPr lang="en-US"/>
        </a:p>
      </dgm:t>
    </dgm:pt>
    <dgm:pt modelId="{8FBABB15-C770-49BE-958A-8EFCF5EAC682}" type="sibTrans" cxnId="{7FC7E68C-2054-4670-88FF-46B73FB5CF16}">
      <dgm:prSet/>
      <dgm:spPr/>
      <dgm:t>
        <a:bodyPr/>
        <a:lstStyle/>
        <a:p>
          <a:endParaRPr lang="en-US"/>
        </a:p>
      </dgm:t>
    </dgm:pt>
    <dgm:pt modelId="{9C1E0C91-BCCE-46F8-9B74-0C4C59CA1530}" type="pres">
      <dgm:prSet presAssocID="{30134A54-0067-40B5-A6EF-B12A5047753A}" presName="hierChild1" presStyleCnt="0">
        <dgm:presLayoutVars>
          <dgm:chPref val="1"/>
          <dgm:dir/>
          <dgm:animOne val="branch"/>
          <dgm:animLvl val="lvl"/>
          <dgm:resizeHandles/>
        </dgm:presLayoutVars>
      </dgm:prSet>
      <dgm:spPr/>
    </dgm:pt>
    <dgm:pt modelId="{5C2FBC7A-2854-4188-9AE6-2C0089B88BA6}" type="pres">
      <dgm:prSet presAssocID="{F4FA56A7-D375-4C9C-BF91-78D3CE3FA659}" presName="hierRoot1" presStyleCnt="0"/>
      <dgm:spPr/>
    </dgm:pt>
    <dgm:pt modelId="{DBAC54DD-A256-43A8-B360-23B82F4A4193}" type="pres">
      <dgm:prSet presAssocID="{F4FA56A7-D375-4C9C-BF91-78D3CE3FA659}" presName="composite" presStyleCnt="0"/>
      <dgm:spPr/>
    </dgm:pt>
    <dgm:pt modelId="{B2557AB7-67EC-4763-8DC2-334A66AFE6BB}" type="pres">
      <dgm:prSet presAssocID="{F4FA56A7-D375-4C9C-BF91-78D3CE3FA659}" presName="background" presStyleLbl="node0" presStyleIdx="0" presStyleCnt="3"/>
      <dgm:spPr/>
    </dgm:pt>
    <dgm:pt modelId="{412123C3-3579-4470-A335-B75E850E5CD2}" type="pres">
      <dgm:prSet presAssocID="{F4FA56A7-D375-4C9C-BF91-78D3CE3FA659}" presName="text" presStyleLbl="fgAcc0" presStyleIdx="0" presStyleCnt="3">
        <dgm:presLayoutVars>
          <dgm:chPref val="3"/>
        </dgm:presLayoutVars>
      </dgm:prSet>
      <dgm:spPr/>
    </dgm:pt>
    <dgm:pt modelId="{6E55E879-9EBF-4BCA-8A43-CAA2D073C8F2}" type="pres">
      <dgm:prSet presAssocID="{F4FA56A7-D375-4C9C-BF91-78D3CE3FA659}" presName="hierChild2" presStyleCnt="0"/>
      <dgm:spPr/>
    </dgm:pt>
    <dgm:pt modelId="{FF68ED56-1F03-4796-9D00-65031EB53E31}" type="pres">
      <dgm:prSet presAssocID="{F96E57E2-9898-4740-A32A-8A786E6BEE82}" presName="hierRoot1" presStyleCnt="0"/>
      <dgm:spPr/>
    </dgm:pt>
    <dgm:pt modelId="{2FA5F3D4-D9DB-466E-A432-EF7A39B3A18A}" type="pres">
      <dgm:prSet presAssocID="{F96E57E2-9898-4740-A32A-8A786E6BEE82}" presName="composite" presStyleCnt="0"/>
      <dgm:spPr/>
    </dgm:pt>
    <dgm:pt modelId="{E69ED99C-2C28-44D6-B3E2-4574088AFF59}" type="pres">
      <dgm:prSet presAssocID="{F96E57E2-9898-4740-A32A-8A786E6BEE82}" presName="background" presStyleLbl="node0" presStyleIdx="1" presStyleCnt="3"/>
      <dgm:spPr/>
    </dgm:pt>
    <dgm:pt modelId="{EA96A3E7-2C3F-43C3-893E-8435436FA26A}" type="pres">
      <dgm:prSet presAssocID="{F96E57E2-9898-4740-A32A-8A786E6BEE82}" presName="text" presStyleLbl="fgAcc0" presStyleIdx="1" presStyleCnt="3">
        <dgm:presLayoutVars>
          <dgm:chPref val="3"/>
        </dgm:presLayoutVars>
      </dgm:prSet>
      <dgm:spPr/>
    </dgm:pt>
    <dgm:pt modelId="{3D47B9E2-E7AF-4995-82D4-D8C008D88E5C}" type="pres">
      <dgm:prSet presAssocID="{F96E57E2-9898-4740-A32A-8A786E6BEE82}" presName="hierChild2" presStyleCnt="0"/>
      <dgm:spPr/>
    </dgm:pt>
    <dgm:pt modelId="{1061E0CE-212C-4093-9A9E-7C4FFCE3E394}" type="pres">
      <dgm:prSet presAssocID="{4702156A-9D72-4BA9-B856-59C224662435}" presName="hierRoot1" presStyleCnt="0"/>
      <dgm:spPr/>
    </dgm:pt>
    <dgm:pt modelId="{D26B726A-48ED-497D-B948-4EF29F40C853}" type="pres">
      <dgm:prSet presAssocID="{4702156A-9D72-4BA9-B856-59C224662435}" presName="composite" presStyleCnt="0"/>
      <dgm:spPr/>
    </dgm:pt>
    <dgm:pt modelId="{1783706D-32ED-452C-B685-8C2CFBAA812D}" type="pres">
      <dgm:prSet presAssocID="{4702156A-9D72-4BA9-B856-59C224662435}" presName="background" presStyleLbl="node0" presStyleIdx="2" presStyleCnt="3"/>
      <dgm:spPr/>
    </dgm:pt>
    <dgm:pt modelId="{476FF855-1BDE-4ABD-8937-1AECA33C3209}" type="pres">
      <dgm:prSet presAssocID="{4702156A-9D72-4BA9-B856-59C224662435}" presName="text" presStyleLbl="fgAcc0" presStyleIdx="2" presStyleCnt="3">
        <dgm:presLayoutVars>
          <dgm:chPref val="3"/>
        </dgm:presLayoutVars>
      </dgm:prSet>
      <dgm:spPr/>
    </dgm:pt>
    <dgm:pt modelId="{2115767D-8FB4-49DD-8F6D-E34BFF021A8C}" type="pres">
      <dgm:prSet presAssocID="{4702156A-9D72-4BA9-B856-59C224662435}" presName="hierChild2" presStyleCnt="0"/>
      <dgm:spPr/>
    </dgm:pt>
  </dgm:ptLst>
  <dgm:cxnLst>
    <dgm:cxn modelId="{496DC007-FC20-41F5-9EC6-45226B55AA1E}" srcId="{30134A54-0067-40B5-A6EF-B12A5047753A}" destId="{F4FA56A7-D375-4C9C-BF91-78D3CE3FA659}" srcOrd="0" destOrd="0" parTransId="{93F4D204-0AC6-4CF4-A722-8164912C2596}" sibTransId="{DD9BFB55-CEEB-441A-93D0-A172E3F4FD7A}"/>
    <dgm:cxn modelId="{5D2BDD33-E7DE-4335-B768-B8B0B036DC22}" type="presOf" srcId="{4702156A-9D72-4BA9-B856-59C224662435}" destId="{476FF855-1BDE-4ABD-8937-1AECA33C3209}" srcOrd="0" destOrd="0" presId="urn:microsoft.com/office/officeart/2005/8/layout/hierarchy1"/>
    <dgm:cxn modelId="{1A5B5A5E-089E-4902-91E5-F526EE4E191C}" type="presOf" srcId="{F4FA56A7-D375-4C9C-BF91-78D3CE3FA659}" destId="{412123C3-3579-4470-A335-B75E850E5CD2}" srcOrd="0" destOrd="0" presId="urn:microsoft.com/office/officeart/2005/8/layout/hierarchy1"/>
    <dgm:cxn modelId="{7FC7E68C-2054-4670-88FF-46B73FB5CF16}" srcId="{30134A54-0067-40B5-A6EF-B12A5047753A}" destId="{4702156A-9D72-4BA9-B856-59C224662435}" srcOrd="2" destOrd="0" parTransId="{3EF9262D-41A7-4DC4-B033-9BE3F1402CA3}" sibTransId="{8FBABB15-C770-49BE-958A-8EFCF5EAC682}"/>
    <dgm:cxn modelId="{3BDE8ABF-FE30-4C02-A8E5-661A6914B889}" type="presOf" srcId="{30134A54-0067-40B5-A6EF-B12A5047753A}" destId="{9C1E0C91-BCCE-46F8-9B74-0C4C59CA1530}" srcOrd="0" destOrd="0" presId="urn:microsoft.com/office/officeart/2005/8/layout/hierarchy1"/>
    <dgm:cxn modelId="{96D23DCF-FA5E-4D5A-B3FD-4017BA0AE2C1}" type="presOf" srcId="{F96E57E2-9898-4740-A32A-8A786E6BEE82}" destId="{EA96A3E7-2C3F-43C3-893E-8435436FA26A}" srcOrd="0" destOrd="0" presId="urn:microsoft.com/office/officeart/2005/8/layout/hierarchy1"/>
    <dgm:cxn modelId="{219F13E7-1C38-44B0-B40B-D5CB6C363EE6}" srcId="{30134A54-0067-40B5-A6EF-B12A5047753A}" destId="{F96E57E2-9898-4740-A32A-8A786E6BEE82}" srcOrd="1" destOrd="0" parTransId="{C3F72A31-501B-49CB-8EC3-C714C5207721}" sibTransId="{86497417-84A9-4BF4-85C3-86C4E2849874}"/>
    <dgm:cxn modelId="{B115F1D2-3780-4847-AE15-25536D58F243}" type="presParOf" srcId="{9C1E0C91-BCCE-46F8-9B74-0C4C59CA1530}" destId="{5C2FBC7A-2854-4188-9AE6-2C0089B88BA6}" srcOrd="0" destOrd="0" presId="urn:microsoft.com/office/officeart/2005/8/layout/hierarchy1"/>
    <dgm:cxn modelId="{8275AFC7-9F05-4BDB-9FEC-F8BAC787EB7D}" type="presParOf" srcId="{5C2FBC7A-2854-4188-9AE6-2C0089B88BA6}" destId="{DBAC54DD-A256-43A8-B360-23B82F4A4193}" srcOrd="0" destOrd="0" presId="urn:microsoft.com/office/officeart/2005/8/layout/hierarchy1"/>
    <dgm:cxn modelId="{4F57777B-21D5-4476-A2E8-1BABE21A32C5}" type="presParOf" srcId="{DBAC54DD-A256-43A8-B360-23B82F4A4193}" destId="{B2557AB7-67EC-4763-8DC2-334A66AFE6BB}" srcOrd="0" destOrd="0" presId="urn:microsoft.com/office/officeart/2005/8/layout/hierarchy1"/>
    <dgm:cxn modelId="{E2DF013A-EAF3-4600-9C4D-49829A6AA527}" type="presParOf" srcId="{DBAC54DD-A256-43A8-B360-23B82F4A4193}" destId="{412123C3-3579-4470-A335-B75E850E5CD2}" srcOrd="1" destOrd="0" presId="urn:microsoft.com/office/officeart/2005/8/layout/hierarchy1"/>
    <dgm:cxn modelId="{FF5834DC-C6F4-4D5D-A8AD-DCA2B0B8E6B6}" type="presParOf" srcId="{5C2FBC7A-2854-4188-9AE6-2C0089B88BA6}" destId="{6E55E879-9EBF-4BCA-8A43-CAA2D073C8F2}" srcOrd="1" destOrd="0" presId="urn:microsoft.com/office/officeart/2005/8/layout/hierarchy1"/>
    <dgm:cxn modelId="{2334ADD9-E3D5-4967-8774-586DD3D8F0AE}" type="presParOf" srcId="{9C1E0C91-BCCE-46F8-9B74-0C4C59CA1530}" destId="{FF68ED56-1F03-4796-9D00-65031EB53E31}" srcOrd="1" destOrd="0" presId="urn:microsoft.com/office/officeart/2005/8/layout/hierarchy1"/>
    <dgm:cxn modelId="{5D9084FE-2E87-423C-876A-5FEAF3F18687}" type="presParOf" srcId="{FF68ED56-1F03-4796-9D00-65031EB53E31}" destId="{2FA5F3D4-D9DB-466E-A432-EF7A39B3A18A}" srcOrd="0" destOrd="0" presId="urn:microsoft.com/office/officeart/2005/8/layout/hierarchy1"/>
    <dgm:cxn modelId="{290A3E95-4395-46E2-B161-703D3C34B025}" type="presParOf" srcId="{2FA5F3D4-D9DB-466E-A432-EF7A39B3A18A}" destId="{E69ED99C-2C28-44D6-B3E2-4574088AFF59}" srcOrd="0" destOrd="0" presId="urn:microsoft.com/office/officeart/2005/8/layout/hierarchy1"/>
    <dgm:cxn modelId="{7B179472-A4D2-480D-9577-171A38850E51}" type="presParOf" srcId="{2FA5F3D4-D9DB-466E-A432-EF7A39B3A18A}" destId="{EA96A3E7-2C3F-43C3-893E-8435436FA26A}" srcOrd="1" destOrd="0" presId="urn:microsoft.com/office/officeart/2005/8/layout/hierarchy1"/>
    <dgm:cxn modelId="{0C0ECDAA-563C-4192-B3EE-968A06812D03}" type="presParOf" srcId="{FF68ED56-1F03-4796-9D00-65031EB53E31}" destId="{3D47B9E2-E7AF-4995-82D4-D8C008D88E5C}" srcOrd="1" destOrd="0" presId="urn:microsoft.com/office/officeart/2005/8/layout/hierarchy1"/>
    <dgm:cxn modelId="{2BBF29A7-E32C-4DCC-9E0E-F2637902CB69}" type="presParOf" srcId="{9C1E0C91-BCCE-46F8-9B74-0C4C59CA1530}" destId="{1061E0CE-212C-4093-9A9E-7C4FFCE3E394}" srcOrd="2" destOrd="0" presId="urn:microsoft.com/office/officeart/2005/8/layout/hierarchy1"/>
    <dgm:cxn modelId="{E0EFBD17-F641-497D-9698-467F9CA14D17}" type="presParOf" srcId="{1061E0CE-212C-4093-9A9E-7C4FFCE3E394}" destId="{D26B726A-48ED-497D-B948-4EF29F40C853}" srcOrd="0" destOrd="0" presId="urn:microsoft.com/office/officeart/2005/8/layout/hierarchy1"/>
    <dgm:cxn modelId="{F1B68A49-247E-4D8E-98D0-BEC7E1762B1B}" type="presParOf" srcId="{D26B726A-48ED-497D-B948-4EF29F40C853}" destId="{1783706D-32ED-452C-B685-8C2CFBAA812D}" srcOrd="0" destOrd="0" presId="urn:microsoft.com/office/officeart/2005/8/layout/hierarchy1"/>
    <dgm:cxn modelId="{73FEC080-1376-49DB-A384-BA1920DC34B3}" type="presParOf" srcId="{D26B726A-48ED-497D-B948-4EF29F40C853}" destId="{476FF855-1BDE-4ABD-8937-1AECA33C3209}" srcOrd="1" destOrd="0" presId="urn:microsoft.com/office/officeart/2005/8/layout/hierarchy1"/>
    <dgm:cxn modelId="{4B163586-3279-4593-9ED7-29CC0C4F7A3B}" type="presParOf" srcId="{1061E0CE-212C-4093-9A9E-7C4FFCE3E394}" destId="{2115767D-8FB4-49DD-8F6D-E34BFF021A8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0EAE4E-BD80-4E52-B5D3-EB1A8F943EBB}"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8777E92-A369-4D02-B838-E1BBBDD9D3D0}">
      <dgm:prSet/>
      <dgm:spPr/>
      <dgm:t>
        <a:bodyPr/>
        <a:lstStyle/>
        <a:p>
          <a:r>
            <a:rPr lang="el-GR" dirty="0"/>
            <a:t>Ο δείκτης Net Debt/EBITDA είναι πολύ χαμηλός σε όλη την περίοδο και μάλιστα αρνητικός σε αρκετά έτη, κάτι που σημαίνει ότι η ΚΡΙ</a:t>
          </a:r>
          <a:r>
            <a:rPr lang="en-US" dirty="0"/>
            <a:t>-</a:t>
          </a:r>
          <a:r>
            <a:rPr lang="el-GR" dirty="0"/>
            <a:t>ΚΡΙ έχει καθαρή ταμειακή θέση (</a:t>
          </a:r>
          <a:r>
            <a:rPr lang="en-US" dirty="0"/>
            <a:t>N</a:t>
          </a:r>
          <a:r>
            <a:rPr lang="el-GR" dirty="0" err="1"/>
            <a:t>et</a:t>
          </a:r>
          <a:r>
            <a:rPr lang="el-GR" dirty="0"/>
            <a:t> Cash) και όχι καθαρό χρέος. Μόνο το 2022 βλέπουμε μια προσωρινή αύξηση (≈0,87x), η οποία όμως παραμένει σε συντηρητικά επίπεδα.</a:t>
          </a:r>
          <a:endParaRPr lang="en-US" dirty="0"/>
        </a:p>
      </dgm:t>
    </dgm:pt>
    <dgm:pt modelId="{BD31B6F3-0565-48D1-9FC2-642A0068E1C6}" type="parTrans" cxnId="{F76817F6-8947-447A-9904-286E6CF33B27}">
      <dgm:prSet/>
      <dgm:spPr/>
      <dgm:t>
        <a:bodyPr/>
        <a:lstStyle/>
        <a:p>
          <a:endParaRPr lang="en-US"/>
        </a:p>
      </dgm:t>
    </dgm:pt>
    <dgm:pt modelId="{1E97D8A3-78B3-4E85-BDAF-B7DC10285A2F}" type="sibTrans" cxnId="{F76817F6-8947-447A-9904-286E6CF33B27}">
      <dgm:prSet/>
      <dgm:spPr/>
      <dgm:t>
        <a:bodyPr/>
        <a:lstStyle/>
        <a:p>
          <a:endParaRPr lang="en-US"/>
        </a:p>
      </dgm:t>
    </dgm:pt>
    <dgm:pt modelId="{0CB77FDE-11EA-43AC-95AA-9F8E412373A8}">
      <dgm:prSet/>
      <dgm:spPr/>
      <dgm:t>
        <a:bodyPr/>
        <a:lstStyle/>
        <a:p>
          <a:r>
            <a:rPr lang="el-GR" dirty="0"/>
            <a:t>Ο δείκτης Debt/</a:t>
          </a:r>
          <a:r>
            <a:rPr lang="el-GR" dirty="0" err="1"/>
            <a:t>Equity</a:t>
          </a:r>
          <a:r>
            <a:rPr lang="el-GR" dirty="0"/>
            <a:t> κυμαίνεται σε χαμηλές τιμές (0,04–0,19), επιβεβαιώνοντας ότι η εταιρεία χρηματοδοτείται κυρίως από ίδια κεφάλαια και λιγότερο από δανειακό κεφάλαιο.</a:t>
          </a:r>
          <a:endParaRPr lang="en-US" dirty="0"/>
        </a:p>
      </dgm:t>
    </dgm:pt>
    <dgm:pt modelId="{170B588B-107D-4FC9-846E-4E8386D57F61}" type="parTrans" cxnId="{234305A4-9537-48E9-B3F0-47DCC8DC28E3}">
      <dgm:prSet/>
      <dgm:spPr/>
      <dgm:t>
        <a:bodyPr/>
        <a:lstStyle/>
        <a:p>
          <a:endParaRPr lang="en-US"/>
        </a:p>
      </dgm:t>
    </dgm:pt>
    <dgm:pt modelId="{7C1FBC13-2406-48E2-A47D-13265ADE640F}" type="sibTrans" cxnId="{234305A4-9537-48E9-B3F0-47DCC8DC28E3}">
      <dgm:prSet/>
      <dgm:spPr/>
      <dgm:t>
        <a:bodyPr/>
        <a:lstStyle/>
        <a:p>
          <a:endParaRPr lang="en-US"/>
        </a:p>
      </dgm:t>
    </dgm:pt>
    <dgm:pt modelId="{91688303-0213-41AE-8DCD-09FE78FA5F2D}">
      <dgm:prSet/>
      <dgm:spPr/>
      <dgm:t>
        <a:bodyPr/>
        <a:lstStyle/>
        <a:p>
          <a:r>
            <a:rPr lang="el-GR"/>
            <a:t>Ο λόγος Τόκοι / Κέρδη είναι εξαιρετικά χαμηλός (&lt;2–3%, με ένα “peak” ~9% το 2022), γεγονός που δείχνει ότι το βάρος των χρηματοοικονομικών εξόδων στα κέρδη είναι πολύ περιορισμένο και η ικανότητα εξυπηρέτησης του χρέους είναι ιδιαίτερα άνετη.</a:t>
          </a:r>
          <a:endParaRPr lang="en-US"/>
        </a:p>
      </dgm:t>
    </dgm:pt>
    <dgm:pt modelId="{32CBF3E1-7AB4-4404-A769-47E46E9D1D71}" type="parTrans" cxnId="{A27CA37A-F5A1-49C1-891F-2DDA66A643F0}">
      <dgm:prSet/>
      <dgm:spPr/>
      <dgm:t>
        <a:bodyPr/>
        <a:lstStyle/>
        <a:p>
          <a:endParaRPr lang="en-US"/>
        </a:p>
      </dgm:t>
    </dgm:pt>
    <dgm:pt modelId="{39830372-7212-4DA4-931B-CE9CF3A821DF}" type="sibTrans" cxnId="{A27CA37A-F5A1-49C1-891F-2DDA66A643F0}">
      <dgm:prSet/>
      <dgm:spPr/>
      <dgm:t>
        <a:bodyPr/>
        <a:lstStyle/>
        <a:p>
          <a:endParaRPr lang="en-US"/>
        </a:p>
      </dgm:t>
    </dgm:pt>
    <dgm:pt modelId="{BD61C4D3-6F1C-4821-BEB5-E8962ED88ADC}" type="pres">
      <dgm:prSet presAssocID="{E70EAE4E-BD80-4E52-B5D3-EB1A8F943EBB}" presName="hierChild1" presStyleCnt="0">
        <dgm:presLayoutVars>
          <dgm:chPref val="1"/>
          <dgm:dir/>
          <dgm:animOne val="branch"/>
          <dgm:animLvl val="lvl"/>
          <dgm:resizeHandles/>
        </dgm:presLayoutVars>
      </dgm:prSet>
      <dgm:spPr/>
    </dgm:pt>
    <dgm:pt modelId="{96869804-1B91-440F-9ACA-024B611BC216}" type="pres">
      <dgm:prSet presAssocID="{B8777E92-A369-4D02-B838-E1BBBDD9D3D0}" presName="hierRoot1" presStyleCnt="0"/>
      <dgm:spPr/>
    </dgm:pt>
    <dgm:pt modelId="{1AE3508D-E797-4ABF-B280-60F46AF69267}" type="pres">
      <dgm:prSet presAssocID="{B8777E92-A369-4D02-B838-E1BBBDD9D3D0}" presName="composite" presStyleCnt="0"/>
      <dgm:spPr/>
    </dgm:pt>
    <dgm:pt modelId="{7AF78090-F67D-4619-97AD-DF0AA119F382}" type="pres">
      <dgm:prSet presAssocID="{B8777E92-A369-4D02-B838-E1BBBDD9D3D0}" presName="background" presStyleLbl="node0" presStyleIdx="0" presStyleCnt="3"/>
      <dgm:spPr/>
    </dgm:pt>
    <dgm:pt modelId="{6BB5DA26-8E8E-490D-B2C4-25D7FF2A8BCE}" type="pres">
      <dgm:prSet presAssocID="{B8777E92-A369-4D02-B838-E1BBBDD9D3D0}" presName="text" presStyleLbl="fgAcc0" presStyleIdx="0" presStyleCnt="3">
        <dgm:presLayoutVars>
          <dgm:chPref val="3"/>
        </dgm:presLayoutVars>
      </dgm:prSet>
      <dgm:spPr/>
    </dgm:pt>
    <dgm:pt modelId="{1EA76656-E1FC-4BFB-8F7E-29AFFA95CAB6}" type="pres">
      <dgm:prSet presAssocID="{B8777E92-A369-4D02-B838-E1BBBDD9D3D0}" presName="hierChild2" presStyleCnt="0"/>
      <dgm:spPr/>
    </dgm:pt>
    <dgm:pt modelId="{959079AF-ACA1-430A-8498-6EFD02C09B32}" type="pres">
      <dgm:prSet presAssocID="{0CB77FDE-11EA-43AC-95AA-9F8E412373A8}" presName="hierRoot1" presStyleCnt="0"/>
      <dgm:spPr/>
    </dgm:pt>
    <dgm:pt modelId="{2DD66C33-E71F-454F-9629-2B34AB1E56BB}" type="pres">
      <dgm:prSet presAssocID="{0CB77FDE-11EA-43AC-95AA-9F8E412373A8}" presName="composite" presStyleCnt="0"/>
      <dgm:spPr/>
    </dgm:pt>
    <dgm:pt modelId="{D9D026EF-8118-4255-AC67-B8709D7B42F3}" type="pres">
      <dgm:prSet presAssocID="{0CB77FDE-11EA-43AC-95AA-9F8E412373A8}" presName="background" presStyleLbl="node0" presStyleIdx="1" presStyleCnt="3"/>
      <dgm:spPr/>
    </dgm:pt>
    <dgm:pt modelId="{0EB7F06D-2C86-4F64-94B0-47F67DE58A8E}" type="pres">
      <dgm:prSet presAssocID="{0CB77FDE-11EA-43AC-95AA-9F8E412373A8}" presName="text" presStyleLbl="fgAcc0" presStyleIdx="1" presStyleCnt="3">
        <dgm:presLayoutVars>
          <dgm:chPref val="3"/>
        </dgm:presLayoutVars>
      </dgm:prSet>
      <dgm:spPr/>
    </dgm:pt>
    <dgm:pt modelId="{AF86ECAA-16CC-4FAC-8D9B-7752C3A62725}" type="pres">
      <dgm:prSet presAssocID="{0CB77FDE-11EA-43AC-95AA-9F8E412373A8}" presName="hierChild2" presStyleCnt="0"/>
      <dgm:spPr/>
    </dgm:pt>
    <dgm:pt modelId="{F1ABFE9B-D4E8-4FF8-B6C4-CF8C41A85753}" type="pres">
      <dgm:prSet presAssocID="{91688303-0213-41AE-8DCD-09FE78FA5F2D}" presName="hierRoot1" presStyleCnt="0"/>
      <dgm:spPr/>
    </dgm:pt>
    <dgm:pt modelId="{0218AB42-225B-4EC4-8378-FCFEA26DEF1E}" type="pres">
      <dgm:prSet presAssocID="{91688303-0213-41AE-8DCD-09FE78FA5F2D}" presName="composite" presStyleCnt="0"/>
      <dgm:spPr/>
    </dgm:pt>
    <dgm:pt modelId="{19E5ED92-B4F5-4314-8290-0C3718E19687}" type="pres">
      <dgm:prSet presAssocID="{91688303-0213-41AE-8DCD-09FE78FA5F2D}" presName="background" presStyleLbl="node0" presStyleIdx="2" presStyleCnt="3"/>
      <dgm:spPr/>
    </dgm:pt>
    <dgm:pt modelId="{8BAC0F8A-30F1-4D08-A004-A4B1B9FA26A0}" type="pres">
      <dgm:prSet presAssocID="{91688303-0213-41AE-8DCD-09FE78FA5F2D}" presName="text" presStyleLbl="fgAcc0" presStyleIdx="2" presStyleCnt="3">
        <dgm:presLayoutVars>
          <dgm:chPref val="3"/>
        </dgm:presLayoutVars>
      </dgm:prSet>
      <dgm:spPr/>
    </dgm:pt>
    <dgm:pt modelId="{5577763D-ADF2-475A-938D-1E4B19C484A7}" type="pres">
      <dgm:prSet presAssocID="{91688303-0213-41AE-8DCD-09FE78FA5F2D}" presName="hierChild2" presStyleCnt="0"/>
      <dgm:spPr/>
    </dgm:pt>
  </dgm:ptLst>
  <dgm:cxnLst>
    <dgm:cxn modelId="{A27CA37A-F5A1-49C1-891F-2DDA66A643F0}" srcId="{E70EAE4E-BD80-4E52-B5D3-EB1A8F943EBB}" destId="{91688303-0213-41AE-8DCD-09FE78FA5F2D}" srcOrd="2" destOrd="0" parTransId="{32CBF3E1-7AB4-4404-A769-47E46E9D1D71}" sibTransId="{39830372-7212-4DA4-931B-CE9CF3A821DF}"/>
    <dgm:cxn modelId="{1F46728C-72EF-47C5-B24F-816E2E08D770}" type="presOf" srcId="{B8777E92-A369-4D02-B838-E1BBBDD9D3D0}" destId="{6BB5DA26-8E8E-490D-B2C4-25D7FF2A8BCE}" srcOrd="0" destOrd="0" presId="urn:microsoft.com/office/officeart/2005/8/layout/hierarchy1"/>
    <dgm:cxn modelId="{234305A4-9537-48E9-B3F0-47DCC8DC28E3}" srcId="{E70EAE4E-BD80-4E52-B5D3-EB1A8F943EBB}" destId="{0CB77FDE-11EA-43AC-95AA-9F8E412373A8}" srcOrd="1" destOrd="0" parTransId="{170B588B-107D-4FC9-846E-4E8386D57F61}" sibTransId="{7C1FBC13-2406-48E2-A47D-13265ADE640F}"/>
    <dgm:cxn modelId="{C21570DD-E471-48AC-B9F5-73030AE13C7F}" type="presOf" srcId="{0CB77FDE-11EA-43AC-95AA-9F8E412373A8}" destId="{0EB7F06D-2C86-4F64-94B0-47F67DE58A8E}" srcOrd="0" destOrd="0" presId="urn:microsoft.com/office/officeart/2005/8/layout/hierarchy1"/>
    <dgm:cxn modelId="{C72C13E4-202C-4475-9703-815F307CCC03}" type="presOf" srcId="{91688303-0213-41AE-8DCD-09FE78FA5F2D}" destId="{8BAC0F8A-30F1-4D08-A004-A4B1B9FA26A0}" srcOrd="0" destOrd="0" presId="urn:microsoft.com/office/officeart/2005/8/layout/hierarchy1"/>
    <dgm:cxn modelId="{D8EDE0EE-5F61-4133-BC69-5A0249A68E38}" type="presOf" srcId="{E70EAE4E-BD80-4E52-B5D3-EB1A8F943EBB}" destId="{BD61C4D3-6F1C-4821-BEB5-E8962ED88ADC}" srcOrd="0" destOrd="0" presId="urn:microsoft.com/office/officeart/2005/8/layout/hierarchy1"/>
    <dgm:cxn modelId="{F76817F6-8947-447A-9904-286E6CF33B27}" srcId="{E70EAE4E-BD80-4E52-B5D3-EB1A8F943EBB}" destId="{B8777E92-A369-4D02-B838-E1BBBDD9D3D0}" srcOrd="0" destOrd="0" parTransId="{BD31B6F3-0565-48D1-9FC2-642A0068E1C6}" sibTransId="{1E97D8A3-78B3-4E85-BDAF-B7DC10285A2F}"/>
    <dgm:cxn modelId="{CD2F50E1-D8F7-456B-A9BF-45B4678D4A26}" type="presParOf" srcId="{BD61C4D3-6F1C-4821-BEB5-E8962ED88ADC}" destId="{96869804-1B91-440F-9ACA-024B611BC216}" srcOrd="0" destOrd="0" presId="urn:microsoft.com/office/officeart/2005/8/layout/hierarchy1"/>
    <dgm:cxn modelId="{A9BA3D4F-B6D6-4E6C-9DFF-2C2F77A00B8A}" type="presParOf" srcId="{96869804-1B91-440F-9ACA-024B611BC216}" destId="{1AE3508D-E797-4ABF-B280-60F46AF69267}" srcOrd="0" destOrd="0" presId="urn:microsoft.com/office/officeart/2005/8/layout/hierarchy1"/>
    <dgm:cxn modelId="{AEF5799F-9841-4998-8463-4CF371875A8E}" type="presParOf" srcId="{1AE3508D-E797-4ABF-B280-60F46AF69267}" destId="{7AF78090-F67D-4619-97AD-DF0AA119F382}" srcOrd="0" destOrd="0" presId="urn:microsoft.com/office/officeart/2005/8/layout/hierarchy1"/>
    <dgm:cxn modelId="{567C1FB9-26FB-4915-9BE4-A74B3FD71D53}" type="presParOf" srcId="{1AE3508D-E797-4ABF-B280-60F46AF69267}" destId="{6BB5DA26-8E8E-490D-B2C4-25D7FF2A8BCE}" srcOrd="1" destOrd="0" presId="urn:microsoft.com/office/officeart/2005/8/layout/hierarchy1"/>
    <dgm:cxn modelId="{BA11A520-FBF4-4882-BD3A-AF17ED8CF79B}" type="presParOf" srcId="{96869804-1B91-440F-9ACA-024B611BC216}" destId="{1EA76656-E1FC-4BFB-8F7E-29AFFA95CAB6}" srcOrd="1" destOrd="0" presId="urn:microsoft.com/office/officeart/2005/8/layout/hierarchy1"/>
    <dgm:cxn modelId="{1C9A242E-460C-4025-ABC1-D5F588BC5340}" type="presParOf" srcId="{BD61C4D3-6F1C-4821-BEB5-E8962ED88ADC}" destId="{959079AF-ACA1-430A-8498-6EFD02C09B32}" srcOrd="1" destOrd="0" presId="urn:microsoft.com/office/officeart/2005/8/layout/hierarchy1"/>
    <dgm:cxn modelId="{0EEAC63B-998A-42E3-BFC5-526C9E001C2D}" type="presParOf" srcId="{959079AF-ACA1-430A-8498-6EFD02C09B32}" destId="{2DD66C33-E71F-454F-9629-2B34AB1E56BB}" srcOrd="0" destOrd="0" presId="urn:microsoft.com/office/officeart/2005/8/layout/hierarchy1"/>
    <dgm:cxn modelId="{071592D0-E4DB-4EE0-9866-38DF94084D53}" type="presParOf" srcId="{2DD66C33-E71F-454F-9629-2B34AB1E56BB}" destId="{D9D026EF-8118-4255-AC67-B8709D7B42F3}" srcOrd="0" destOrd="0" presId="urn:microsoft.com/office/officeart/2005/8/layout/hierarchy1"/>
    <dgm:cxn modelId="{9251DAE2-8B18-4416-9E3C-B0CCDEE8CA9C}" type="presParOf" srcId="{2DD66C33-E71F-454F-9629-2B34AB1E56BB}" destId="{0EB7F06D-2C86-4F64-94B0-47F67DE58A8E}" srcOrd="1" destOrd="0" presId="urn:microsoft.com/office/officeart/2005/8/layout/hierarchy1"/>
    <dgm:cxn modelId="{2F74C713-DBFF-49DD-887F-FBDC09F7E14C}" type="presParOf" srcId="{959079AF-ACA1-430A-8498-6EFD02C09B32}" destId="{AF86ECAA-16CC-4FAC-8D9B-7752C3A62725}" srcOrd="1" destOrd="0" presId="urn:microsoft.com/office/officeart/2005/8/layout/hierarchy1"/>
    <dgm:cxn modelId="{7AD1E44F-8405-4D46-8DD3-DCC9BB64B21A}" type="presParOf" srcId="{BD61C4D3-6F1C-4821-BEB5-E8962ED88ADC}" destId="{F1ABFE9B-D4E8-4FF8-B6C4-CF8C41A85753}" srcOrd="2" destOrd="0" presId="urn:microsoft.com/office/officeart/2005/8/layout/hierarchy1"/>
    <dgm:cxn modelId="{548CED9B-FAEB-46AD-9D6D-3B7A901B2784}" type="presParOf" srcId="{F1ABFE9B-D4E8-4FF8-B6C4-CF8C41A85753}" destId="{0218AB42-225B-4EC4-8378-FCFEA26DEF1E}" srcOrd="0" destOrd="0" presId="urn:microsoft.com/office/officeart/2005/8/layout/hierarchy1"/>
    <dgm:cxn modelId="{FD6F6D8A-E8A8-424E-9FE7-D3239C48ED6B}" type="presParOf" srcId="{0218AB42-225B-4EC4-8378-FCFEA26DEF1E}" destId="{19E5ED92-B4F5-4314-8290-0C3718E19687}" srcOrd="0" destOrd="0" presId="urn:microsoft.com/office/officeart/2005/8/layout/hierarchy1"/>
    <dgm:cxn modelId="{A8820B14-2AB2-41C1-A962-0AA92D36F1C8}" type="presParOf" srcId="{0218AB42-225B-4EC4-8378-FCFEA26DEF1E}" destId="{8BAC0F8A-30F1-4D08-A004-A4B1B9FA26A0}" srcOrd="1" destOrd="0" presId="urn:microsoft.com/office/officeart/2005/8/layout/hierarchy1"/>
    <dgm:cxn modelId="{D1F314F5-F124-4800-8072-B7E936FB1126}" type="presParOf" srcId="{F1ABFE9B-D4E8-4FF8-B6C4-CF8C41A85753}" destId="{5577763D-ADF2-475A-938D-1E4B19C484A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362ED9E-7EC9-4AF0-9BB5-58E25CCC3F9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3236B3E-8533-46AD-95C1-E3FFA35A25B2}">
      <dgm:prSet/>
      <dgm:spPr/>
      <dgm:t>
        <a:bodyPr/>
        <a:lstStyle/>
        <a:p>
          <a:r>
            <a:rPr lang="el-GR" dirty="0"/>
            <a:t>Το EPS παρουσιάζει σημαντική μεταβλητότητα στη 5ετία: υποχωρεί αισθητά το 2022 (€0,10/μετ.), ενώ το 2023–2024 καταγράφεται έντονη ανάκαμψη (€0,98–€1,05/μετ.), σε ευθυγράμμιση με τη βελτίωση της κερδοφορίας.</a:t>
          </a:r>
          <a:endParaRPr lang="en-US" dirty="0"/>
        </a:p>
      </dgm:t>
    </dgm:pt>
    <dgm:pt modelId="{89C2E134-A1C5-4ADF-85C9-BE0ACAA396A0}" type="parTrans" cxnId="{6FC70CB2-837E-40B5-B2BC-FC91B1521BF7}">
      <dgm:prSet/>
      <dgm:spPr/>
      <dgm:t>
        <a:bodyPr/>
        <a:lstStyle/>
        <a:p>
          <a:endParaRPr lang="en-US"/>
        </a:p>
      </dgm:t>
    </dgm:pt>
    <dgm:pt modelId="{03BD4FDA-C284-439A-982C-538B2D423E94}" type="sibTrans" cxnId="{6FC70CB2-837E-40B5-B2BC-FC91B1521BF7}">
      <dgm:prSet/>
      <dgm:spPr/>
      <dgm:t>
        <a:bodyPr/>
        <a:lstStyle/>
        <a:p>
          <a:endParaRPr lang="en-US"/>
        </a:p>
      </dgm:t>
    </dgm:pt>
    <dgm:pt modelId="{2F24B3C8-2D7C-4D34-A228-645516402133}">
      <dgm:prSet/>
      <dgm:spPr/>
      <dgm:t>
        <a:bodyPr/>
        <a:lstStyle/>
        <a:p>
          <a:r>
            <a:rPr lang="el-GR" dirty="0"/>
            <a:t>Ο δείκτης P/E αυξάνεται σε εξαιρετικά υψηλό επίπεδο το 2022 (≈64x), γεγονός που οφείλεται κυρίως στα πολύ χαμηλά κέρδη ανά μετοχή εκείνης της χρονιάς. Στα επόμενα έτη επανέρχεται σε περισσότερο εύλογα επίπεδα (≈10x–15x).Ο EV/EBITDA εμφανίζει αντίστοιχη εικόνα, με αιχμή το 2022 (≈22,9x) και σημαντική βελτίωση αποτίμησης το 2023 (≈6,9x) και το 2024 (≈11,7x), αντανακλώντας την ανάκαμψη της λειτουργικής κερδοφορίας.</a:t>
          </a:r>
          <a:endParaRPr lang="en-US" dirty="0"/>
        </a:p>
      </dgm:t>
    </dgm:pt>
    <dgm:pt modelId="{E5A8234D-69C1-4A50-8CDA-81DBA796FDBA}" type="parTrans" cxnId="{27D239D4-AF3B-460D-B02B-9C8878050ACF}">
      <dgm:prSet/>
      <dgm:spPr/>
      <dgm:t>
        <a:bodyPr/>
        <a:lstStyle/>
        <a:p>
          <a:endParaRPr lang="en-US"/>
        </a:p>
      </dgm:t>
    </dgm:pt>
    <dgm:pt modelId="{2EEF3EF8-6C95-46B7-83C3-3CC13C0408DE}" type="sibTrans" cxnId="{27D239D4-AF3B-460D-B02B-9C8878050ACF}">
      <dgm:prSet/>
      <dgm:spPr/>
      <dgm:t>
        <a:bodyPr/>
        <a:lstStyle/>
        <a:p>
          <a:endParaRPr lang="en-US"/>
        </a:p>
      </dgm:t>
    </dgm:pt>
    <dgm:pt modelId="{45A0FB3B-4966-4BA0-AA10-709D07178F9E}">
      <dgm:prSet/>
      <dgm:spPr/>
      <dgm:t>
        <a:bodyPr/>
        <a:lstStyle/>
        <a:p>
          <a:r>
            <a:rPr lang="el-GR" dirty="0"/>
            <a:t>Η μερισματική πολιτική παραμένει συγκρατημένη και </a:t>
          </a:r>
          <a:r>
            <a:rPr lang="el-GR" dirty="0" err="1"/>
            <a:t>σταθερή.Το</a:t>
          </a:r>
          <a:r>
            <a:rPr lang="el-GR" dirty="0"/>
            <a:t> Dividend Yield διατηρείται σε επίπεδα 2%–3% σε όλη την περίοδο, υποδηλώνοντας προσανατολισμό σε ισορροπία μεταξύ απόδοσης στους μετόχους και επανεπένδυσης κερδών</a:t>
          </a:r>
          <a:endParaRPr lang="en-US" dirty="0"/>
        </a:p>
      </dgm:t>
    </dgm:pt>
    <dgm:pt modelId="{61D112B5-93EF-46DC-9C01-ED0727D711DA}" type="parTrans" cxnId="{4ADC3FDD-F078-4C3D-8ABA-2D72487D5DB7}">
      <dgm:prSet/>
      <dgm:spPr/>
      <dgm:t>
        <a:bodyPr/>
        <a:lstStyle/>
        <a:p>
          <a:endParaRPr lang="en-US"/>
        </a:p>
      </dgm:t>
    </dgm:pt>
    <dgm:pt modelId="{5F6399FD-A631-4B48-8163-979508EDB63E}" type="sibTrans" cxnId="{4ADC3FDD-F078-4C3D-8ABA-2D72487D5DB7}">
      <dgm:prSet/>
      <dgm:spPr/>
      <dgm:t>
        <a:bodyPr/>
        <a:lstStyle/>
        <a:p>
          <a:endParaRPr lang="en-US"/>
        </a:p>
      </dgm:t>
    </dgm:pt>
    <dgm:pt modelId="{BEB31F6D-410A-40B5-9B0D-787BFCCCA5DA}" type="pres">
      <dgm:prSet presAssocID="{C362ED9E-7EC9-4AF0-9BB5-58E25CCC3F9A}" presName="linear" presStyleCnt="0">
        <dgm:presLayoutVars>
          <dgm:animLvl val="lvl"/>
          <dgm:resizeHandles val="exact"/>
        </dgm:presLayoutVars>
      </dgm:prSet>
      <dgm:spPr/>
    </dgm:pt>
    <dgm:pt modelId="{A1280F6D-0F0B-4840-BB0B-6E069BC7A0C0}" type="pres">
      <dgm:prSet presAssocID="{C3236B3E-8533-46AD-95C1-E3FFA35A25B2}" presName="parentText" presStyleLbl="node1" presStyleIdx="0" presStyleCnt="3" custLinFactNeighborY="-14331">
        <dgm:presLayoutVars>
          <dgm:chMax val="0"/>
          <dgm:bulletEnabled val="1"/>
        </dgm:presLayoutVars>
      </dgm:prSet>
      <dgm:spPr/>
    </dgm:pt>
    <dgm:pt modelId="{7A5179EB-85A0-4B3F-B9D9-47C5AD7485D2}" type="pres">
      <dgm:prSet presAssocID="{03BD4FDA-C284-439A-982C-538B2D423E94}" presName="spacer" presStyleCnt="0"/>
      <dgm:spPr/>
    </dgm:pt>
    <dgm:pt modelId="{C9251321-1693-4B4E-8C4D-EB0250E628E3}" type="pres">
      <dgm:prSet presAssocID="{2F24B3C8-2D7C-4D34-A228-645516402133}" presName="parentText" presStyleLbl="node1" presStyleIdx="1" presStyleCnt="3">
        <dgm:presLayoutVars>
          <dgm:chMax val="0"/>
          <dgm:bulletEnabled val="1"/>
        </dgm:presLayoutVars>
      </dgm:prSet>
      <dgm:spPr/>
    </dgm:pt>
    <dgm:pt modelId="{DC6F889F-22A4-4991-AFBE-9472FF18163F}" type="pres">
      <dgm:prSet presAssocID="{2EEF3EF8-6C95-46B7-83C3-3CC13C0408DE}" presName="spacer" presStyleCnt="0"/>
      <dgm:spPr/>
    </dgm:pt>
    <dgm:pt modelId="{B30DE72E-B530-4503-B503-BEA8BA8E6B54}" type="pres">
      <dgm:prSet presAssocID="{45A0FB3B-4966-4BA0-AA10-709D07178F9E}" presName="parentText" presStyleLbl="node1" presStyleIdx="2" presStyleCnt="3">
        <dgm:presLayoutVars>
          <dgm:chMax val="0"/>
          <dgm:bulletEnabled val="1"/>
        </dgm:presLayoutVars>
      </dgm:prSet>
      <dgm:spPr/>
    </dgm:pt>
  </dgm:ptLst>
  <dgm:cxnLst>
    <dgm:cxn modelId="{E021FD44-866D-41A2-9BCD-1F3AD5FB5F60}" type="presOf" srcId="{C3236B3E-8533-46AD-95C1-E3FFA35A25B2}" destId="{A1280F6D-0F0B-4840-BB0B-6E069BC7A0C0}" srcOrd="0" destOrd="0" presId="urn:microsoft.com/office/officeart/2005/8/layout/vList2"/>
    <dgm:cxn modelId="{6FC70CB2-837E-40B5-B2BC-FC91B1521BF7}" srcId="{C362ED9E-7EC9-4AF0-9BB5-58E25CCC3F9A}" destId="{C3236B3E-8533-46AD-95C1-E3FFA35A25B2}" srcOrd="0" destOrd="0" parTransId="{89C2E134-A1C5-4ADF-85C9-BE0ACAA396A0}" sibTransId="{03BD4FDA-C284-439A-982C-538B2D423E94}"/>
    <dgm:cxn modelId="{D58ADCB5-6532-4923-9B38-AB923CB6A3F6}" type="presOf" srcId="{2F24B3C8-2D7C-4D34-A228-645516402133}" destId="{C9251321-1693-4B4E-8C4D-EB0250E628E3}" srcOrd="0" destOrd="0" presId="urn:microsoft.com/office/officeart/2005/8/layout/vList2"/>
    <dgm:cxn modelId="{27D239D4-AF3B-460D-B02B-9C8878050ACF}" srcId="{C362ED9E-7EC9-4AF0-9BB5-58E25CCC3F9A}" destId="{2F24B3C8-2D7C-4D34-A228-645516402133}" srcOrd="1" destOrd="0" parTransId="{E5A8234D-69C1-4A50-8CDA-81DBA796FDBA}" sibTransId="{2EEF3EF8-6C95-46B7-83C3-3CC13C0408DE}"/>
    <dgm:cxn modelId="{4ADC3FDD-F078-4C3D-8ABA-2D72487D5DB7}" srcId="{C362ED9E-7EC9-4AF0-9BB5-58E25CCC3F9A}" destId="{45A0FB3B-4966-4BA0-AA10-709D07178F9E}" srcOrd="2" destOrd="0" parTransId="{61D112B5-93EF-46DC-9C01-ED0727D711DA}" sibTransId="{5F6399FD-A631-4B48-8163-979508EDB63E}"/>
    <dgm:cxn modelId="{683FEDE6-C8AA-4AE9-A946-ED03B51EE8E9}" type="presOf" srcId="{45A0FB3B-4966-4BA0-AA10-709D07178F9E}" destId="{B30DE72E-B530-4503-B503-BEA8BA8E6B54}" srcOrd="0" destOrd="0" presId="urn:microsoft.com/office/officeart/2005/8/layout/vList2"/>
    <dgm:cxn modelId="{56870CFD-857C-4F83-B7D1-5FE990226A84}" type="presOf" srcId="{C362ED9E-7EC9-4AF0-9BB5-58E25CCC3F9A}" destId="{BEB31F6D-410A-40B5-9B0D-787BFCCCA5DA}" srcOrd="0" destOrd="0" presId="urn:microsoft.com/office/officeart/2005/8/layout/vList2"/>
    <dgm:cxn modelId="{98F3E49A-D4D4-4CD4-A3D9-08155D3749D1}" type="presParOf" srcId="{BEB31F6D-410A-40B5-9B0D-787BFCCCA5DA}" destId="{A1280F6D-0F0B-4840-BB0B-6E069BC7A0C0}" srcOrd="0" destOrd="0" presId="urn:microsoft.com/office/officeart/2005/8/layout/vList2"/>
    <dgm:cxn modelId="{A640FFF7-0E83-4B40-A3C6-E7EADE923B9F}" type="presParOf" srcId="{BEB31F6D-410A-40B5-9B0D-787BFCCCA5DA}" destId="{7A5179EB-85A0-4B3F-B9D9-47C5AD7485D2}" srcOrd="1" destOrd="0" presId="urn:microsoft.com/office/officeart/2005/8/layout/vList2"/>
    <dgm:cxn modelId="{AA29E427-AC5F-4B1E-AF7B-CA4A33867BE4}" type="presParOf" srcId="{BEB31F6D-410A-40B5-9B0D-787BFCCCA5DA}" destId="{C9251321-1693-4B4E-8C4D-EB0250E628E3}" srcOrd="2" destOrd="0" presId="urn:microsoft.com/office/officeart/2005/8/layout/vList2"/>
    <dgm:cxn modelId="{3A3603DB-811C-44FA-A318-C348FB2AAB89}" type="presParOf" srcId="{BEB31F6D-410A-40B5-9B0D-787BFCCCA5DA}" destId="{DC6F889F-22A4-4991-AFBE-9472FF18163F}" srcOrd="3" destOrd="0" presId="urn:microsoft.com/office/officeart/2005/8/layout/vList2"/>
    <dgm:cxn modelId="{67945934-FC83-4434-80AF-D26E356D8320}" type="presParOf" srcId="{BEB31F6D-410A-40B5-9B0D-787BFCCCA5DA}" destId="{B30DE72E-B530-4503-B503-BEA8BA8E6B5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BEEC5-74DB-43E4-A7B4-DA31D5EE8BDB}">
      <dsp:nvSpPr>
        <dsp:cNvPr id="0" name=""/>
        <dsp:cNvSpPr/>
      </dsp:nvSpPr>
      <dsp:spPr>
        <a:xfrm>
          <a:off x="0" y="211070"/>
          <a:ext cx="2546984" cy="1617335"/>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E8D7D8-5827-45C9-8B34-9F087FD17BEE}">
      <dsp:nvSpPr>
        <dsp:cNvPr id="0" name=""/>
        <dsp:cNvSpPr/>
      </dsp:nvSpPr>
      <dsp:spPr>
        <a:xfrm>
          <a:off x="282998" y="479918"/>
          <a:ext cx="2546984" cy="1617335"/>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l-GR" sz="1300" kern="1200"/>
            <a:t>Κατά την περίοδο 2021–2022 οι δείκτες κερδοφορίας υποχωρούν αισθητά σε σχέση με τα υπόλοιπα έτη, υποδηλώνοντας ασθενέστερη απόδοση ιδίων και απασχολούμενων κεφαλαίων.</a:t>
          </a:r>
          <a:endParaRPr lang="en-US" sz="1300" kern="1200"/>
        </a:p>
      </dsp:txBody>
      <dsp:txXfrm>
        <a:off x="330368" y="527288"/>
        <a:ext cx="2452244" cy="1522595"/>
      </dsp:txXfrm>
    </dsp:sp>
    <dsp:sp modelId="{BEFFA3D2-0F8D-4964-8103-2921863EEB74}">
      <dsp:nvSpPr>
        <dsp:cNvPr id="0" name=""/>
        <dsp:cNvSpPr/>
      </dsp:nvSpPr>
      <dsp:spPr>
        <a:xfrm>
          <a:off x="3112981" y="211070"/>
          <a:ext cx="2546984" cy="1617335"/>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53AC50-BF6C-4493-8A22-60DFF83BC5B5}">
      <dsp:nvSpPr>
        <dsp:cNvPr id="0" name=""/>
        <dsp:cNvSpPr/>
      </dsp:nvSpPr>
      <dsp:spPr>
        <a:xfrm>
          <a:off x="3395979" y="479918"/>
          <a:ext cx="2546984" cy="1617335"/>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l-GR" sz="1300" kern="1200"/>
            <a:t>Αντίθετα, τα έτη 2020, 2023 και 2024 εμφανίζουν σημαντικά υψηλότερα επίπεδα κερδοφορίας, με ROE και ROCE να κινούνται σε ιδιαίτερα ικανοποιητικά επίπεδα.</a:t>
          </a:r>
          <a:endParaRPr lang="en-US" sz="1300" kern="1200"/>
        </a:p>
      </dsp:txBody>
      <dsp:txXfrm>
        <a:off x="3443349" y="527288"/>
        <a:ext cx="2452244" cy="1522595"/>
      </dsp:txXfrm>
    </dsp:sp>
    <dsp:sp modelId="{32D43521-2B96-48CC-BC3A-FB204517C971}">
      <dsp:nvSpPr>
        <dsp:cNvPr id="0" name=""/>
        <dsp:cNvSpPr/>
      </dsp:nvSpPr>
      <dsp:spPr>
        <a:xfrm>
          <a:off x="6225962" y="211070"/>
          <a:ext cx="2546984" cy="1617335"/>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7A06A2-F67C-4AB3-BB0D-166EFAA4CD75}">
      <dsp:nvSpPr>
        <dsp:cNvPr id="0" name=""/>
        <dsp:cNvSpPr/>
      </dsp:nvSpPr>
      <dsp:spPr>
        <a:xfrm>
          <a:off x="6508961" y="479918"/>
          <a:ext cx="2546984" cy="1617335"/>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l-GR" sz="1300" kern="1200"/>
            <a:t>Η μεταβλητότητα των δεικτών πιθανόν συνδέεται με εξωγενείς πιέσεις κόστους / margins την περίοδο 2021–2022 και βελτίωση λειτουργικής απόδοσης στα επόμενα έτη.</a:t>
          </a:r>
          <a:endParaRPr lang="en-US" sz="1300" kern="1200"/>
        </a:p>
      </dsp:txBody>
      <dsp:txXfrm>
        <a:off x="6556331" y="527288"/>
        <a:ext cx="2452244" cy="15225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557AB7-67EC-4763-8DC2-334A66AFE6BB}">
      <dsp:nvSpPr>
        <dsp:cNvPr id="0" name=""/>
        <dsp:cNvSpPr/>
      </dsp:nvSpPr>
      <dsp:spPr>
        <a:xfrm>
          <a:off x="0" y="24850"/>
          <a:ext cx="3049904" cy="193668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2123C3-3579-4470-A335-B75E850E5CD2}">
      <dsp:nvSpPr>
        <dsp:cNvPr id="0" name=""/>
        <dsp:cNvSpPr/>
      </dsp:nvSpPr>
      <dsp:spPr>
        <a:xfrm>
          <a:off x="338878" y="346784"/>
          <a:ext cx="3049904" cy="193668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l-GR" sz="1400" kern="1200"/>
            <a:t>Το working capital παραμένει θετικό και σε σχετικά υψηλά επίπεδα σε όλη την 5ετία, με σαφή ενίσχυση τα τελευταία έτη → η εταιρεία διατηρεί άνετο “μαξιλάρι” ρευστότητας.</a:t>
          </a:r>
          <a:endParaRPr lang="en-US" sz="1400" kern="1200"/>
        </a:p>
      </dsp:txBody>
      <dsp:txXfrm>
        <a:off x="395602" y="403508"/>
        <a:ext cx="2936456" cy="1823241"/>
      </dsp:txXfrm>
    </dsp:sp>
    <dsp:sp modelId="{E69ED99C-2C28-44D6-B3E2-4574088AFF59}">
      <dsp:nvSpPr>
        <dsp:cNvPr id="0" name=""/>
        <dsp:cNvSpPr/>
      </dsp:nvSpPr>
      <dsp:spPr>
        <a:xfrm>
          <a:off x="3727661" y="24850"/>
          <a:ext cx="3049904" cy="193668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96A3E7-2C3F-43C3-893E-8435436FA26A}">
      <dsp:nvSpPr>
        <dsp:cNvPr id="0" name=""/>
        <dsp:cNvSpPr/>
      </dsp:nvSpPr>
      <dsp:spPr>
        <a:xfrm>
          <a:off x="4066539" y="346784"/>
          <a:ext cx="3049904" cy="193668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l-GR" sz="1400" kern="1200"/>
            <a:t>Τα Current Ratio και Quick Ratio κινούνται σταθερά πάνω από το 1 (και συνήθως κοντά ή πάνω από το 2 για το current), γεγονός που δείχνει ισχυρή ικανότητα κάλυψης βραχυπρόθεσμων υποχρεώσεων χωρίς πίεση ρευστότητας.</a:t>
          </a:r>
          <a:endParaRPr lang="en-US" sz="1400" kern="1200"/>
        </a:p>
      </dsp:txBody>
      <dsp:txXfrm>
        <a:off x="4123263" y="403508"/>
        <a:ext cx="2936456" cy="1823241"/>
      </dsp:txXfrm>
    </dsp:sp>
    <dsp:sp modelId="{1783706D-32ED-452C-B685-8C2CFBAA812D}">
      <dsp:nvSpPr>
        <dsp:cNvPr id="0" name=""/>
        <dsp:cNvSpPr/>
      </dsp:nvSpPr>
      <dsp:spPr>
        <a:xfrm>
          <a:off x="7455322" y="24850"/>
          <a:ext cx="3049904" cy="193668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6FF855-1BDE-4ABD-8937-1AECA33C3209}">
      <dsp:nvSpPr>
        <dsp:cNvPr id="0" name=""/>
        <dsp:cNvSpPr/>
      </dsp:nvSpPr>
      <dsp:spPr>
        <a:xfrm>
          <a:off x="7794201" y="346784"/>
          <a:ext cx="3049904" cy="193668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l-GR" sz="1400" kern="1200"/>
            <a:t>Το 2022 παρατηρείται μια σχετική υποχώρηση (συμπεριφορά που συμβαδίζει και με τους δείκτες κερδοφορίας) η οποία όμως φαίνεται προσωρινή, καθώς τα επίπεδα ρευστότητας βελτιώνονται εκ νέου το 2023–2024.</a:t>
          </a:r>
          <a:endParaRPr lang="en-US" sz="1400" kern="1200"/>
        </a:p>
      </dsp:txBody>
      <dsp:txXfrm>
        <a:off x="7850925" y="403508"/>
        <a:ext cx="2936456" cy="18232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F78090-F67D-4619-97AD-DF0AA119F382}">
      <dsp:nvSpPr>
        <dsp:cNvPr id="0" name=""/>
        <dsp:cNvSpPr/>
      </dsp:nvSpPr>
      <dsp:spPr>
        <a:xfrm>
          <a:off x="0" y="271272"/>
          <a:ext cx="2758439" cy="175160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B5DA26-8E8E-490D-B2C4-25D7FF2A8BCE}">
      <dsp:nvSpPr>
        <dsp:cNvPr id="0" name=""/>
        <dsp:cNvSpPr/>
      </dsp:nvSpPr>
      <dsp:spPr>
        <a:xfrm>
          <a:off x="306493" y="562441"/>
          <a:ext cx="2758439" cy="175160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l-GR" sz="1200" kern="1200" dirty="0"/>
            <a:t>Ο δείκτης Net Debt/EBITDA είναι πολύ χαμηλός σε όλη την περίοδο και μάλιστα αρνητικός σε αρκετά έτη, κάτι που σημαίνει ότι η ΚΡΙ</a:t>
          </a:r>
          <a:r>
            <a:rPr lang="en-US" sz="1200" kern="1200" dirty="0"/>
            <a:t>-</a:t>
          </a:r>
          <a:r>
            <a:rPr lang="el-GR" sz="1200" kern="1200" dirty="0"/>
            <a:t>ΚΡΙ έχει καθαρή ταμειακή θέση (</a:t>
          </a:r>
          <a:r>
            <a:rPr lang="en-US" sz="1200" kern="1200" dirty="0"/>
            <a:t>N</a:t>
          </a:r>
          <a:r>
            <a:rPr lang="el-GR" sz="1200" kern="1200" dirty="0" err="1"/>
            <a:t>et</a:t>
          </a:r>
          <a:r>
            <a:rPr lang="el-GR" sz="1200" kern="1200" dirty="0"/>
            <a:t> Cash) και όχι καθαρό χρέος. Μόνο το 2022 βλέπουμε μια προσωρινή αύξηση (≈0,87x), η οποία όμως παραμένει σε συντηρητικά επίπεδα.</a:t>
          </a:r>
          <a:endParaRPr lang="en-US" sz="1200" kern="1200" dirty="0"/>
        </a:p>
      </dsp:txBody>
      <dsp:txXfrm>
        <a:off x="357796" y="613744"/>
        <a:ext cx="2655833" cy="1649003"/>
      </dsp:txXfrm>
    </dsp:sp>
    <dsp:sp modelId="{D9D026EF-8118-4255-AC67-B8709D7B42F3}">
      <dsp:nvSpPr>
        <dsp:cNvPr id="0" name=""/>
        <dsp:cNvSpPr/>
      </dsp:nvSpPr>
      <dsp:spPr>
        <a:xfrm>
          <a:off x="3371426" y="271272"/>
          <a:ext cx="2758439" cy="175160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B7F06D-2C86-4F64-94B0-47F67DE58A8E}">
      <dsp:nvSpPr>
        <dsp:cNvPr id="0" name=""/>
        <dsp:cNvSpPr/>
      </dsp:nvSpPr>
      <dsp:spPr>
        <a:xfrm>
          <a:off x="3677919" y="562441"/>
          <a:ext cx="2758439" cy="175160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l-GR" sz="1200" kern="1200" dirty="0"/>
            <a:t>Ο δείκτης Debt/</a:t>
          </a:r>
          <a:r>
            <a:rPr lang="el-GR" sz="1200" kern="1200" dirty="0" err="1"/>
            <a:t>Equity</a:t>
          </a:r>
          <a:r>
            <a:rPr lang="el-GR" sz="1200" kern="1200" dirty="0"/>
            <a:t> κυμαίνεται σε χαμηλές τιμές (0,04–0,19), επιβεβαιώνοντας ότι η εταιρεία χρηματοδοτείται κυρίως από ίδια κεφάλαια και λιγότερο από δανειακό κεφάλαιο.</a:t>
          </a:r>
          <a:endParaRPr lang="en-US" sz="1200" kern="1200" dirty="0"/>
        </a:p>
      </dsp:txBody>
      <dsp:txXfrm>
        <a:off x="3729222" y="613744"/>
        <a:ext cx="2655833" cy="1649003"/>
      </dsp:txXfrm>
    </dsp:sp>
    <dsp:sp modelId="{19E5ED92-B4F5-4314-8290-0C3718E19687}">
      <dsp:nvSpPr>
        <dsp:cNvPr id="0" name=""/>
        <dsp:cNvSpPr/>
      </dsp:nvSpPr>
      <dsp:spPr>
        <a:xfrm>
          <a:off x="6742852" y="271272"/>
          <a:ext cx="2758439" cy="175160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AC0F8A-30F1-4D08-A004-A4B1B9FA26A0}">
      <dsp:nvSpPr>
        <dsp:cNvPr id="0" name=""/>
        <dsp:cNvSpPr/>
      </dsp:nvSpPr>
      <dsp:spPr>
        <a:xfrm>
          <a:off x="7049346" y="562441"/>
          <a:ext cx="2758439" cy="1751609"/>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l-GR" sz="1200" kern="1200"/>
            <a:t>Ο λόγος Τόκοι / Κέρδη είναι εξαιρετικά χαμηλός (&lt;2–3%, με ένα “peak” ~9% το 2022), γεγονός που δείχνει ότι το βάρος των χρηματοοικονομικών εξόδων στα κέρδη είναι πολύ περιορισμένο και η ικανότητα εξυπηρέτησης του χρέους είναι ιδιαίτερα άνετη.</a:t>
          </a:r>
          <a:endParaRPr lang="en-US" sz="1200" kern="1200"/>
        </a:p>
      </dsp:txBody>
      <dsp:txXfrm>
        <a:off x="7100649" y="613744"/>
        <a:ext cx="2655833" cy="16490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280F6D-0F0B-4840-BB0B-6E069BC7A0C0}">
      <dsp:nvSpPr>
        <dsp:cNvPr id="0" name=""/>
        <dsp:cNvSpPr/>
      </dsp:nvSpPr>
      <dsp:spPr>
        <a:xfrm>
          <a:off x="0" y="0"/>
          <a:ext cx="9970346" cy="101351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l-GR" sz="1500" kern="1200" dirty="0"/>
            <a:t>Το EPS παρουσιάζει σημαντική μεταβλητότητα στη 5ετία: υποχωρεί αισθητά το 2022 (€0,10/μετ.), ενώ το 2023–2024 καταγράφεται έντονη ανάκαμψη (€0,98–€1,05/μετ.), σε ευθυγράμμιση με τη βελτίωση της κερδοφορίας.</a:t>
          </a:r>
          <a:endParaRPr lang="en-US" sz="1500" kern="1200" dirty="0"/>
        </a:p>
      </dsp:txBody>
      <dsp:txXfrm>
        <a:off x="49476" y="49476"/>
        <a:ext cx="9871394" cy="914560"/>
      </dsp:txXfrm>
    </dsp:sp>
    <dsp:sp modelId="{C9251321-1693-4B4E-8C4D-EB0250E628E3}">
      <dsp:nvSpPr>
        <dsp:cNvPr id="0" name=""/>
        <dsp:cNvSpPr/>
      </dsp:nvSpPr>
      <dsp:spPr>
        <a:xfrm>
          <a:off x="0" y="1062904"/>
          <a:ext cx="9970346" cy="101351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l-GR" sz="1500" kern="1200" dirty="0"/>
            <a:t>Ο δείκτης P/E αυξάνεται σε εξαιρετικά υψηλό επίπεδο το 2022 (≈64x), γεγονός που οφείλεται κυρίως στα πολύ χαμηλά κέρδη ανά μετοχή εκείνης της χρονιάς. Στα επόμενα έτη επανέρχεται σε περισσότερο εύλογα επίπεδα (≈10x–15x).Ο EV/EBITDA εμφανίζει αντίστοιχη εικόνα, με αιχμή το 2022 (≈22,9x) και σημαντική βελτίωση αποτίμησης το 2023 (≈6,9x) και το 2024 (≈11,7x), αντανακλώντας την ανάκαμψη της λειτουργικής κερδοφορίας.</a:t>
          </a:r>
          <a:endParaRPr lang="en-US" sz="1500" kern="1200" dirty="0"/>
        </a:p>
      </dsp:txBody>
      <dsp:txXfrm>
        <a:off x="49476" y="1112380"/>
        <a:ext cx="9871394" cy="914560"/>
      </dsp:txXfrm>
    </dsp:sp>
    <dsp:sp modelId="{B30DE72E-B530-4503-B503-BEA8BA8E6B54}">
      <dsp:nvSpPr>
        <dsp:cNvPr id="0" name=""/>
        <dsp:cNvSpPr/>
      </dsp:nvSpPr>
      <dsp:spPr>
        <a:xfrm>
          <a:off x="0" y="2119616"/>
          <a:ext cx="9970346" cy="101351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l-GR" sz="1500" kern="1200" dirty="0"/>
            <a:t>Η μερισματική πολιτική παραμένει συγκρατημένη και </a:t>
          </a:r>
          <a:r>
            <a:rPr lang="el-GR" sz="1500" kern="1200" dirty="0" err="1"/>
            <a:t>σταθερή.Το</a:t>
          </a:r>
          <a:r>
            <a:rPr lang="el-GR" sz="1500" kern="1200" dirty="0"/>
            <a:t> Dividend Yield διατηρείται σε επίπεδα 2%–3% σε όλη την περίοδο, υποδηλώνοντας προσανατολισμό σε ισορροπία μεταξύ απόδοσης στους μετόχους και επανεπένδυσης κερδών</a:t>
          </a:r>
          <a:endParaRPr lang="en-US" sz="1500" kern="1200" dirty="0"/>
        </a:p>
      </dsp:txBody>
      <dsp:txXfrm>
        <a:off x="49476" y="2169092"/>
        <a:ext cx="9871394" cy="91456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7690739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45397161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8104384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A1C593-65D0-4073-BCC9-577B9352EA97}"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88168149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A1C593-65D0-4073-BCC9-577B9352EA97}" type="datetimeFigureOut">
              <a:rPr lang="en-US" smtClean="0"/>
              <a:t>12/30/2025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64746918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A1C593-65D0-4073-BCC9-577B9352EA97}" type="datetimeFigureOut">
              <a:rPr lang="en-US" smtClean="0"/>
              <a:t>12/30/2025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3133382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45268512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5452431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92057823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81665935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6965053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70719192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7425914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88020382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5985952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86466887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3A1C593-65D0-4073-BCC9-577B9352EA97}" type="datetimeFigureOut">
              <a:rPr lang="en-US" smtClean="0"/>
              <a:t>12/30/2025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972048046"/>
      </p:ext>
    </p:extLst>
  </p:cSld>
  <p:clrMap bg1="dk1" tx1="lt1" bg2="dk2" tx2="lt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Lst>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krikri.gr/tools/104/oikonomika-stoixeia-krikri" TargetMode="External"/><Relationship Id="rId2" Type="http://schemas.openxmlformats.org/officeDocument/2006/relationships/hyperlink" Target="https://www.investing.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122" name="Picture 2" descr="Κρι Κρι">
            <a:extLst>
              <a:ext uri="{FF2B5EF4-FFF2-40B4-BE49-F238E27FC236}">
                <a16:creationId xmlns:a16="http://schemas.microsoft.com/office/drawing/2014/main" id="{544B87B1-AE22-5FC2-6514-3F1711EE35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038" r="1" b="5395"/>
          <a:stretch>
            <a:fillRect/>
          </a:stretch>
        </p:blipFill>
        <p:spPr bwMode="auto">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p:nvPr>
        </p:nvSpPr>
        <p:spPr>
          <a:xfrm>
            <a:off x="677335" y="3429001"/>
            <a:ext cx="4079721" cy="1718732"/>
          </a:xfrm>
        </p:spPr>
        <p:txBody>
          <a:bodyPr>
            <a:normAutofit/>
          </a:bodyPr>
          <a:lstStyle/>
          <a:p>
            <a:r>
              <a:rPr lang="el-GR" sz="2000" b="1" dirty="0"/>
              <a:t>ΚΡΙ-ΚΡΙ Α.Β.Ε.Ε</a:t>
            </a:r>
          </a:p>
          <a:p>
            <a:r>
              <a:rPr lang="el-GR" sz="1600" dirty="0"/>
              <a:t>Ανάλυση Εταιρείας και Μετοχής</a:t>
            </a:r>
          </a:p>
          <a:p>
            <a:r>
              <a:rPr lang="el-GR" sz="1600" dirty="0"/>
              <a:t>Κουτσομπίνας Κωνσταντίνος</a:t>
            </a:r>
          </a:p>
          <a:p>
            <a:r>
              <a:rPr lang="el-GR" sz="1600" dirty="0"/>
              <a:t>Χειμερινό Εξάμηνο 2025-2026</a:t>
            </a:r>
            <a:endParaRPr lang="en-US" sz="1600" dirty="0"/>
          </a:p>
        </p:txBody>
      </p:sp>
      <p:cxnSp>
        <p:nvCxnSpPr>
          <p:cNvPr id="5127" name="Straight Connector 5126">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5129" name="Straight Connector 5128">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5131"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33"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35"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37"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39"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41"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43"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0"/>
                                  </p:stCondLst>
                                  <p:iterate>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7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1000"/>
                                  </p:stCondLst>
                                  <p:iterate>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7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0"/>
                                  </p:stCondLst>
                                  <p:iterate>
                                    <p:tmPct val="10000"/>
                                  </p:iterate>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7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944BB-A1F2-84FF-5466-BEC1D5FDE16E}"/>
              </a:ext>
            </a:extLst>
          </p:cNvPr>
          <p:cNvSpPr>
            <a:spLocks noGrp="1"/>
          </p:cNvSpPr>
          <p:nvPr>
            <p:ph type="title"/>
          </p:nvPr>
        </p:nvSpPr>
        <p:spPr/>
        <p:txBody>
          <a:bodyPr/>
          <a:lstStyle/>
          <a:p>
            <a:r>
              <a:rPr lang="el-GR" b="1" dirty="0">
                <a:solidFill>
                  <a:schemeClr val="tx1"/>
                </a:solidFill>
              </a:rPr>
              <a:t>Εταιρικό Προφίλ</a:t>
            </a:r>
            <a:endParaRPr lang="en-US" b="1" dirty="0">
              <a:solidFill>
                <a:schemeClr val="tx1"/>
              </a:solidFill>
            </a:endParaRPr>
          </a:p>
        </p:txBody>
      </p:sp>
      <p:sp>
        <p:nvSpPr>
          <p:cNvPr id="3" name="Content Placeholder 2">
            <a:extLst>
              <a:ext uri="{FF2B5EF4-FFF2-40B4-BE49-F238E27FC236}">
                <a16:creationId xmlns:a16="http://schemas.microsoft.com/office/drawing/2014/main" id="{701ACCE8-BA7D-0659-69AC-98FEEB4A261A}"/>
              </a:ext>
            </a:extLst>
          </p:cNvPr>
          <p:cNvSpPr>
            <a:spLocks noGrp="1"/>
          </p:cNvSpPr>
          <p:nvPr>
            <p:ph idx="1"/>
          </p:nvPr>
        </p:nvSpPr>
        <p:spPr/>
        <p:txBody>
          <a:bodyPr/>
          <a:lstStyle/>
          <a:p>
            <a:pPr lvl="0"/>
            <a:r>
              <a:rPr lang="el-GR" b="1" dirty="0"/>
              <a:t>Κλάδος:</a:t>
            </a:r>
            <a:r>
              <a:rPr lang="el-GR" dirty="0"/>
              <a:t> Γαλακτοβιομηχανία (παραγωγή γιαουρτιού &amp; παγωτού) με βάση 100% ελληνικό γάλα από τη περιοχή Σερρών. Έδρα στο 3ο χλμ. Σερρών–Δράμας (υπερσύγχρονο εργοστάσιο).</a:t>
            </a:r>
            <a:endParaRPr lang="en-US" dirty="0"/>
          </a:p>
          <a:p>
            <a:pPr lvl="0"/>
            <a:r>
              <a:rPr lang="el-GR" b="1" dirty="0"/>
              <a:t>Ίδρυση:</a:t>
            </a:r>
            <a:r>
              <a:rPr lang="el-GR" dirty="0"/>
              <a:t> 1954 από τον Γεώργιο </a:t>
            </a:r>
            <a:r>
              <a:rPr lang="el-GR" dirty="0" err="1"/>
              <a:t>Τσινάβο</a:t>
            </a:r>
            <a:r>
              <a:rPr lang="el-GR" dirty="0"/>
              <a:t> στις Σέρρες (ξεκίνησε ως τοπικό ζαχαροπλαστείο με παραγωγή παγωτού). Εξέλιξη σε μία από τις κορυφαίες ελληνικές γαλακτοβιομηχανίες.</a:t>
            </a:r>
            <a:endParaRPr lang="en-US" dirty="0"/>
          </a:p>
          <a:p>
            <a:pPr lvl="0"/>
            <a:r>
              <a:rPr lang="el-GR" b="1" dirty="0"/>
              <a:t>Δραστηριότητα:</a:t>
            </a:r>
            <a:r>
              <a:rPr lang="el-GR" dirty="0"/>
              <a:t> Παράγει επώνυμα προϊόντα (γιαούρτια, παγωτά) και προϊόντα ιδιωτικής ετικέτας για εγχώρια αγορά &amp; εξαγωγές. Ετήσιες πωλήσεις ~€210 εκατ., με ~50% των εσόδων από εξαγωγές σε 42 χώρες.</a:t>
            </a:r>
            <a:endParaRPr lang="en-US" dirty="0"/>
          </a:p>
          <a:p>
            <a:pPr lvl="0"/>
            <a:r>
              <a:rPr lang="el-GR" b="1" dirty="0"/>
              <a:t>Χρηματιστήριο:</a:t>
            </a:r>
            <a:r>
              <a:rPr lang="el-GR" dirty="0"/>
              <a:t> Εισαγωγή στην Κύρια Αγορά του Χ.Α. το 2003. Σήμερα η κεφαλαιοποίηση ~€430 εκατ. (μεγαλύτερη εισηγμένη εταιρεία τροφίμων στην Ελλάδα).</a:t>
            </a:r>
            <a:endParaRPr lang="en-US" dirty="0"/>
          </a:p>
          <a:p>
            <a:endParaRPr lang="en-US" dirty="0"/>
          </a:p>
        </p:txBody>
      </p:sp>
    </p:spTree>
    <p:extLst>
      <p:ext uri="{BB962C8B-B14F-4D97-AF65-F5344CB8AC3E}">
        <p14:creationId xmlns:p14="http://schemas.microsoft.com/office/powerpoint/2010/main" val="60412764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3BF57-53A2-89EA-72DC-66EE0E6CFC7C}"/>
              </a:ext>
            </a:extLst>
          </p:cNvPr>
          <p:cNvSpPr>
            <a:spLocks noGrp="1"/>
          </p:cNvSpPr>
          <p:nvPr>
            <p:ph type="title"/>
          </p:nvPr>
        </p:nvSpPr>
        <p:spPr/>
        <p:txBody>
          <a:bodyPr>
            <a:normAutofit fontScale="90000"/>
          </a:bodyPr>
          <a:lstStyle/>
          <a:p>
            <a:r>
              <a:rPr lang="el-GR" b="1" dirty="0">
                <a:solidFill>
                  <a:schemeClr val="tx1"/>
                </a:solidFill>
              </a:rPr>
              <a:t>Ιστορική Αναδρομή – Σημαντικά Ορόσημα</a:t>
            </a:r>
            <a:br>
              <a:rPr lang="el-GR" b="1" dirty="0">
                <a:solidFill>
                  <a:schemeClr val="tx1"/>
                </a:solidFill>
              </a:rPr>
            </a:br>
            <a:endParaRPr lang="en-US" dirty="0">
              <a:solidFill>
                <a:schemeClr val="tx1"/>
              </a:solidFill>
            </a:endParaRPr>
          </a:p>
        </p:txBody>
      </p:sp>
      <p:sp>
        <p:nvSpPr>
          <p:cNvPr id="3" name="Content Placeholder 2">
            <a:extLst>
              <a:ext uri="{FF2B5EF4-FFF2-40B4-BE49-F238E27FC236}">
                <a16:creationId xmlns:a16="http://schemas.microsoft.com/office/drawing/2014/main" id="{47E82CFE-E2B8-98C2-F70A-9ED8FF699087}"/>
              </a:ext>
            </a:extLst>
          </p:cNvPr>
          <p:cNvSpPr>
            <a:spLocks noGrp="1"/>
          </p:cNvSpPr>
          <p:nvPr>
            <p:ph idx="1"/>
          </p:nvPr>
        </p:nvSpPr>
        <p:spPr/>
        <p:txBody>
          <a:bodyPr>
            <a:normAutofit fontScale="85000" lnSpcReduction="20000"/>
          </a:bodyPr>
          <a:lstStyle/>
          <a:p>
            <a:pPr lvl="0"/>
            <a:r>
              <a:rPr lang="el-GR" b="1" dirty="0"/>
              <a:t>1954:</a:t>
            </a:r>
            <a:r>
              <a:rPr lang="el-GR" dirty="0"/>
              <a:t> Ίδρυση της </a:t>
            </a:r>
            <a:r>
              <a:rPr lang="el-GR" b="1" dirty="0" err="1"/>
              <a:t>Κρι</a:t>
            </a:r>
            <a:r>
              <a:rPr lang="el-GR" b="1" dirty="0"/>
              <a:t> </a:t>
            </a:r>
            <a:r>
              <a:rPr lang="el-GR" b="1" dirty="0" err="1"/>
              <a:t>Κρι</a:t>
            </a:r>
            <a:r>
              <a:rPr lang="el-GR" dirty="0"/>
              <a:t> από τον Γ. </a:t>
            </a:r>
            <a:r>
              <a:rPr lang="el-GR" dirty="0" err="1"/>
              <a:t>Τσινάβο</a:t>
            </a:r>
            <a:r>
              <a:rPr lang="el-GR" dirty="0"/>
              <a:t> – ένα μικρό οικογενειακό εγχείρημα ζαχαροπλαστικής που παράγει παγωτό στις Σέρρες. Το όνομα “</a:t>
            </a:r>
            <a:r>
              <a:rPr lang="el-GR" dirty="0" err="1"/>
              <a:t>Κρι</a:t>
            </a:r>
            <a:r>
              <a:rPr lang="el-GR" dirty="0"/>
              <a:t> </a:t>
            </a:r>
            <a:r>
              <a:rPr lang="el-GR" dirty="0" err="1"/>
              <a:t>Κρι</a:t>
            </a:r>
            <a:r>
              <a:rPr lang="el-GR" dirty="0"/>
              <a:t>” εμπνέεται από τον κρητικό αίγαγρο (σύμβολο αγνότητας και ελευθερίας).</a:t>
            </a:r>
            <a:endParaRPr lang="en-US" dirty="0"/>
          </a:p>
          <a:p>
            <a:pPr lvl="0"/>
            <a:r>
              <a:rPr lang="el-GR" b="1" dirty="0"/>
              <a:t>1987:</a:t>
            </a:r>
            <a:r>
              <a:rPr lang="el-GR" dirty="0"/>
              <a:t> Νέες εγκαταστάσεις παραγωγής στο 3ο χλμ. Σερρών–Δράμας, επένδυση ~175 εκατ. δρχ. για εκσυγχρονισμό και αύξηση δυναμικότητας. Τέλη δεκαετίας ’80-’90 διεύρυνση γκάμας παγωτών και ανάπτυξη δικτύου διανομής πανελλαδικά.</a:t>
            </a:r>
            <a:endParaRPr lang="en-US" dirty="0"/>
          </a:p>
          <a:p>
            <a:pPr lvl="0"/>
            <a:r>
              <a:rPr lang="el-GR" b="1" dirty="0"/>
              <a:t>2003:</a:t>
            </a:r>
            <a:r>
              <a:rPr lang="el-GR" dirty="0"/>
              <a:t> Μετεξέλιξη σε ανώνυμη εταιρεία και εισαγωγή στο Χρηματιστήριο Αθηνών (Κύρια Αγορά) στις 06/08/2003, ανοίγοντας νέο κεφάλαιο στην ιστορία της εταιρείας.</a:t>
            </a:r>
            <a:endParaRPr lang="en-US" dirty="0"/>
          </a:p>
          <a:p>
            <a:pPr lvl="0"/>
            <a:r>
              <a:rPr lang="el-GR" b="1" dirty="0"/>
              <a:t>2013:</a:t>
            </a:r>
            <a:r>
              <a:rPr lang="el-GR" dirty="0"/>
              <a:t> Καταστροφική πυρκαγιά (Δεκέμβριος 2013) στο εργοστάσιο Σερρών – καταστρέφεται ολοσχερώς η μονάδα παραγωγής γιαουρτιού (η μονάδα παγωτού έμεινε ανέπαφη). Άμεση κινητοποίηση της διοίκησης για συνέχιση δραστηριοτήτων.</a:t>
            </a:r>
            <a:endParaRPr lang="en-US" dirty="0"/>
          </a:p>
          <a:p>
            <a:pPr lvl="0"/>
            <a:r>
              <a:rPr lang="el-GR" b="1" dirty="0"/>
              <a:t>2014:</a:t>
            </a:r>
            <a:r>
              <a:rPr lang="el-GR" dirty="0"/>
              <a:t> Επαναλειτουργία με νέο υπερσύγχρονο εργοστάσιο σε χρόνο-ρεκόρ (~7 μήνες). Η </a:t>
            </a:r>
            <a:r>
              <a:rPr lang="el-GR" b="1" dirty="0" err="1"/>
              <a:t>Κρι</a:t>
            </a:r>
            <a:r>
              <a:rPr lang="el-GR" b="1" dirty="0"/>
              <a:t> </a:t>
            </a:r>
            <a:r>
              <a:rPr lang="el-GR" b="1" dirty="0" err="1"/>
              <a:t>Κρι</a:t>
            </a:r>
            <a:r>
              <a:rPr lang="el-GR" dirty="0"/>
              <a:t> αναγεννήθηκε από τις στάχτες της, διατηρώντας πελάτες και προσωπικό, και ενισχύθηκε περαιτέρω – κατακτώντας την </a:t>
            </a:r>
            <a:r>
              <a:rPr lang="el-GR" b="1" dirty="0"/>
              <a:t>1η θέση στην ελληνική αγορά γιαουρτιού</a:t>
            </a:r>
            <a:r>
              <a:rPr lang="el-GR" dirty="0"/>
              <a:t>.</a:t>
            </a:r>
            <a:endParaRPr lang="en-US" dirty="0"/>
          </a:p>
          <a:p>
            <a:pPr lvl="0"/>
            <a:r>
              <a:rPr lang="el-GR" b="1" dirty="0"/>
              <a:t>2024:</a:t>
            </a:r>
            <a:r>
              <a:rPr lang="el-GR" dirty="0"/>
              <a:t> Επέτειος 70 χρόνων από την ίδρυση και 20 χρόνων ως εισηγμένη εταιρεία. Η </a:t>
            </a:r>
            <a:r>
              <a:rPr lang="el-GR" b="1" dirty="0" err="1"/>
              <a:t>Κρι</a:t>
            </a:r>
            <a:r>
              <a:rPr lang="el-GR" b="1" dirty="0"/>
              <a:t> </a:t>
            </a:r>
            <a:r>
              <a:rPr lang="el-GR" b="1" dirty="0" err="1"/>
              <a:t>Κρι</a:t>
            </a:r>
            <a:r>
              <a:rPr lang="el-GR" dirty="0"/>
              <a:t> πλέον αναγνωρίζεται ως μια δυναμικά αναπτυσσόμενη εταιρεία με ισχυρή παρουσία εντός και εκτός Ελλάδας.</a:t>
            </a:r>
            <a:endParaRPr lang="en-US" dirty="0"/>
          </a:p>
          <a:p>
            <a:endParaRPr lang="en-US" dirty="0"/>
          </a:p>
        </p:txBody>
      </p:sp>
    </p:spTree>
    <p:extLst>
      <p:ext uri="{BB962C8B-B14F-4D97-AF65-F5344CB8AC3E}">
        <p14:creationId xmlns:p14="http://schemas.microsoft.com/office/powerpoint/2010/main" val="319148258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F7A6E-ED45-30F2-3EA9-C56118B8C795}"/>
              </a:ext>
            </a:extLst>
          </p:cNvPr>
          <p:cNvSpPr>
            <a:spLocks noGrp="1"/>
          </p:cNvSpPr>
          <p:nvPr>
            <p:ph type="title"/>
          </p:nvPr>
        </p:nvSpPr>
        <p:spPr/>
        <p:txBody>
          <a:bodyPr/>
          <a:lstStyle/>
          <a:p>
            <a:r>
              <a:rPr lang="el-GR" b="1" dirty="0">
                <a:solidFill>
                  <a:schemeClr val="tx1"/>
                </a:solidFill>
              </a:rPr>
              <a:t>Μετοχική Σύνθεση &amp; Θέση στην Αγορά</a:t>
            </a:r>
            <a:br>
              <a:rPr lang="en-US" b="1" dirty="0">
                <a:solidFill>
                  <a:schemeClr val="tx1"/>
                </a:solidFill>
              </a:rPr>
            </a:br>
            <a:endParaRPr lang="en-US" dirty="0">
              <a:solidFill>
                <a:schemeClr val="tx1"/>
              </a:solidFill>
            </a:endParaRPr>
          </a:p>
        </p:txBody>
      </p:sp>
      <p:sp>
        <p:nvSpPr>
          <p:cNvPr id="3" name="Content Placeholder 2">
            <a:extLst>
              <a:ext uri="{FF2B5EF4-FFF2-40B4-BE49-F238E27FC236}">
                <a16:creationId xmlns:a16="http://schemas.microsoft.com/office/drawing/2014/main" id="{D124A8B0-F8F7-4A01-B786-39AFD4DC063A}"/>
              </a:ext>
            </a:extLst>
          </p:cNvPr>
          <p:cNvSpPr>
            <a:spLocks noGrp="1"/>
          </p:cNvSpPr>
          <p:nvPr>
            <p:ph idx="1"/>
          </p:nvPr>
        </p:nvSpPr>
        <p:spPr/>
        <p:txBody>
          <a:bodyPr>
            <a:normAutofit fontScale="85000" lnSpcReduction="10000"/>
          </a:bodyPr>
          <a:lstStyle/>
          <a:p>
            <a:pPr lvl="0"/>
            <a:r>
              <a:rPr lang="el-GR" b="1" dirty="0"/>
              <a:t>Μέτοχοι:</a:t>
            </a:r>
            <a:r>
              <a:rPr lang="el-GR" dirty="0"/>
              <a:t> Η οικογένεια </a:t>
            </a:r>
            <a:r>
              <a:rPr lang="el-GR" dirty="0" err="1"/>
              <a:t>Τσινάβου</a:t>
            </a:r>
            <a:r>
              <a:rPr lang="el-GR" dirty="0"/>
              <a:t> (ιδρυτές) διατηρεί τον έλεγχο της εταιρείας με πλειοψηφικό ποσοστό μετοχών (~73%), εξασφαλίζοντας τη διοικητική συνέχεια της εταιρείας. Το υπόλοιπο ~27% των μετοχών βρίσκεται σε ελεύθερη διασπορά (</a:t>
            </a:r>
            <a:r>
              <a:rPr lang="el-GR" dirty="0" err="1"/>
              <a:t>free</a:t>
            </a:r>
            <a:r>
              <a:rPr lang="el-GR" dirty="0"/>
              <a:t> </a:t>
            </a:r>
            <a:r>
              <a:rPr lang="el-GR" dirty="0" err="1"/>
              <a:t>float</a:t>
            </a:r>
            <a:r>
              <a:rPr lang="el-GR" dirty="0"/>
              <a:t>) στο επενδυτικό κοινό.</a:t>
            </a:r>
            <a:endParaRPr lang="en-US" dirty="0"/>
          </a:p>
          <a:p>
            <a:pPr lvl="0"/>
            <a:r>
              <a:rPr lang="el-GR" b="1" dirty="0"/>
              <a:t>Ηγετική θέση στο γιαούρτι:</a:t>
            </a:r>
            <a:r>
              <a:rPr lang="el-GR" dirty="0"/>
              <a:t> Η </a:t>
            </a:r>
            <a:r>
              <a:rPr lang="el-GR" b="1" dirty="0" err="1"/>
              <a:t>Κρι</a:t>
            </a:r>
            <a:r>
              <a:rPr lang="el-GR" b="1" dirty="0"/>
              <a:t> </a:t>
            </a:r>
            <a:r>
              <a:rPr lang="el-GR" b="1" dirty="0" err="1"/>
              <a:t>Κρι</a:t>
            </a:r>
            <a:r>
              <a:rPr lang="el-GR" dirty="0"/>
              <a:t> είναι σήμερα </a:t>
            </a:r>
            <a:r>
              <a:rPr lang="el-GR" b="1" dirty="0"/>
              <a:t>#1 παραγωγός γιαουρτιού</a:t>
            </a:r>
            <a:r>
              <a:rPr lang="el-GR" dirty="0"/>
              <a:t> στην Ελλάδα, έχοντας ξεπεράσει τη ΦΑΓΕ σε μερίδιο αγοράς. Αξιοποιώντας την παραγωγή ποιοτικών επώνυμων και </a:t>
            </a:r>
            <a:r>
              <a:rPr lang="el-GR" dirty="0" err="1"/>
              <a:t>private</a:t>
            </a:r>
            <a:r>
              <a:rPr lang="el-GR" dirty="0"/>
              <a:t> </a:t>
            </a:r>
            <a:r>
              <a:rPr lang="el-GR" dirty="0" err="1"/>
              <a:t>label</a:t>
            </a:r>
            <a:r>
              <a:rPr lang="el-GR" dirty="0"/>
              <a:t> προϊόντων, κατέχει το μεγαλύτερο μερίδιο τόσο στη μάρκα όσο και στην ιδιωτική ετικέτα γιαούρτι.</a:t>
            </a:r>
            <a:endParaRPr lang="en-US" dirty="0"/>
          </a:p>
          <a:p>
            <a:pPr lvl="0"/>
            <a:r>
              <a:rPr lang="el-GR" b="1" dirty="0"/>
              <a:t>Αγορά παγωτού:</a:t>
            </a:r>
            <a:r>
              <a:rPr lang="el-GR" dirty="0"/>
              <a:t> Στον κλάδο παγωτού, η </a:t>
            </a:r>
            <a:r>
              <a:rPr lang="el-GR" b="1" dirty="0" err="1"/>
              <a:t>Κρι</a:t>
            </a:r>
            <a:r>
              <a:rPr lang="el-GR" b="1" dirty="0"/>
              <a:t> </a:t>
            </a:r>
            <a:r>
              <a:rPr lang="el-GR" b="1" dirty="0" err="1"/>
              <a:t>Κρι</a:t>
            </a:r>
            <a:r>
              <a:rPr lang="el-GR" dirty="0"/>
              <a:t> αποτελεί τη </a:t>
            </a:r>
            <a:r>
              <a:rPr lang="el-GR" b="1" dirty="0"/>
              <a:t>#2 μάρκα</a:t>
            </a:r>
            <a:r>
              <a:rPr lang="el-GR" dirty="0"/>
              <a:t> στην ελληνική αγορά. Ανταγωνίζεται κυρίως πολυεθνικές εταιρείες όπως η Unilever (</a:t>
            </a:r>
            <a:r>
              <a:rPr lang="el-GR" dirty="0" err="1"/>
              <a:t>Algida</a:t>
            </a:r>
            <a:r>
              <a:rPr lang="el-GR" dirty="0"/>
              <a:t>), που κατέχουν την πρώτη θέση, καθώς και άλλες εγχώριες μάρκες. Παράγει ~160 εκατ. μερίδες παγωτού ετησίως για την ελληνική αγορά.</a:t>
            </a:r>
            <a:endParaRPr lang="en-US" dirty="0"/>
          </a:p>
          <a:p>
            <a:r>
              <a:rPr lang="el-GR" b="1" dirty="0"/>
              <a:t>Ανταγωνιστικό πλεονέκτημα:</a:t>
            </a:r>
            <a:r>
              <a:rPr lang="el-GR" dirty="0"/>
              <a:t> Ο συνδυασμός παράδοσης και καινοτομίας έχει βοηθήσει την </a:t>
            </a:r>
            <a:r>
              <a:rPr lang="el-GR" b="1" dirty="0" err="1"/>
              <a:t>Κρι</a:t>
            </a:r>
            <a:r>
              <a:rPr lang="el-GR" b="1" dirty="0"/>
              <a:t> </a:t>
            </a:r>
            <a:r>
              <a:rPr lang="el-GR" b="1" dirty="0" err="1"/>
              <a:t>Κρι</a:t>
            </a:r>
            <a:r>
              <a:rPr lang="el-GR" dirty="0"/>
              <a:t> να εδραιωθεί ως μια από τις πιο ισχυρές και υγιώς αναπτυσσόμενες επιχειρήσεις τροφίμων στην Ελλάδα, με διαφοροποίηση προϊόντων, εξαγωγικό προσανατολισμό και διαρκείς επενδύσεις ~€100 εκατ. στην τελευταία δεκαετία.</a:t>
            </a:r>
            <a:endParaRPr lang="en-US" dirty="0"/>
          </a:p>
        </p:txBody>
      </p:sp>
    </p:spTree>
    <p:extLst>
      <p:ext uri="{BB962C8B-B14F-4D97-AF65-F5344CB8AC3E}">
        <p14:creationId xmlns:p14="http://schemas.microsoft.com/office/powerpoint/2010/main" val="116743724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D16F1A-5D78-4402-81FF-31A98AFD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107BBC-9D45-ED0C-4622-9929404350DA}"/>
              </a:ext>
            </a:extLst>
          </p:cNvPr>
          <p:cNvSpPr>
            <a:spLocks noGrp="1"/>
          </p:cNvSpPr>
          <p:nvPr>
            <p:ph type="title"/>
          </p:nvPr>
        </p:nvSpPr>
        <p:spPr>
          <a:xfrm>
            <a:off x="1286933" y="609600"/>
            <a:ext cx="10197494" cy="1099457"/>
          </a:xfrm>
        </p:spPr>
        <p:txBody>
          <a:bodyPr>
            <a:normAutofit/>
          </a:bodyPr>
          <a:lstStyle/>
          <a:p>
            <a:r>
              <a:rPr lang="el-GR" b="1" dirty="0">
                <a:solidFill>
                  <a:schemeClr val="tx1"/>
                </a:solidFill>
                <a:latin typeface="Times New Roman" panose="02020603050405020304" pitchFamily="18" charset="0"/>
                <a:cs typeface="Times New Roman" panose="02020603050405020304" pitchFamily="18" charset="0"/>
              </a:rPr>
              <a:t>Συντελεστής </a:t>
            </a:r>
            <a:r>
              <a:rPr lang="en-US" b="1" dirty="0">
                <a:solidFill>
                  <a:schemeClr val="tx1"/>
                </a:solidFill>
                <a:latin typeface="Times New Roman" panose="02020603050405020304" pitchFamily="18" charset="0"/>
                <a:cs typeface="Times New Roman" panose="02020603050405020304" pitchFamily="18" charset="0"/>
              </a:rPr>
              <a:t>beta</a:t>
            </a:r>
          </a:p>
        </p:txBody>
      </p:sp>
      <p:sp>
        <p:nvSpPr>
          <p:cNvPr id="15" name="Isosceles Triangle 14">
            <a:extLst>
              <a:ext uri="{FF2B5EF4-FFF2-40B4-BE49-F238E27FC236}">
                <a16:creationId xmlns:a16="http://schemas.microsoft.com/office/drawing/2014/main" id="{1B2FB7F0-6A45-43E8-88A7-48E46E6D4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6BA9C607-662B-4FBB-A3F3-CF593AD73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Content Placeholder 3">
            <a:extLst>
              <a:ext uri="{FF2B5EF4-FFF2-40B4-BE49-F238E27FC236}">
                <a16:creationId xmlns:a16="http://schemas.microsoft.com/office/drawing/2014/main" id="{E5999615-685C-65D6-DB7A-BC4C3797EF64}"/>
              </a:ext>
            </a:extLst>
          </p:cNvPr>
          <p:cNvSpPr>
            <a:spLocks noGrp="1"/>
          </p:cNvSpPr>
          <p:nvPr>
            <p:ph idx="1"/>
          </p:nvPr>
        </p:nvSpPr>
        <p:spPr>
          <a:xfrm>
            <a:off x="1358469" y="1862009"/>
            <a:ext cx="9539686" cy="4165567"/>
          </a:xfrm>
        </p:spPr>
        <p:txBody>
          <a:bodyPr/>
          <a:lstStyle/>
          <a:p>
            <a:pPr marL="0" lvl="0" indent="0">
              <a:buNone/>
            </a:pPr>
            <a:r>
              <a:rPr lang="el-GR" b="1" dirty="0"/>
              <a:t>Σημειώσεις:</a:t>
            </a:r>
            <a:endParaRPr lang="en-US" dirty="0"/>
          </a:p>
          <a:p>
            <a:r>
              <a:rPr lang="el-GR" dirty="0"/>
              <a:t>Για τον συντελεστή </a:t>
            </a:r>
            <a:r>
              <a:rPr lang="en-US" dirty="0"/>
              <a:t>beta</a:t>
            </a:r>
            <a:r>
              <a:rPr lang="el-GR" dirty="0"/>
              <a:t> χρησιμοποιήσαμε </a:t>
            </a:r>
            <a:r>
              <a:rPr lang="en-US" dirty="0"/>
              <a:t>regression </a:t>
            </a:r>
            <a:r>
              <a:rPr lang="el-GR" dirty="0"/>
              <a:t>μεταξύ των εβδομαδιαίων αποδόσεων της ΚΡΙ-ΚΡΙ και του δείκτη χρηματιστηρίου Αθηνών (δείκτης </a:t>
            </a:r>
            <a:r>
              <a:rPr lang="en-US" dirty="0"/>
              <a:t>ATG</a:t>
            </a:r>
            <a:r>
              <a:rPr lang="el-GR" dirty="0"/>
              <a:t>).</a:t>
            </a:r>
            <a:endParaRPr lang="en-US" dirty="0"/>
          </a:p>
          <a:p>
            <a:r>
              <a:rPr lang="el-GR" dirty="0"/>
              <a:t>Επιλέγουμε εβδομαδιαίες αποδόσεις δεδομένα, προκειμένου να περιοριστεί ο βραχυπρόθεσμος «θόρυβος» και να αποτυπωθεί καλύτερα η συστηματική μεταβλητότητα. </a:t>
            </a:r>
            <a:r>
              <a:rPr lang="en-US" dirty="0"/>
              <a:t>(</a:t>
            </a:r>
            <a:r>
              <a:rPr lang="el-GR" dirty="0"/>
              <a:t>Ο υπολογισμός με ημερήσιες αποδόσεις δίνει παρόμοια τιμή, επιβεβαιώνοντας τη σταθερότητα του αποτελέσματος.</a:t>
            </a:r>
            <a:r>
              <a:rPr lang="en-US" dirty="0"/>
              <a:t>)</a:t>
            </a:r>
          </a:p>
          <a:p>
            <a:r>
              <a:rPr lang="el-GR" dirty="0"/>
              <a:t>Υπολογίσαμε τα </a:t>
            </a:r>
            <a:r>
              <a:rPr lang="en-US" dirty="0"/>
              <a:t>beta</a:t>
            </a:r>
            <a:r>
              <a:rPr lang="el-GR" dirty="0"/>
              <a:t> τόσο σε ετήσια βάση (από το 2020 έως το 2024) όσο και σε ένα ενιαίο διάστημα (01/01/2020 – 21/12/2025)</a:t>
            </a:r>
            <a:r>
              <a:rPr lang="en-US" dirty="0"/>
              <a:t>.</a:t>
            </a:r>
          </a:p>
          <a:p>
            <a:endParaRPr lang="en-US" dirty="0"/>
          </a:p>
          <a:p>
            <a:endParaRPr lang="en-US" dirty="0"/>
          </a:p>
        </p:txBody>
      </p:sp>
    </p:spTree>
    <p:extLst>
      <p:ext uri="{BB962C8B-B14F-4D97-AF65-F5344CB8AC3E}">
        <p14:creationId xmlns:p14="http://schemas.microsoft.com/office/powerpoint/2010/main" val="137736901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Content Placeholder 3">
                <a:extLst>
                  <a:ext uri="{FF2B5EF4-FFF2-40B4-BE49-F238E27FC236}">
                    <a16:creationId xmlns:a16="http://schemas.microsoft.com/office/drawing/2014/main" id="{A9E15F3E-4B49-5507-DB8C-D916E6826A2F}"/>
                  </a:ext>
                </a:extLst>
              </p:cNvPr>
              <p:cNvGraphicFramePr>
                <a:graphicFrameLocks noGrp="1"/>
              </p:cNvGraphicFramePr>
              <p:nvPr>
                <p:ph idx="1"/>
                <p:extLst>
                  <p:ext uri="{D42A27DB-BD31-4B8C-83A1-F6EECF244321}">
                    <p14:modId xmlns:p14="http://schemas.microsoft.com/office/powerpoint/2010/main" val="2691405383"/>
                  </p:ext>
                </p:extLst>
              </p:nvPr>
            </p:nvGraphicFramePr>
            <p:xfrm>
              <a:off x="919164" y="463000"/>
              <a:ext cx="10353672" cy="1113600"/>
            </p:xfrm>
            <a:graphic>
              <a:graphicData uri="http://schemas.openxmlformats.org/drawingml/2006/table">
                <a:tbl>
                  <a:tblPr firstRow="1" bandRow="1">
                    <a:tableStyleId>{1E171933-4619-4E11-9A3F-F7608DF75F80}</a:tableStyleId>
                  </a:tblPr>
                  <a:tblGrid>
                    <a:gridCol w="1725612">
                      <a:extLst>
                        <a:ext uri="{9D8B030D-6E8A-4147-A177-3AD203B41FA5}">
                          <a16:colId xmlns:a16="http://schemas.microsoft.com/office/drawing/2014/main" val="945333823"/>
                        </a:ext>
                      </a:extLst>
                    </a:gridCol>
                    <a:gridCol w="1725612">
                      <a:extLst>
                        <a:ext uri="{9D8B030D-6E8A-4147-A177-3AD203B41FA5}">
                          <a16:colId xmlns:a16="http://schemas.microsoft.com/office/drawing/2014/main" val="703913221"/>
                        </a:ext>
                      </a:extLst>
                    </a:gridCol>
                    <a:gridCol w="1725612">
                      <a:extLst>
                        <a:ext uri="{9D8B030D-6E8A-4147-A177-3AD203B41FA5}">
                          <a16:colId xmlns:a16="http://schemas.microsoft.com/office/drawing/2014/main" val="3653217936"/>
                        </a:ext>
                      </a:extLst>
                    </a:gridCol>
                    <a:gridCol w="1725612">
                      <a:extLst>
                        <a:ext uri="{9D8B030D-6E8A-4147-A177-3AD203B41FA5}">
                          <a16:colId xmlns:a16="http://schemas.microsoft.com/office/drawing/2014/main" val="1637302215"/>
                        </a:ext>
                      </a:extLst>
                    </a:gridCol>
                    <a:gridCol w="1725612">
                      <a:extLst>
                        <a:ext uri="{9D8B030D-6E8A-4147-A177-3AD203B41FA5}">
                          <a16:colId xmlns:a16="http://schemas.microsoft.com/office/drawing/2014/main" val="1326460804"/>
                        </a:ext>
                      </a:extLst>
                    </a:gridCol>
                    <a:gridCol w="1725612">
                      <a:extLst>
                        <a:ext uri="{9D8B030D-6E8A-4147-A177-3AD203B41FA5}">
                          <a16:colId xmlns:a16="http://schemas.microsoft.com/office/drawing/2014/main" val="3611014614"/>
                        </a:ext>
                      </a:extLst>
                    </a:gridCol>
                  </a:tblGrid>
                  <a:tr h="370840">
                    <a:tc>
                      <a:txBody>
                        <a:bodyPr/>
                        <a:lstStyle/>
                        <a:p>
                          <a:pPr algn="ctr"/>
                          <a:endParaRPr lang="en-US" dirty="0"/>
                        </a:p>
                      </a:txBody>
                      <a:tcPr/>
                    </a:tc>
                    <a:tc>
                      <a:txBody>
                        <a:bodyPr/>
                        <a:lstStyle/>
                        <a:p>
                          <a:pPr algn="ctr"/>
                          <a:r>
                            <a:rPr lang="en-US" dirty="0"/>
                            <a:t>2020</a:t>
                          </a:r>
                        </a:p>
                      </a:txBody>
                      <a:tcPr/>
                    </a:tc>
                    <a:tc>
                      <a:txBody>
                        <a:bodyPr/>
                        <a:lstStyle/>
                        <a:p>
                          <a:pPr algn="ctr"/>
                          <a:r>
                            <a:rPr lang="en-US" dirty="0"/>
                            <a:t>2021</a:t>
                          </a:r>
                        </a:p>
                      </a:txBody>
                      <a:tcPr/>
                    </a:tc>
                    <a:tc>
                      <a:txBody>
                        <a:bodyPr/>
                        <a:lstStyle/>
                        <a:p>
                          <a:pPr algn="ctr"/>
                          <a:r>
                            <a:rPr lang="en-US" dirty="0"/>
                            <a:t>2022</a:t>
                          </a:r>
                        </a:p>
                      </a:txBody>
                      <a:tcPr/>
                    </a:tc>
                    <a:tc>
                      <a:txBody>
                        <a:bodyPr/>
                        <a:lstStyle/>
                        <a:p>
                          <a:pPr algn="ctr"/>
                          <a:r>
                            <a:rPr lang="en-US" dirty="0"/>
                            <a:t>2023</a:t>
                          </a:r>
                        </a:p>
                      </a:txBody>
                      <a:tcPr/>
                    </a:tc>
                    <a:tc>
                      <a:txBody>
                        <a:bodyPr/>
                        <a:lstStyle/>
                        <a:p>
                          <a:pPr algn="ctr"/>
                          <a:r>
                            <a:rPr lang="en-US" dirty="0"/>
                            <a:t>2024</a:t>
                          </a:r>
                        </a:p>
                      </a:txBody>
                      <a:tcPr/>
                    </a:tc>
                    <a:extLst>
                      <a:ext uri="{0D108BD9-81ED-4DB2-BD59-A6C34878D82A}">
                        <a16:rowId xmlns:a16="http://schemas.microsoft.com/office/drawing/2014/main" val="2260161256"/>
                      </a:ext>
                    </a:extLst>
                  </a:tr>
                  <a:tr h="370840">
                    <a:tc>
                      <a:txBody>
                        <a:bodyPr/>
                        <a:lstStyle/>
                        <a:p>
                          <a:pPr algn="ctr"/>
                          <a:r>
                            <a:rPr lang="en-US" dirty="0">
                              <a:solidFill>
                                <a:schemeClr val="bg1"/>
                              </a:solidFill>
                            </a:rPr>
                            <a:t>beta</a:t>
                          </a:r>
                        </a:p>
                      </a:txBody>
                      <a:tcPr/>
                    </a:tc>
                    <a:tc>
                      <a:txBody>
                        <a:bodyPr/>
                        <a:lstStyle/>
                        <a:p>
                          <a:pPr algn="ctr"/>
                          <a:r>
                            <a:rPr lang="el-GR" dirty="0">
                              <a:solidFill>
                                <a:schemeClr val="bg1"/>
                              </a:solidFill>
                            </a:rPr>
                            <a:t>0.622</a:t>
                          </a:r>
                          <a:endParaRPr lang="en-US" dirty="0">
                            <a:solidFill>
                              <a:schemeClr val="bg1"/>
                            </a:solidFill>
                          </a:endParaRPr>
                        </a:p>
                      </a:txBody>
                      <a:tcPr/>
                    </a:tc>
                    <a:tc>
                      <a:txBody>
                        <a:bodyPr/>
                        <a:lstStyle/>
                        <a:p>
                          <a:pPr algn="ctr"/>
                          <a:r>
                            <a:rPr lang="el-GR" dirty="0">
                              <a:solidFill>
                                <a:schemeClr val="bg1"/>
                              </a:solidFill>
                            </a:rPr>
                            <a:t>0.459</a:t>
                          </a:r>
                          <a:endParaRPr lang="en-US" dirty="0">
                            <a:solidFill>
                              <a:schemeClr val="bg1"/>
                            </a:solidFill>
                          </a:endParaRPr>
                        </a:p>
                      </a:txBody>
                      <a:tcPr/>
                    </a:tc>
                    <a:tc>
                      <a:txBody>
                        <a:bodyPr/>
                        <a:lstStyle/>
                        <a:p>
                          <a:pPr algn="ctr"/>
                          <a:r>
                            <a:rPr lang="el-GR" dirty="0">
                              <a:solidFill>
                                <a:schemeClr val="bg1"/>
                              </a:solidFill>
                            </a:rPr>
                            <a:t>0.493</a:t>
                          </a:r>
                          <a:endParaRPr lang="en-US" dirty="0">
                            <a:solidFill>
                              <a:schemeClr val="bg1"/>
                            </a:solidFill>
                          </a:endParaRPr>
                        </a:p>
                      </a:txBody>
                      <a:tcPr/>
                    </a:tc>
                    <a:tc>
                      <a:txBody>
                        <a:bodyPr/>
                        <a:lstStyle/>
                        <a:p>
                          <a:pPr algn="ctr"/>
                          <a:r>
                            <a:rPr lang="el-GR" dirty="0">
                              <a:solidFill>
                                <a:schemeClr val="bg1"/>
                              </a:solidFill>
                            </a:rPr>
                            <a:t>0.455</a:t>
                          </a:r>
                          <a:endParaRPr lang="en-US" dirty="0">
                            <a:solidFill>
                              <a:schemeClr val="bg1"/>
                            </a:solidFill>
                          </a:endParaRPr>
                        </a:p>
                      </a:txBody>
                      <a:tcPr/>
                    </a:tc>
                    <a:tc>
                      <a:txBody>
                        <a:bodyPr/>
                        <a:lstStyle/>
                        <a:p>
                          <a:pPr algn="ctr"/>
                          <a:r>
                            <a:rPr lang="el-GR" dirty="0">
                              <a:solidFill>
                                <a:schemeClr val="bg1"/>
                              </a:solidFill>
                            </a:rPr>
                            <a:t>0.427</a:t>
                          </a:r>
                          <a:endParaRPr lang="en-US" dirty="0">
                            <a:solidFill>
                              <a:schemeClr val="bg1"/>
                            </a:solidFill>
                          </a:endParaRPr>
                        </a:p>
                      </a:txBody>
                      <a:tcPr/>
                    </a:tc>
                    <a:extLst>
                      <a:ext uri="{0D108BD9-81ED-4DB2-BD59-A6C34878D82A}">
                        <a16:rowId xmlns:a16="http://schemas.microsoft.com/office/drawing/2014/main" val="1210423588"/>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b="0" smtClean="0">
                                        <a:solidFill>
                                          <a:schemeClr val="bg1"/>
                                        </a:solidFill>
                                      </a:rPr>
                                    </m:ctrlPr>
                                  </m:sSupPr>
                                  <m:e>
                                    <m:r>
                                      <a:rPr lang="en-US" b="0" smtClean="0">
                                        <a:solidFill>
                                          <a:schemeClr val="bg1"/>
                                        </a:solidFill>
                                      </a:rPr>
                                      <m:t>𝑅</m:t>
                                    </m:r>
                                  </m:e>
                                  <m:sup>
                                    <m:r>
                                      <a:rPr lang="en-US" b="0" smtClean="0">
                                        <a:solidFill>
                                          <a:schemeClr val="bg1"/>
                                        </a:solidFill>
                                      </a:rPr>
                                      <m:t>2</m:t>
                                    </m:r>
                                  </m:sup>
                                </m:sSup>
                              </m:oMath>
                            </m:oMathPara>
                          </a14:m>
                          <a:endParaRPr lang="en-US" b="0" dirty="0">
                            <a:solidFill>
                              <a:schemeClr val="bg1"/>
                            </a:solidFill>
                          </a:endParaRPr>
                        </a:p>
                      </a:txBody>
                      <a:tcPr/>
                    </a:tc>
                    <a:tc>
                      <a:txBody>
                        <a:bodyPr/>
                        <a:lstStyle/>
                        <a:p>
                          <a:pPr algn="ctr"/>
                          <a:r>
                            <a:rPr lang="el-GR" dirty="0">
                              <a:solidFill>
                                <a:schemeClr val="bg1"/>
                              </a:solidFill>
                            </a:rPr>
                            <a:t>42.79%</a:t>
                          </a:r>
                          <a:endParaRPr lang="en-US" dirty="0">
                            <a:solidFill>
                              <a:schemeClr val="bg1"/>
                            </a:solidFill>
                          </a:endParaRPr>
                        </a:p>
                      </a:txBody>
                      <a:tcPr/>
                    </a:tc>
                    <a:tc>
                      <a:txBody>
                        <a:bodyPr/>
                        <a:lstStyle/>
                        <a:p>
                          <a:pPr algn="ctr"/>
                          <a:r>
                            <a:rPr lang="el-GR" dirty="0">
                              <a:solidFill>
                                <a:schemeClr val="bg1"/>
                              </a:solidFill>
                            </a:rPr>
                            <a:t>14.16%</a:t>
                          </a:r>
                          <a:endParaRPr lang="en-US" dirty="0">
                            <a:solidFill>
                              <a:schemeClr val="bg1"/>
                            </a:solidFill>
                          </a:endParaRPr>
                        </a:p>
                      </a:txBody>
                      <a:tcPr/>
                    </a:tc>
                    <a:tc>
                      <a:txBody>
                        <a:bodyPr/>
                        <a:lstStyle/>
                        <a:p>
                          <a:pPr algn="ctr"/>
                          <a:r>
                            <a:rPr lang="el-GR" dirty="0">
                              <a:solidFill>
                                <a:schemeClr val="bg1"/>
                              </a:solidFill>
                            </a:rPr>
                            <a:t>18.14%</a:t>
                          </a:r>
                          <a:endParaRPr lang="en-US" dirty="0">
                            <a:solidFill>
                              <a:schemeClr val="bg1"/>
                            </a:solidFill>
                          </a:endParaRPr>
                        </a:p>
                      </a:txBody>
                      <a:tcPr/>
                    </a:tc>
                    <a:tc>
                      <a:txBody>
                        <a:bodyPr/>
                        <a:lstStyle/>
                        <a:p>
                          <a:pPr algn="ctr"/>
                          <a:r>
                            <a:rPr lang="el-GR" dirty="0">
                              <a:solidFill>
                                <a:schemeClr val="bg1"/>
                              </a:solidFill>
                            </a:rPr>
                            <a:t>11.58%</a:t>
                          </a:r>
                          <a:endParaRPr lang="en-US" dirty="0">
                            <a:solidFill>
                              <a:schemeClr val="bg1"/>
                            </a:solidFill>
                          </a:endParaRPr>
                        </a:p>
                      </a:txBody>
                      <a:tcPr/>
                    </a:tc>
                    <a:tc>
                      <a:txBody>
                        <a:bodyPr/>
                        <a:lstStyle/>
                        <a:p>
                          <a:pPr algn="ctr"/>
                          <a:r>
                            <a:rPr lang="el-GR" dirty="0">
                              <a:solidFill>
                                <a:schemeClr val="bg1"/>
                              </a:solidFill>
                            </a:rPr>
                            <a:t>8.54%</a:t>
                          </a:r>
                          <a:endParaRPr lang="en-US" dirty="0">
                            <a:solidFill>
                              <a:schemeClr val="bg1"/>
                            </a:solidFill>
                          </a:endParaRPr>
                        </a:p>
                      </a:txBody>
                      <a:tcPr/>
                    </a:tc>
                    <a:extLst>
                      <a:ext uri="{0D108BD9-81ED-4DB2-BD59-A6C34878D82A}">
                        <a16:rowId xmlns:a16="http://schemas.microsoft.com/office/drawing/2014/main" val="597403411"/>
                      </a:ext>
                    </a:extLst>
                  </a:tr>
                </a:tbl>
              </a:graphicData>
            </a:graphic>
          </p:graphicFrame>
        </mc:Choice>
        <mc:Fallback>
          <p:graphicFrame>
            <p:nvGraphicFramePr>
              <p:cNvPr id="4" name="Content Placeholder 3">
                <a:extLst>
                  <a:ext uri="{FF2B5EF4-FFF2-40B4-BE49-F238E27FC236}">
                    <a16:creationId xmlns:a16="http://schemas.microsoft.com/office/drawing/2014/main" id="{A9E15F3E-4B49-5507-DB8C-D916E6826A2F}"/>
                  </a:ext>
                </a:extLst>
              </p:cNvPr>
              <p:cNvGraphicFramePr>
                <a:graphicFrameLocks noGrp="1"/>
              </p:cNvGraphicFramePr>
              <p:nvPr>
                <p:ph idx="1"/>
                <p:extLst>
                  <p:ext uri="{D42A27DB-BD31-4B8C-83A1-F6EECF244321}">
                    <p14:modId xmlns:p14="http://schemas.microsoft.com/office/powerpoint/2010/main" val="2691405383"/>
                  </p:ext>
                </p:extLst>
              </p:nvPr>
            </p:nvGraphicFramePr>
            <p:xfrm>
              <a:off x="919164" y="463000"/>
              <a:ext cx="10353672" cy="1113600"/>
            </p:xfrm>
            <a:graphic>
              <a:graphicData uri="http://schemas.openxmlformats.org/drawingml/2006/table">
                <a:tbl>
                  <a:tblPr firstRow="1" bandRow="1">
                    <a:tableStyleId>{1E171933-4619-4E11-9A3F-F7608DF75F80}</a:tableStyleId>
                  </a:tblPr>
                  <a:tblGrid>
                    <a:gridCol w="1725612">
                      <a:extLst>
                        <a:ext uri="{9D8B030D-6E8A-4147-A177-3AD203B41FA5}">
                          <a16:colId xmlns:a16="http://schemas.microsoft.com/office/drawing/2014/main" val="945333823"/>
                        </a:ext>
                      </a:extLst>
                    </a:gridCol>
                    <a:gridCol w="1725612">
                      <a:extLst>
                        <a:ext uri="{9D8B030D-6E8A-4147-A177-3AD203B41FA5}">
                          <a16:colId xmlns:a16="http://schemas.microsoft.com/office/drawing/2014/main" val="703913221"/>
                        </a:ext>
                      </a:extLst>
                    </a:gridCol>
                    <a:gridCol w="1725612">
                      <a:extLst>
                        <a:ext uri="{9D8B030D-6E8A-4147-A177-3AD203B41FA5}">
                          <a16:colId xmlns:a16="http://schemas.microsoft.com/office/drawing/2014/main" val="3653217936"/>
                        </a:ext>
                      </a:extLst>
                    </a:gridCol>
                    <a:gridCol w="1725612">
                      <a:extLst>
                        <a:ext uri="{9D8B030D-6E8A-4147-A177-3AD203B41FA5}">
                          <a16:colId xmlns:a16="http://schemas.microsoft.com/office/drawing/2014/main" val="1637302215"/>
                        </a:ext>
                      </a:extLst>
                    </a:gridCol>
                    <a:gridCol w="1725612">
                      <a:extLst>
                        <a:ext uri="{9D8B030D-6E8A-4147-A177-3AD203B41FA5}">
                          <a16:colId xmlns:a16="http://schemas.microsoft.com/office/drawing/2014/main" val="1326460804"/>
                        </a:ext>
                      </a:extLst>
                    </a:gridCol>
                    <a:gridCol w="1725612">
                      <a:extLst>
                        <a:ext uri="{9D8B030D-6E8A-4147-A177-3AD203B41FA5}">
                          <a16:colId xmlns:a16="http://schemas.microsoft.com/office/drawing/2014/main" val="3611014614"/>
                        </a:ext>
                      </a:extLst>
                    </a:gridCol>
                  </a:tblGrid>
                  <a:tr h="370840">
                    <a:tc>
                      <a:txBody>
                        <a:bodyPr/>
                        <a:lstStyle/>
                        <a:p>
                          <a:pPr algn="ctr"/>
                          <a:endParaRPr lang="en-US" dirty="0"/>
                        </a:p>
                      </a:txBody>
                      <a:tcPr/>
                    </a:tc>
                    <a:tc>
                      <a:txBody>
                        <a:bodyPr/>
                        <a:lstStyle/>
                        <a:p>
                          <a:pPr algn="ctr"/>
                          <a:r>
                            <a:rPr lang="en-US" dirty="0"/>
                            <a:t>2020</a:t>
                          </a:r>
                        </a:p>
                      </a:txBody>
                      <a:tcPr/>
                    </a:tc>
                    <a:tc>
                      <a:txBody>
                        <a:bodyPr/>
                        <a:lstStyle/>
                        <a:p>
                          <a:pPr algn="ctr"/>
                          <a:r>
                            <a:rPr lang="en-US" dirty="0"/>
                            <a:t>2021</a:t>
                          </a:r>
                        </a:p>
                      </a:txBody>
                      <a:tcPr/>
                    </a:tc>
                    <a:tc>
                      <a:txBody>
                        <a:bodyPr/>
                        <a:lstStyle/>
                        <a:p>
                          <a:pPr algn="ctr"/>
                          <a:r>
                            <a:rPr lang="en-US" dirty="0"/>
                            <a:t>2022</a:t>
                          </a:r>
                        </a:p>
                      </a:txBody>
                      <a:tcPr/>
                    </a:tc>
                    <a:tc>
                      <a:txBody>
                        <a:bodyPr/>
                        <a:lstStyle/>
                        <a:p>
                          <a:pPr algn="ctr"/>
                          <a:r>
                            <a:rPr lang="en-US" dirty="0"/>
                            <a:t>2023</a:t>
                          </a:r>
                        </a:p>
                      </a:txBody>
                      <a:tcPr/>
                    </a:tc>
                    <a:tc>
                      <a:txBody>
                        <a:bodyPr/>
                        <a:lstStyle/>
                        <a:p>
                          <a:pPr algn="ctr"/>
                          <a:r>
                            <a:rPr lang="en-US" dirty="0"/>
                            <a:t>2024</a:t>
                          </a:r>
                        </a:p>
                      </a:txBody>
                      <a:tcPr/>
                    </a:tc>
                    <a:extLst>
                      <a:ext uri="{0D108BD9-81ED-4DB2-BD59-A6C34878D82A}">
                        <a16:rowId xmlns:a16="http://schemas.microsoft.com/office/drawing/2014/main" val="2260161256"/>
                      </a:ext>
                    </a:extLst>
                  </a:tr>
                  <a:tr h="370840">
                    <a:tc>
                      <a:txBody>
                        <a:bodyPr/>
                        <a:lstStyle/>
                        <a:p>
                          <a:pPr algn="ctr"/>
                          <a:r>
                            <a:rPr lang="en-US" dirty="0">
                              <a:solidFill>
                                <a:schemeClr val="bg1"/>
                              </a:solidFill>
                            </a:rPr>
                            <a:t>beta</a:t>
                          </a:r>
                        </a:p>
                      </a:txBody>
                      <a:tcPr/>
                    </a:tc>
                    <a:tc>
                      <a:txBody>
                        <a:bodyPr/>
                        <a:lstStyle/>
                        <a:p>
                          <a:pPr algn="ctr"/>
                          <a:r>
                            <a:rPr lang="el-GR" dirty="0">
                              <a:solidFill>
                                <a:schemeClr val="bg1"/>
                              </a:solidFill>
                            </a:rPr>
                            <a:t>0.622</a:t>
                          </a:r>
                          <a:endParaRPr lang="en-US" dirty="0">
                            <a:solidFill>
                              <a:schemeClr val="bg1"/>
                            </a:solidFill>
                          </a:endParaRPr>
                        </a:p>
                      </a:txBody>
                      <a:tcPr/>
                    </a:tc>
                    <a:tc>
                      <a:txBody>
                        <a:bodyPr/>
                        <a:lstStyle/>
                        <a:p>
                          <a:pPr algn="ctr"/>
                          <a:r>
                            <a:rPr lang="el-GR" dirty="0">
                              <a:solidFill>
                                <a:schemeClr val="bg1"/>
                              </a:solidFill>
                            </a:rPr>
                            <a:t>0.459</a:t>
                          </a:r>
                          <a:endParaRPr lang="en-US" dirty="0">
                            <a:solidFill>
                              <a:schemeClr val="bg1"/>
                            </a:solidFill>
                          </a:endParaRPr>
                        </a:p>
                      </a:txBody>
                      <a:tcPr/>
                    </a:tc>
                    <a:tc>
                      <a:txBody>
                        <a:bodyPr/>
                        <a:lstStyle/>
                        <a:p>
                          <a:pPr algn="ctr"/>
                          <a:r>
                            <a:rPr lang="el-GR" dirty="0">
                              <a:solidFill>
                                <a:schemeClr val="bg1"/>
                              </a:solidFill>
                            </a:rPr>
                            <a:t>0.493</a:t>
                          </a:r>
                          <a:endParaRPr lang="en-US" dirty="0">
                            <a:solidFill>
                              <a:schemeClr val="bg1"/>
                            </a:solidFill>
                          </a:endParaRPr>
                        </a:p>
                      </a:txBody>
                      <a:tcPr/>
                    </a:tc>
                    <a:tc>
                      <a:txBody>
                        <a:bodyPr/>
                        <a:lstStyle/>
                        <a:p>
                          <a:pPr algn="ctr"/>
                          <a:r>
                            <a:rPr lang="el-GR" dirty="0">
                              <a:solidFill>
                                <a:schemeClr val="bg1"/>
                              </a:solidFill>
                            </a:rPr>
                            <a:t>0.455</a:t>
                          </a:r>
                          <a:endParaRPr lang="en-US" dirty="0">
                            <a:solidFill>
                              <a:schemeClr val="bg1"/>
                            </a:solidFill>
                          </a:endParaRPr>
                        </a:p>
                      </a:txBody>
                      <a:tcPr/>
                    </a:tc>
                    <a:tc>
                      <a:txBody>
                        <a:bodyPr/>
                        <a:lstStyle/>
                        <a:p>
                          <a:pPr algn="ctr"/>
                          <a:r>
                            <a:rPr lang="el-GR" dirty="0">
                              <a:solidFill>
                                <a:schemeClr val="bg1"/>
                              </a:solidFill>
                            </a:rPr>
                            <a:t>0.427</a:t>
                          </a:r>
                          <a:endParaRPr lang="en-US" dirty="0">
                            <a:solidFill>
                              <a:schemeClr val="bg1"/>
                            </a:solidFill>
                          </a:endParaRPr>
                        </a:p>
                      </a:txBody>
                      <a:tcPr/>
                    </a:tc>
                    <a:extLst>
                      <a:ext uri="{0D108BD9-81ED-4DB2-BD59-A6C34878D82A}">
                        <a16:rowId xmlns:a16="http://schemas.microsoft.com/office/drawing/2014/main" val="1210423588"/>
                      </a:ext>
                    </a:extLst>
                  </a:tr>
                  <a:tr h="371920">
                    <a:tc>
                      <a:txBody>
                        <a:bodyPr/>
                        <a:lstStyle/>
                        <a:p>
                          <a:endParaRPr lang="en-US"/>
                        </a:p>
                      </a:txBody>
                      <a:tcPr>
                        <a:blipFill>
                          <a:blip r:embed="rId2"/>
                          <a:stretch>
                            <a:fillRect l="-353" t="-211475" r="-501413" b="-22951"/>
                          </a:stretch>
                        </a:blipFill>
                      </a:tcPr>
                    </a:tc>
                    <a:tc>
                      <a:txBody>
                        <a:bodyPr/>
                        <a:lstStyle/>
                        <a:p>
                          <a:pPr algn="ctr"/>
                          <a:r>
                            <a:rPr lang="el-GR" dirty="0">
                              <a:solidFill>
                                <a:schemeClr val="bg1"/>
                              </a:solidFill>
                            </a:rPr>
                            <a:t>42.79%</a:t>
                          </a:r>
                          <a:endParaRPr lang="en-US" dirty="0">
                            <a:solidFill>
                              <a:schemeClr val="bg1"/>
                            </a:solidFill>
                          </a:endParaRPr>
                        </a:p>
                      </a:txBody>
                      <a:tcPr/>
                    </a:tc>
                    <a:tc>
                      <a:txBody>
                        <a:bodyPr/>
                        <a:lstStyle/>
                        <a:p>
                          <a:pPr algn="ctr"/>
                          <a:r>
                            <a:rPr lang="el-GR" dirty="0">
                              <a:solidFill>
                                <a:schemeClr val="bg1"/>
                              </a:solidFill>
                            </a:rPr>
                            <a:t>14.16%</a:t>
                          </a:r>
                          <a:endParaRPr lang="en-US" dirty="0">
                            <a:solidFill>
                              <a:schemeClr val="bg1"/>
                            </a:solidFill>
                          </a:endParaRPr>
                        </a:p>
                      </a:txBody>
                      <a:tcPr/>
                    </a:tc>
                    <a:tc>
                      <a:txBody>
                        <a:bodyPr/>
                        <a:lstStyle/>
                        <a:p>
                          <a:pPr algn="ctr"/>
                          <a:r>
                            <a:rPr lang="el-GR" dirty="0">
                              <a:solidFill>
                                <a:schemeClr val="bg1"/>
                              </a:solidFill>
                            </a:rPr>
                            <a:t>18.14%</a:t>
                          </a:r>
                          <a:endParaRPr lang="en-US" dirty="0">
                            <a:solidFill>
                              <a:schemeClr val="bg1"/>
                            </a:solidFill>
                          </a:endParaRPr>
                        </a:p>
                      </a:txBody>
                      <a:tcPr/>
                    </a:tc>
                    <a:tc>
                      <a:txBody>
                        <a:bodyPr/>
                        <a:lstStyle/>
                        <a:p>
                          <a:pPr algn="ctr"/>
                          <a:r>
                            <a:rPr lang="el-GR" dirty="0">
                              <a:solidFill>
                                <a:schemeClr val="bg1"/>
                              </a:solidFill>
                            </a:rPr>
                            <a:t>11.58%</a:t>
                          </a:r>
                          <a:endParaRPr lang="en-US" dirty="0">
                            <a:solidFill>
                              <a:schemeClr val="bg1"/>
                            </a:solidFill>
                          </a:endParaRPr>
                        </a:p>
                      </a:txBody>
                      <a:tcPr/>
                    </a:tc>
                    <a:tc>
                      <a:txBody>
                        <a:bodyPr/>
                        <a:lstStyle/>
                        <a:p>
                          <a:pPr algn="ctr"/>
                          <a:r>
                            <a:rPr lang="el-GR" dirty="0">
                              <a:solidFill>
                                <a:schemeClr val="bg1"/>
                              </a:solidFill>
                            </a:rPr>
                            <a:t>8.54%</a:t>
                          </a:r>
                          <a:endParaRPr lang="en-US" dirty="0">
                            <a:solidFill>
                              <a:schemeClr val="bg1"/>
                            </a:solidFill>
                          </a:endParaRPr>
                        </a:p>
                      </a:txBody>
                      <a:tcPr/>
                    </a:tc>
                    <a:extLst>
                      <a:ext uri="{0D108BD9-81ED-4DB2-BD59-A6C34878D82A}">
                        <a16:rowId xmlns:a16="http://schemas.microsoft.com/office/drawing/2014/main" val="597403411"/>
                      </a:ext>
                    </a:extLst>
                  </a:tr>
                </a:tbl>
              </a:graphicData>
            </a:graphic>
          </p:graphicFrame>
        </mc:Fallback>
      </mc:AlternateContent>
      <p:sp>
        <p:nvSpPr>
          <p:cNvPr id="5" name="TextBox 4">
            <a:extLst>
              <a:ext uri="{FF2B5EF4-FFF2-40B4-BE49-F238E27FC236}">
                <a16:creationId xmlns:a16="http://schemas.microsoft.com/office/drawing/2014/main" id="{45FBFB12-5DA7-BEBE-3DBA-E058532464E0}"/>
              </a:ext>
            </a:extLst>
          </p:cNvPr>
          <p:cNvSpPr txBox="1"/>
          <p:nvPr/>
        </p:nvSpPr>
        <p:spPr>
          <a:xfrm>
            <a:off x="4313852" y="1896447"/>
            <a:ext cx="4291667" cy="923330"/>
          </a:xfrm>
          <a:prstGeom prst="rect">
            <a:avLst/>
          </a:prstGeom>
          <a:noFill/>
        </p:spPr>
        <p:txBody>
          <a:bodyPr wrap="square" rtlCol="0">
            <a:spAutoFit/>
          </a:bodyPr>
          <a:lstStyle/>
          <a:p>
            <a:r>
              <a:rPr lang="el-GR" dirty="0"/>
              <a:t>6-ετές (01/01/2020 –21/12/2025)</a:t>
            </a:r>
          </a:p>
          <a:p>
            <a:endParaRPr lang="el-GR" dirty="0"/>
          </a:p>
          <a:p>
            <a:endParaRPr lang="en-US" dirty="0"/>
          </a:p>
        </p:txBody>
      </p:sp>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22466443-4B94-A446-49D7-1D93B7B31CAB}"/>
                  </a:ext>
                </a:extLst>
              </p:cNvPr>
              <p:cNvGraphicFramePr>
                <a:graphicFrameLocks noGrp="1"/>
              </p:cNvGraphicFramePr>
              <p:nvPr>
                <p:extLst>
                  <p:ext uri="{D42A27DB-BD31-4B8C-83A1-F6EECF244321}">
                    <p14:modId xmlns:p14="http://schemas.microsoft.com/office/powerpoint/2010/main" val="1825365910"/>
                  </p:ext>
                </p:extLst>
              </p:nvPr>
            </p:nvGraphicFramePr>
            <p:xfrm>
              <a:off x="919164" y="2476863"/>
              <a:ext cx="2852736" cy="742760"/>
            </p:xfrm>
            <a:graphic>
              <a:graphicData uri="http://schemas.openxmlformats.org/drawingml/2006/table">
                <a:tbl>
                  <a:tblPr firstRow="1" bandRow="1">
                    <a:tableStyleId>{00A15C55-8517-42AA-B614-E9B94910E393}</a:tableStyleId>
                  </a:tblPr>
                  <a:tblGrid>
                    <a:gridCol w="1426368">
                      <a:extLst>
                        <a:ext uri="{9D8B030D-6E8A-4147-A177-3AD203B41FA5}">
                          <a16:colId xmlns:a16="http://schemas.microsoft.com/office/drawing/2014/main" val="2839230153"/>
                        </a:ext>
                      </a:extLst>
                    </a:gridCol>
                    <a:gridCol w="1426368">
                      <a:extLst>
                        <a:ext uri="{9D8B030D-6E8A-4147-A177-3AD203B41FA5}">
                          <a16:colId xmlns:a16="http://schemas.microsoft.com/office/drawing/2014/main" val="3389184590"/>
                        </a:ext>
                      </a:extLst>
                    </a:gridCol>
                  </a:tblGrid>
                  <a:tr h="370840">
                    <a:tc>
                      <a:txBody>
                        <a:bodyPr/>
                        <a:lstStyle/>
                        <a:p>
                          <a:pPr algn="ctr"/>
                          <a:r>
                            <a:rPr lang="en-US" dirty="0"/>
                            <a:t>beta</a:t>
                          </a: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b="1" smtClean="0">
                                        <a:solidFill>
                                          <a:schemeClr val="tx1"/>
                                        </a:solidFill>
                                      </a:rPr>
                                    </m:ctrlPr>
                                  </m:sSupPr>
                                  <m:e>
                                    <m:r>
                                      <a:rPr lang="en-US" b="1" smtClean="0">
                                        <a:solidFill>
                                          <a:schemeClr val="tx1"/>
                                        </a:solidFill>
                                      </a:rPr>
                                      <m:t>𝑹</m:t>
                                    </m:r>
                                  </m:e>
                                  <m:sup>
                                    <m:r>
                                      <a:rPr lang="en-US" b="1" smtClean="0">
                                        <a:solidFill>
                                          <a:schemeClr val="tx1"/>
                                        </a:solidFill>
                                      </a:rPr>
                                      <m:t>𝟐</m:t>
                                    </m:r>
                                  </m:sup>
                                </m:sSup>
                              </m:oMath>
                            </m:oMathPara>
                          </a14:m>
                          <a:endParaRPr lang="en-US" b="1" dirty="0"/>
                        </a:p>
                      </a:txBody>
                      <a:tcPr/>
                    </a:tc>
                    <a:extLst>
                      <a:ext uri="{0D108BD9-81ED-4DB2-BD59-A6C34878D82A}">
                        <a16:rowId xmlns:a16="http://schemas.microsoft.com/office/drawing/2014/main" val="3065310256"/>
                      </a:ext>
                    </a:extLst>
                  </a:tr>
                  <a:tr h="370840">
                    <a:tc>
                      <a:txBody>
                        <a:bodyPr/>
                        <a:lstStyle/>
                        <a:p>
                          <a:pPr algn="ctr"/>
                          <a:r>
                            <a:rPr lang="en-US" dirty="0"/>
                            <a:t>0.539</a:t>
                          </a:r>
                        </a:p>
                      </a:txBody>
                      <a:tcPr/>
                    </a:tc>
                    <a:tc>
                      <a:txBody>
                        <a:bodyPr/>
                        <a:lstStyle/>
                        <a:p>
                          <a:pPr algn="ctr"/>
                          <a:r>
                            <a:rPr lang="en-US" dirty="0"/>
                            <a:t>20.27%</a:t>
                          </a:r>
                        </a:p>
                      </a:txBody>
                      <a:tcPr/>
                    </a:tc>
                    <a:extLst>
                      <a:ext uri="{0D108BD9-81ED-4DB2-BD59-A6C34878D82A}">
                        <a16:rowId xmlns:a16="http://schemas.microsoft.com/office/drawing/2014/main" val="2882746792"/>
                      </a:ext>
                    </a:extLst>
                  </a:tr>
                </a:tbl>
              </a:graphicData>
            </a:graphic>
          </p:graphicFrame>
        </mc:Choice>
        <mc:Fallback>
          <p:graphicFrame>
            <p:nvGraphicFramePr>
              <p:cNvPr id="7" name="Table 6">
                <a:extLst>
                  <a:ext uri="{FF2B5EF4-FFF2-40B4-BE49-F238E27FC236}">
                    <a16:creationId xmlns:a16="http://schemas.microsoft.com/office/drawing/2014/main" id="{22466443-4B94-A446-49D7-1D93B7B31CAB}"/>
                  </a:ext>
                </a:extLst>
              </p:cNvPr>
              <p:cNvGraphicFramePr>
                <a:graphicFrameLocks noGrp="1"/>
              </p:cNvGraphicFramePr>
              <p:nvPr>
                <p:extLst>
                  <p:ext uri="{D42A27DB-BD31-4B8C-83A1-F6EECF244321}">
                    <p14:modId xmlns:p14="http://schemas.microsoft.com/office/powerpoint/2010/main" val="1825365910"/>
                  </p:ext>
                </p:extLst>
              </p:nvPr>
            </p:nvGraphicFramePr>
            <p:xfrm>
              <a:off x="919164" y="2476863"/>
              <a:ext cx="2852736" cy="742760"/>
            </p:xfrm>
            <a:graphic>
              <a:graphicData uri="http://schemas.openxmlformats.org/drawingml/2006/table">
                <a:tbl>
                  <a:tblPr firstRow="1" bandRow="1">
                    <a:tableStyleId>{00A15C55-8517-42AA-B614-E9B94910E393}</a:tableStyleId>
                  </a:tblPr>
                  <a:tblGrid>
                    <a:gridCol w="1426368">
                      <a:extLst>
                        <a:ext uri="{9D8B030D-6E8A-4147-A177-3AD203B41FA5}">
                          <a16:colId xmlns:a16="http://schemas.microsoft.com/office/drawing/2014/main" val="2839230153"/>
                        </a:ext>
                      </a:extLst>
                    </a:gridCol>
                    <a:gridCol w="1426368">
                      <a:extLst>
                        <a:ext uri="{9D8B030D-6E8A-4147-A177-3AD203B41FA5}">
                          <a16:colId xmlns:a16="http://schemas.microsoft.com/office/drawing/2014/main" val="3389184590"/>
                        </a:ext>
                      </a:extLst>
                    </a:gridCol>
                  </a:tblGrid>
                  <a:tr h="371920">
                    <a:tc>
                      <a:txBody>
                        <a:bodyPr/>
                        <a:lstStyle/>
                        <a:p>
                          <a:pPr algn="ctr"/>
                          <a:r>
                            <a:rPr lang="en-US" dirty="0"/>
                            <a:t>beta</a:t>
                          </a:r>
                        </a:p>
                      </a:txBody>
                      <a:tcPr/>
                    </a:tc>
                    <a:tc>
                      <a:txBody>
                        <a:bodyPr/>
                        <a:lstStyle/>
                        <a:p>
                          <a:endParaRPr lang="en-US"/>
                        </a:p>
                      </a:txBody>
                      <a:tcPr>
                        <a:blipFill>
                          <a:blip r:embed="rId3"/>
                          <a:stretch>
                            <a:fillRect l="-100855" t="-9677" r="-1709" b="-119355"/>
                          </a:stretch>
                        </a:blipFill>
                      </a:tcPr>
                    </a:tc>
                    <a:extLst>
                      <a:ext uri="{0D108BD9-81ED-4DB2-BD59-A6C34878D82A}">
                        <a16:rowId xmlns:a16="http://schemas.microsoft.com/office/drawing/2014/main" val="3065310256"/>
                      </a:ext>
                    </a:extLst>
                  </a:tr>
                  <a:tr h="370840">
                    <a:tc>
                      <a:txBody>
                        <a:bodyPr/>
                        <a:lstStyle/>
                        <a:p>
                          <a:pPr algn="ctr"/>
                          <a:r>
                            <a:rPr lang="en-US" dirty="0"/>
                            <a:t>0.539</a:t>
                          </a:r>
                        </a:p>
                      </a:txBody>
                      <a:tcPr/>
                    </a:tc>
                    <a:tc>
                      <a:txBody>
                        <a:bodyPr/>
                        <a:lstStyle/>
                        <a:p>
                          <a:pPr algn="ctr"/>
                          <a:r>
                            <a:rPr lang="en-US" dirty="0"/>
                            <a:t>20.27%</a:t>
                          </a:r>
                        </a:p>
                      </a:txBody>
                      <a:tcPr/>
                    </a:tc>
                    <a:extLst>
                      <a:ext uri="{0D108BD9-81ED-4DB2-BD59-A6C34878D82A}">
                        <a16:rowId xmlns:a16="http://schemas.microsoft.com/office/drawing/2014/main" val="2882746792"/>
                      </a:ext>
                    </a:extLst>
                  </a:tr>
                </a:tbl>
              </a:graphicData>
            </a:graphic>
          </p:graphicFrame>
        </mc:Fallback>
      </mc:AlternateContent>
      <p:graphicFrame>
        <p:nvGraphicFramePr>
          <p:cNvPr id="8" name="Chart 7">
            <a:extLst>
              <a:ext uri="{FF2B5EF4-FFF2-40B4-BE49-F238E27FC236}">
                <a16:creationId xmlns:a16="http://schemas.microsoft.com/office/drawing/2014/main" id="{83F88291-784B-C481-87E9-8E3F29EFFBFB}"/>
              </a:ext>
            </a:extLst>
          </p:cNvPr>
          <p:cNvGraphicFramePr>
            <a:graphicFrameLocks/>
          </p:cNvGraphicFramePr>
          <p:nvPr>
            <p:extLst>
              <p:ext uri="{D42A27DB-BD31-4B8C-83A1-F6EECF244321}">
                <p14:modId xmlns:p14="http://schemas.microsoft.com/office/powerpoint/2010/main" val="595925666"/>
              </p:ext>
            </p:extLst>
          </p:nvPr>
        </p:nvGraphicFramePr>
        <p:xfrm>
          <a:off x="4611072" y="2476863"/>
          <a:ext cx="6661764" cy="391813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5251064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2FE04F9-A11A-7EF1-6942-E97FA0F8E347}"/>
                  </a:ext>
                </a:extLst>
              </p:cNvPr>
              <p:cNvSpPr>
                <a:spLocks noGrp="1"/>
              </p:cNvSpPr>
              <p:nvPr>
                <p:ph idx="1"/>
              </p:nvPr>
            </p:nvSpPr>
            <p:spPr>
              <a:xfrm>
                <a:off x="1333502" y="833120"/>
                <a:ext cx="9659618" cy="5208242"/>
              </a:xfrm>
            </p:spPr>
            <p:txBody>
              <a:bodyPr>
                <a:normAutofit fontScale="92500"/>
              </a:bodyPr>
              <a:lstStyle/>
              <a:p>
                <a:pPr marL="36900" indent="0">
                  <a:lnSpc>
                    <a:spcPct val="90000"/>
                  </a:lnSpc>
                  <a:buNone/>
                </a:pPr>
                <a:r>
                  <a:rPr lang="el-GR" sz="2400" b="1" dirty="0">
                    <a:latin typeface="Times New Roman" panose="02020603050405020304" pitchFamily="18" charset="0"/>
                    <a:cs typeface="Times New Roman" panose="02020603050405020304" pitchFamily="18" charset="0"/>
                  </a:rPr>
                  <a:t>Παρατηρήσεις</a:t>
                </a:r>
                <a:r>
                  <a:rPr lang="en-US" sz="2400" b="1"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nSpc>
                    <a:spcPct val="90000"/>
                  </a:lnSpc>
                </a:pPr>
                <a:r>
                  <a:rPr lang="el-GR" dirty="0">
                    <a:latin typeface="Times New Roman" panose="02020603050405020304" pitchFamily="18" charset="0"/>
                    <a:cs typeface="Times New Roman" panose="02020603050405020304" pitchFamily="18" charset="0"/>
                  </a:rPr>
                  <a:t>Η μετοχή εμφανίζει </a:t>
                </a:r>
                <a:r>
                  <a:rPr lang="el-GR" dirty="0" err="1">
                    <a:latin typeface="Times New Roman" panose="02020603050405020304" pitchFamily="18" charset="0"/>
                    <a:cs typeface="Times New Roman" panose="02020603050405020304" pitchFamily="18" charset="0"/>
                  </a:rPr>
                  <a:t>beta</a:t>
                </a:r>
                <a:r>
                  <a:rPr lang="el-GR" dirty="0">
                    <a:latin typeface="Times New Roman" panose="02020603050405020304" pitchFamily="18" charset="0"/>
                    <a:cs typeface="Times New Roman" panose="02020603050405020304" pitchFamily="18" charset="0"/>
                  </a:rPr>
                  <a:t> ≈ 0,54, γεγονός που υποδηλώνει ότι η εταιρεία παρουσιάζει χαμηλότερη ευαισθησία στις διακυμάνσεις της αγοράς σε σχέση με μια τυπική μετοχή. Η συμπεριφορά αυτή είναι συμβατή με τον χαρακτήρα της ΚΡΙ-ΚΡΙ ως εταιρείας του κλάδου τροφίμων, ο οποίος τείνει να θεωρείται πιο αμυντικός σε σχέση με άλλους κλάδους.</a:t>
                </a:r>
              </a:p>
              <a:p>
                <a:pPr>
                  <a:lnSpc>
                    <a:spcPct val="90000"/>
                  </a:lnSpc>
                </a:pPr>
                <a:r>
                  <a:rPr lang="el-GR" dirty="0">
                    <a:latin typeface="Times New Roman" panose="02020603050405020304" pitchFamily="18" charset="0"/>
                    <a:cs typeface="Times New Roman" panose="02020603050405020304" pitchFamily="18" charset="0"/>
                  </a:rPr>
                  <a:t>Το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b="0" dirty="0">
                    <a:latin typeface="Times New Roman" panose="02020603050405020304" pitchFamily="18" charset="0"/>
                    <a:cs typeface="Times New Roman" panose="02020603050405020304" pitchFamily="18" charset="0"/>
                  </a:rPr>
                  <a:t> </a:t>
                </a:r>
                <a:r>
                  <a:rPr lang="el-GR" b="0" dirty="0">
                    <a:latin typeface="Times New Roman" panose="02020603050405020304" pitchFamily="18" charset="0"/>
                    <a:cs typeface="Times New Roman" panose="02020603050405020304" pitchFamily="18" charset="0"/>
                  </a:rPr>
                  <a:t>δεν είναι ιδιαίτερα υψηλό, ειδικά σε κάποια έτη βλέπουμε να πέφτει κάτω από 10%</a:t>
                </a:r>
                <a:r>
                  <a:rPr lang="el-GR" dirty="0">
                    <a:latin typeface="Times New Roman" panose="02020603050405020304" pitchFamily="18" charset="0"/>
                    <a:cs typeface="Times New Roman" panose="02020603050405020304" pitchFamily="18" charset="0"/>
                  </a:rPr>
                  <a:t>. Αυτό υποδεικνύει ότι :</a:t>
                </a:r>
              </a:p>
              <a:p>
                <a:pPr lvl="1">
                  <a:lnSpc>
                    <a:spcPct val="90000"/>
                  </a:lnSpc>
                </a:pPr>
                <a:r>
                  <a:rPr lang="el-GR" sz="1800" b="0" dirty="0">
                    <a:latin typeface="Times New Roman" panose="02020603050405020304" pitchFamily="18" charset="0"/>
                    <a:cs typeface="Times New Roman" panose="02020603050405020304" pitchFamily="18" charset="0"/>
                  </a:rPr>
                  <a:t>Ο παράγοντας αγοράς εξηγεί μικρό μέρος της διακύμανσης των αποδόσεων.</a:t>
                </a:r>
              </a:p>
              <a:p>
                <a:pPr lvl="1">
                  <a:lnSpc>
                    <a:spcPct val="90000"/>
                  </a:lnSpc>
                </a:pPr>
                <a:r>
                  <a:rPr lang="el-GR" sz="1800" b="0" dirty="0">
                    <a:latin typeface="Times New Roman" panose="02020603050405020304" pitchFamily="18" charset="0"/>
                    <a:cs typeface="Times New Roman" panose="02020603050405020304" pitchFamily="18" charset="0"/>
                  </a:rPr>
                  <a:t>Η μεταβλητότητα της μετοχής επηρεάζεται κυρίως από ιδιοσυγκρασιακούς / εταιρικούς παράγοντες.</a:t>
                </a:r>
              </a:p>
              <a:p>
                <a:pPr lvl="1">
                  <a:lnSpc>
                    <a:spcPct val="90000"/>
                  </a:lnSpc>
                </a:pPr>
                <a:r>
                  <a:rPr lang="el-GR" sz="1800" b="0" dirty="0">
                    <a:latin typeface="Times New Roman" panose="02020603050405020304" pitchFamily="18" charset="0"/>
                    <a:cs typeface="Times New Roman" panose="02020603050405020304" pitchFamily="18" charset="0"/>
                  </a:rPr>
                  <a:t>Πιθανές αιτίες: εταιρικά αποτελέσματα, τιμές γάλακτος &amp; περιθώρια, χαμηλή εμπορευσιμότητα.</a:t>
                </a:r>
              </a:p>
              <a:p>
                <a:pPr lvl="1">
                  <a:lnSpc>
                    <a:spcPct val="90000"/>
                  </a:lnSpc>
                </a:pPr>
                <a:r>
                  <a:rPr lang="el-GR" sz="1800" b="0" dirty="0">
                    <a:latin typeface="Times New Roman" panose="02020603050405020304" pitchFamily="18" charset="0"/>
                    <a:cs typeface="Times New Roman" panose="02020603050405020304" pitchFamily="18" charset="0"/>
                  </a:rPr>
                  <a:t>Παρ’ όλα αυτά, το </a:t>
                </a:r>
                <a:r>
                  <a:rPr lang="el-GR" sz="1800" b="0" dirty="0" err="1">
                    <a:latin typeface="Times New Roman" panose="02020603050405020304" pitchFamily="18" charset="0"/>
                    <a:cs typeface="Times New Roman" panose="02020603050405020304" pitchFamily="18" charset="0"/>
                  </a:rPr>
                  <a:t>beta</a:t>
                </a:r>
                <a:r>
                  <a:rPr lang="el-GR" sz="1800" b="0" dirty="0">
                    <a:latin typeface="Times New Roman" panose="02020603050405020304" pitchFamily="18" charset="0"/>
                    <a:cs typeface="Times New Roman" panose="02020603050405020304" pitchFamily="18" charset="0"/>
                  </a:rPr>
                  <a:t> παραμένει κατάλληλο ως μέτρο συστηματικού κινδύνου για το CAPM, με ενίσχυση μέσω κλαδικών </a:t>
                </a:r>
                <a:r>
                  <a:rPr lang="el-GR" sz="1800" b="0" dirty="0" err="1">
                    <a:latin typeface="Times New Roman" panose="02020603050405020304" pitchFamily="18" charset="0"/>
                    <a:cs typeface="Times New Roman" panose="02020603050405020304" pitchFamily="18" charset="0"/>
                  </a:rPr>
                  <a:t>benchmarks</a:t>
                </a:r>
                <a:r>
                  <a:rPr lang="el-GR" sz="1800" b="0" dirty="0">
                    <a:latin typeface="Times New Roman" panose="02020603050405020304" pitchFamily="18" charset="0"/>
                    <a:cs typeface="Times New Roman" panose="02020603050405020304" pitchFamily="18" charset="0"/>
                  </a:rPr>
                  <a:t> όπου χρειάζεται.</a:t>
                </a:r>
                <a:endParaRPr lang="en-US" sz="1800" dirty="0">
                  <a:latin typeface="Times New Roman" panose="02020603050405020304" pitchFamily="18" charset="0"/>
                  <a:cs typeface="Times New Roman" panose="02020603050405020304" pitchFamily="18" charset="0"/>
                </a:endParaRPr>
              </a:p>
              <a:p>
                <a:pPr>
                  <a:lnSpc>
                    <a:spcPct val="90000"/>
                  </a:lnSpc>
                </a:pPr>
                <a:r>
                  <a:rPr lang="el-GR" dirty="0">
                    <a:latin typeface="Times New Roman" panose="02020603050405020304" pitchFamily="18" charset="0"/>
                    <a:cs typeface="Times New Roman" panose="02020603050405020304" pitchFamily="18" charset="0"/>
                  </a:rPr>
                  <a:t>Το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𝑅</m:t>
                        </m:r>
                      </m:e>
                      <m:sup>
                        <m:r>
                          <a:rPr lang="ar-AE">
                            <a:latin typeface="Cambria Math" panose="02040503050406030204" pitchFamily="18" charset="0"/>
                          </a:rPr>
                          <m:t>2</m:t>
                        </m:r>
                      </m:sup>
                    </m:sSup>
                  </m:oMath>
                </a14:m>
                <a:r>
                  <a:rPr lang="el-GR" dirty="0">
                    <a:latin typeface="Times New Roman" panose="02020603050405020304" pitchFamily="18" charset="0"/>
                    <a:cs typeface="Times New Roman" panose="02020603050405020304" pitchFamily="18" charset="0"/>
                  </a:rPr>
                  <a:t>για το 2020 εμφανίζεται σημαντικά υψηλότερο σε σχέση με τα υπόλοιπα έτη. Αυτό είναι αναμενόμενο, καθώς κατά την περίοδο της πανδημίας ο </a:t>
                </a:r>
                <a:r>
                  <a:rPr lang="el-GR" b="1" dirty="0">
                    <a:latin typeface="Times New Roman" panose="02020603050405020304" pitchFamily="18" charset="0"/>
                    <a:cs typeface="Times New Roman" panose="02020603050405020304" pitchFamily="18" charset="0"/>
                  </a:rPr>
                  <a:t>συστημικός κίνδυνος</a:t>
                </a:r>
                <a:r>
                  <a:rPr lang="el-GR" dirty="0">
                    <a:latin typeface="Times New Roman" panose="02020603050405020304" pitchFamily="18" charset="0"/>
                    <a:cs typeface="Times New Roman" panose="02020603050405020304" pitchFamily="18" charset="0"/>
                  </a:rPr>
                  <a:t> κυριάρχησε στις αγορές και οι αποδόσεις των περισσότερων μετοχών —συμπεριλαμβανομένης της ΚΡΙ-ΚΡΙ— επηρεάστηκαν έντονα από τις </a:t>
                </a:r>
                <a:r>
                  <a:rPr lang="el-GR" b="1" dirty="0">
                    <a:latin typeface="Times New Roman" panose="02020603050405020304" pitchFamily="18" charset="0"/>
                    <a:cs typeface="Times New Roman" panose="02020603050405020304" pitchFamily="18" charset="0"/>
                  </a:rPr>
                  <a:t>γενικότερες κινήσεις της αγοράς</a:t>
                </a:r>
                <a:r>
                  <a:rPr lang="el-GR" dirty="0">
                    <a:latin typeface="Times New Roman" panose="02020603050405020304" pitchFamily="18" charset="0"/>
                    <a:cs typeface="Times New Roman" panose="02020603050405020304" pitchFamily="18" charset="0"/>
                  </a:rPr>
                  <a:t>. Συνεπώς, η διακύμανση της τιμής της μετοχής το 2020 εξηγείται σε μεγαλύτερο βαθμό από τη διακύμανση του Γενικού Δείκτη.</a:t>
                </a:r>
                <a:endParaRPr lang="en-US" b="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12FE04F9-A11A-7EF1-6942-E97FA0F8E347}"/>
                  </a:ext>
                </a:extLst>
              </p:cNvPr>
              <p:cNvSpPr>
                <a:spLocks noGrp="1" noRot="1" noChangeAspect="1" noMove="1" noResize="1" noEditPoints="1" noAdjustHandles="1" noChangeArrowheads="1" noChangeShapeType="1" noTextEdit="1"/>
              </p:cNvSpPr>
              <p:nvPr>
                <p:ph idx="1"/>
              </p:nvPr>
            </p:nvSpPr>
            <p:spPr>
              <a:xfrm>
                <a:off x="1333502" y="833120"/>
                <a:ext cx="9659618" cy="5208242"/>
              </a:xfrm>
              <a:blipFill>
                <a:blip r:embed="rId2"/>
                <a:stretch>
                  <a:fillRect l="-442" t="-1405" r="-63"/>
                </a:stretch>
              </a:blipFill>
            </p:spPr>
            <p:txBody>
              <a:bodyPr/>
              <a:lstStyle/>
              <a:p>
                <a:r>
                  <a:rPr lang="en-US">
                    <a:noFill/>
                  </a:rPr>
                  <a:t> </a:t>
                </a:r>
              </a:p>
            </p:txBody>
          </p:sp>
        </mc:Fallback>
      </mc:AlternateContent>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5627627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1D98101-5274-0DAA-0617-0DCAD52323BA}"/>
              </a:ext>
            </a:extLst>
          </p:cNvPr>
          <p:cNvGraphicFramePr>
            <a:graphicFrameLocks noGrp="1"/>
          </p:cNvGraphicFramePr>
          <p:nvPr>
            <p:ph idx="1"/>
            <p:extLst>
              <p:ext uri="{D42A27DB-BD31-4B8C-83A1-F6EECF244321}">
                <p14:modId xmlns:p14="http://schemas.microsoft.com/office/powerpoint/2010/main" val="159548109"/>
              </p:ext>
            </p:extLst>
          </p:nvPr>
        </p:nvGraphicFramePr>
        <p:xfrm>
          <a:off x="843281" y="882646"/>
          <a:ext cx="3150998" cy="243871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E68098C7-4937-4FC9-85D3-07F59301B7A1}"/>
              </a:ext>
            </a:extLst>
          </p:cNvPr>
          <p:cNvGraphicFramePr>
            <a:graphicFrameLocks/>
          </p:cNvGraphicFramePr>
          <p:nvPr>
            <p:extLst>
              <p:ext uri="{D42A27DB-BD31-4B8C-83A1-F6EECF244321}">
                <p14:modId xmlns:p14="http://schemas.microsoft.com/office/powerpoint/2010/main" val="1390356073"/>
              </p:ext>
            </p:extLst>
          </p:nvPr>
        </p:nvGraphicFramePr>
        <p:xfrm>
          <a:off x="4327278" y="871530"/>
          <a:ext cx="3313924" cy="24609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A33F0D1E-2269-4B10-9BC1-D21BBFA5F7D4}"/>
              </a:ext>
            </a:extLst>
          </p:cNvPr>
          <p:cNvGraphicFramePr>
            <a:graphicFrameLocks/>
          </p:cNvGraphicFramePr>
          <p:nvPr>
            <p:extLst>
              <p:ext uri="{D42A27DB-BD31-4B8C-83A1-F6EECF244321}">
                <p14:modId xmlns:p14="http://schemas.microsoft.com/office/powerpoint/2010/main" val="2213265892"/>
              </p:ext>
            </p:extLst>
          </p:nvPr>
        </p:nvGraphicFramePr>
        <p:xfrm>
          <a:off x="8008360" y="871530"/>
          <a:ext cx="3340359" cy="24609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5530D3F3-EB1F-4042-97D6-19F7373DA802}"/>
              </a:ext>
            </a:extLst>
          </p:cNvPr>
          <p:cNvGraphicFramePr>
            <a:graphicFrameLocks/>
          </p:cNvGraphicFramePr>
          <p:nvPr>
            <p:extLst>
              <p:ext uri="{D42A27DB-BD31-4B8C-83A1-F6EECF244321}">
                <p14:modId xmlns:p14="http://schemas.microsoft.com/office/powerpoint/2010/main" val="1094355511"/>
              </p:ext>
            </p:extLst>
          </p:nvPr>
        </p:nvGraphicFramePr>
        <p:xfrm>
          <a:off x="843282" y="3499005"/>
          <a:ext cx="3150998" cy="246094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8">
            <a:extLst>
              <a:ext uri="{FF2B5EF4-FFF2-40B4-BE49-F238E27FC236}">
                <a16:creationId xmlns:a16="http://schemas.microsoft.com/office/drawing/2014/main" id="{0BBB9B4B-4C20-4050-93E9-9CF1DDC30C8C}"/>
              </a:ext>
            </a:extLst>
          </p:cNvPr>
          <p:cNvGraphicFramePr>
            <a:graphicFrameLocks/>
          </p:cNvGraphicFramePr>
          <p:nvPr>
            <p:extLst>
              <p:ext uri="{D42A27DB-BD31-4B8C-83A1-F6EECF244321}">
                <p14:modId xmlns:p14="http://schemas.microsoft.com/office/powerpoint/2010/main" val="1873148996"/>
              </p:ext>
            </p:extLst>
          </p:nvPr>
        </p:nvGraphicFramePr>
        <p:xfrm>
          <a:off x="4327278" y="3499005"/>
          <a:ext cx="3312369" cy="2460950"/>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Box 9">
            <a:extLst>
              <a:ext uri="{FF2B5EF4-FFF2-40B4-BE49-F238E27FC236}">
                <a16:creationId xmlns:a16="http://schemas.microsoft.com/office/drawing/2014/main" id="{B2F85827-4F09-285A-D834-8D61EF283A2B}"/>
              </a:ext>
            </a:extLst>
          </p:cNvPr>
          <p:cNvSpPr txBox="1"/>
          <p:nvPr/>
        </p:nvSpPr>
        <p:spPr>
          <a:xfrm>
            <a:off x="843281" y="203200"/>
            <a:ext cx="10505438"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Capital Structure</a:t>
            </a:r>
          </a:p>
        </p:txBody>
      </p:sp>
      <p:sp>
        <p:nvSpPr>
          <p:cNvPr id="11" name="TextBox 10">
            <a:extLst>
              <a:ext uri="{FF2B5EF4-FFF2-40B4-BE49-F238E27FC236}">
                <a16:creationId xmlns:a16="http://schemas.microsoft.com/office/drawing/2014/main" id="{BCEBDC23-EE4E-78A7-18DE-B186C1D80FE5}"/>
              </a:ext>
            </a:extLst>
          </p:cNvPr>
          <p:cNvSpPr txBox="1"/>
          <p:nvPr/>
        </p:nvSpPr>
        <p:spPr>
          <a:xfrm>
            <a:off x="8008358" y="3499005"/>
            <a:ext cx="3340360" cy="2585323"/>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Η εταιρεία εμφανίζει </a:t>
            </a:r>
            <a:r>
              <a:rPr lang="el-GR" b="1" dirty="0">
                <a:latin typeface="Times New Roman" panose="02020603050405020304" pitchFamily="18" charset="0"/>
                <a:cs typeface="Times New Roman" panose="02020603050405020304" pitchFamily="18" charset="0"/>
              </a:rPr>
              <a:t>χαμηλή δανειακή </a:t>
            </a:r>
            <a:r>
              <a:rPr lang="el-GR" b="1" dirty="0" err="1">
                <a:latin typeface="Times New Roman" panose="02020603050405020304" pitchFamily="18" charset="0"/>
                <a:cs typeface="Times New Roman" panose="02020603050405020304" pitchFamily="18" charset="0"/>
              </a:rPr>
              <a:t>μόχλευση</a:t>
            </a:r>
            <a:r>
              <a:rPr lang="el-GR" dirty="0">
                <a:latin typeface="Times New Roman" panose="02020603050405020304" pitchFamily="18" charset="0"/>
                <a:cs typeface="Times New Roman" panose="02020603050405020304" pitchFamily="18" charset="0"/>
              </a:rPr>
              <a:t>, καθώς το μεγαλύτερο μέρος της χρηματοδότησής της προέρχεται από τα </a:t>
            </a:r>
            <a:r>
              <a:rPr lang="el-GR" b="1" dirty="0">
                <a:latin typeface="Times New Roman" panose="02020603050405020304" pitchFamily="18" charset="0"/>
                <a:cs typeface="Times New Roman" panose="02020603050405020304" pitchFamily="18" charset="0"/>
              </a:rPr>
              <a:t>ίδια κεφάλαια</a:t>
            </a:r>
            <a:r>
              <a:rPr lang="en-US" b="1"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(&gt;93% όλα τα έτη). Το Capital </a:t>
            </a:r>
            <a:r>
              <a:rPr lang="en-US" dirty="0">
                <a:latin typeface="Times New Roman" panose="02020603050405020304" pitchFamily="18" charset="0"/>
                <a:cs typeface="Times New Roman" panose="02020603050405020304" pitchFamily="18" charset="0"/>
              </a:rPr>
              <a:t>Structure</a:t>
            </a:r>
            <a:r>
              <a:rPr lang="el-GR" dirty="0">
                <a:latin typeface="Times New Roman" panose="02020603050405020304" pitchFamily="18" charset="0"/>
                <a:cs typeface="Times New Roman" panose="02020603050405020304" pitchFamily="18" charset="0"/>
              </a:rPr>
              <a:t> υποδηλώνει περιορισμένη εξάρτηση από τραπεζικό δανεισμό.</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330628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88D39B-11B3-CDF1-3155-103C9B39A78A}"/>
              </a:ext>
            </a:extLst>
          </p:cNvPr>
          <p:cNvSpPr>
            <a:spLocks noGrp="1"/>
          </p:cNvSpPr>
          <p:nvPr>
            <p:ph type="title"/>
          </p:nvPr>
        </p:nvSpPr>
        <p:spPr>
          <a:xfrm>
            <a:off x="1333502" y="609600"/>
            <a:ext cx="8596668" cy="731520"/>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WACC</a:t>
            </a:r>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2CA703C-A634-15D1-82EC-88E510D87512}"/>
                  </a:ext>
                </a:extLst>
              </p:cNvPr>
              <p:cNvSpPr>
                <a:spLocks noGrp="1"/>
              </p:cNvSpPr>
              <p:nvPr>
                <p:ph idx="1"/>
              </p:nvPr>
            </p:nvSpPr>
            <p:spPr>
              <a:xfrm>
                <a:off x="1333502" y="1412241"/>
                <a:ext cx="10096498" cy="4629122"/>
              </a:xfrm>
            </p:spPr>
            <p:txBody>
              <a:bodyPr>
                <a:normAutofit/>
              </a:bodyPr>
              <a:lstStyle/>
              <a:p>
                <a:pPr marL="36900" indent="0">
                  <a:lnSpc>
                    <a:spcPct val="90000"/>
                  </a:lnSpc>
                  <a:buNone/>
                </a:pPr>
                <a:r>
                  <a:rPr lang="el-GR" sz="1400" b="1" dirty="0">
                    <a:latin typeface="Times New Roman" panose="02020603050405020304" pitchFamily="18" charset="0"/>
                    <a:cs typeface="Times New Roman" panose="02020603050405020304" pitchFamily="18" charset="0"/>
                  </a:rPr>
                  <a:t>Σημειώσεις</a:t>
                </a:r>
                <a:r>
                  <a:rPr lang="en-US" sz="1400" b="1" dirty="0">
                    <a:latin typeface="Times New Roman" panose="02020603050405020304" pitchFamily="18" charset="0"/>
                    <a:cs typeface="Times New Roman" panose="02020603050405020304" pitchFamily="18" charset="0"/>
                  </a:rPr>
                  <a:t>:</a:t>
                </a:r>
              </a:p>
              <a:p>
                <a:pPr marL="36900" indent="0">
                  <a:lnSpc>
                    <a:spcPct val="90000"/>
                  </a:lnSpc>
                  <a:buNone/>
                </a:pPr>
                <a:r>
                  <a:rPr lang="el-GR" sz="1400" dirty="0">
                    <a:latin typeface="Times New Roman" panose="02020603050405020304" pitchFamily="18" charset="0"/>
                    <a:cs typeface="Times New Roman" panose="02020603050405020304" pitchFamily="18" charset="0"/>
                  </a:rPr>
                  <a:t>Για το </a:t>
                </a:r>
                <a:r>
                  <a:rPr lang="en-US" sz="1400" dirty="0">
                    <a:latin typeface="Times New Roman" panose="02020603050405020304" pitchFamily="18" charset="0"/>
                    <a:cs typeface="Times New Roman" panose="02020603050405020304" pitchFamily="18" charset="0"/>
                  </a:rPr>
                  <a:t>WACC </a:t>
                </a:r>
                <a:r>
                  <a:rPr lang="el-GR" sz="1400" dirty="0">
                    <a:latin typeface="Times New Roman" panose="02020603050405020304" pitchFamily="18" charset="0"/>
                    <a:cs typeface="Times New Roman" panose="02020603050405020304" pitchFamily="18" charset="0"/>
                  </a:rPr>
                  <a:t>χρησιμοποιήσαμε</a:t>
                </a:r>
                <a:r>
                  <a:rPr lang="en-US" sz="1400" dirty="0">
                    <a:latin typeface="Times New Roman" panose="02020603050405020304" pitchFamily="18" charset="0"/>
                    <a:cs typeface="Times New Roman" panose="02020603050405020304" pitchFamily="18" charset="0"/>
                  </a:rPr>
                  <a:t>:</a:t>
                </a:r>
              </a:p>
              <a:p>
                <a:pPr>
                  <a:lnSpc>
                    <a:spcPct val="90000"/>
                  </a:lnSpc>
                </a:pPr>
                <a:r>
                  <a:rPr lang="en-US" sz="1400" b="1" dirty="0"/>
                  <a:t>Cost of Equity (Ke) – </a:t>
                </a:r>
                <a:r>
                  <a:rPr lang="el-GR" sz="1400" b="1" dirty="0"/>
                  <a:t>μέσω</a:t>
                </a:r>
                <a:r>
                  <a:rPr lang="en-US" sz="1400" b="1" dirty="0"/>
                  <a:t> CAPM</a:t>
                </a:r>
                <a:r>
                  <a:rPr lang="el-GR" sz="1400" dirty="0"/>
                  <a:t>: Ω</a:t>
                </a:r>
                <a:r>
                  <a:rPr lang="el-GR" sz="1400" dirty="0">
                    <a:latin typeface="Times New Roman" panose="02020603050405020304" pitchFamily="18" charset="0"/>
                    <a:cs typeface="Times New Roman" panose="02020603050405020304" pitchFamily="18" charset="0"/>
                  </a:rPr>
                  <a:t>ς </a:t>
                </a:r>
                <a:r>
                  <a:rPr lang="en-US" sz="1400" dirty="0">
                    <a:latin typeface="Times New Roman" panose="02020603050405020304" pitchFamily="18" charset="0"/>
                    <a:cs typeface="Times New Roman" panose="02020603050405020304" pitchFamily="18" charset="0"/>
                  </a:rPr>
                  <a:t>risk free rate (Rf) </a:t>
                </a:r>
                <a:r>
                  <a:rPr lang="el-GR" sz="1400" dirty="0">
                    <a:latin typeface="Times New Roman" panose="02020603050405020304" pitchFamily="18" charset="0"/>
                    <a:cs typeface="Times New Roman" panose="02020603050405020304" pitchFamily="18" charset="0"/>
                  </a:rPr>
                  <a:t>χρησιμοποιήθηκε η τρέχουσα απόδοση του 10ετούς ελληνικού κρατικού ομολόγου και ως </a:t>
                </a:r>
                <a:r>
                  <a:rPr lang="en-US" sz="1400" dirty="0">
                    <a:latin typeface="Times New Roman" panose="02020603050405020304" pitchFamily="18" charset="0"/>
                    <a:cs typeface="Times New Roman" panose="02020603050405020304" pitchFamily="18" charset="0"/>
                  </a:rPr>
                  <a:t>market return (Rm) </a:t>
                </a:r>
                <a:r>
                  <a:rPr lang="el-GR" sz="1400" dirty="0">
                    <a:latin typeface="Times New Roman" panose="02020603050405020304" pitchFamily="18" charset="0"/>
                    <a:cs typeface="Times New Roman" panose="02020603050405020304" pitchFamily="18" charset="0"/>
                  </a:rPr>
                  <a:t>χρησιμοποιήθηκε η εκτιμώμενη απόδοση της αγοράς, η οποία προσεγγίστηκε μέσω του </a:t>
                </a:r>
                <a14:m>
                  <m:oMath xmlns:m="http://schemas.openxmlformats.org/officeDocument/2006/math">
                    <m:f>
                      <m:fPr>
                        <m:ctrlPr>
                          <a:rPr lang="en-US" sz="1400" b="0" i="1" smtClean="0">
                            <a:latin typeface="Cambria Math" panose="02040503050406030204" pitchFamily="18" charset="0"/>
                            <a:cs typeface="Times New Roman" panose="02020603050405020304" pitchFamily="18" charset="0"/>
                          </a:rPr>
                        </m:ctrlPr>
                      </m:fPr>
                      <m:num>
                        <m:r>
                          <a:rPr lang="en-US" sz="1400" b="0" i="1" smtClean="0">
                            <a:latin typeface="Cambria Math" panose="02040503050406030204" pitchFamily="18" charset="0"/>
                            <a:cs typeface="Times New Roman" panose="02020603050405020304" pitchFamily="18" charset="0"/>
                          </a:rPr>
                          <m:t>1</m:t>
                        </m:r>
                      </m:num>
                      <m:den>
                        <m:r>
                          <m:rPr>
                            <m:sty m:val="p"/>
                          </m:rPr>
                          <a:rPr lang="en-US" sz="1400" b="0" i="1" smtClean="0">
                            <a:latin typeface="Cambria Math" panose="02040503050406030204" pitchFamily="18" charset="0"/>
                            <a:cs typeface="Times New Roman" panose="02020603050405020304" pitchFamily="18" charset="0"/>
                          </a:rPr>
                          <m:t>P</m:t>
                        </m:r>
                        <m:r>
                          <a:rPr lang="en-US" sz="1400" b="0" i="1" smtClean="0">
                            <a:latin typeface="Cambria Math" panose="02040503050406030204" pitchFamily="18" charset="0"/>
                            <a:cs typeface="Times New Roman" panose="02020603050405020304" pitchFamily="18" charset="0"/>
                          </a:rPr>
                          <m:t>/</m:t>
                        </m:r>
                        <m:r>
                          <m:rPr>
                            <m:sty m:val="p"/>
                          </m:rPr>
                          <a:rPr lang="en-US" sz="1400" b="0" i="1" smtClean="0">
                            <a:latin typeface="Cambria Math" panose="02040503050406030204" pitchFamily="18" charset="0"/>
                            <a:cs typeface="Times New Roman" panose="02020603050405020304" pitchFamily="18" charset="0"/>
                          </a:rPr>
                          <m:t>E</m:t>
                        </m:r>
                      </m:den>
                    </m:f>
                  </m:oMath>
                </a14:m>
                <a:r>
                  <a:rPr lang="en-US" sz="1400" b="0" dirty="0">
                    <a:latin typeface="Times New Roman" panose="02020603050405020304" pitchFamily="18" charset="0"/>
                    <a:cs typeface="Times New Roman" panose="02020603050405020304" pitchFamily="18" charset="0"/>
                  </a:rPr>
                  <a:t> </a:t>
                </a:r>
                <a:r>
                  <a:rPr lang="el-GR" sz="1400" b="0" dirty="0">
                    <a:latin typeface="Times New Roman" panose="02020603050405020304" pitchFamily="18" charset="0"/>
                    <a:cs typeface="Times New Roman" panose="02020603050405020304" pitchFamily="18" charset="0"/>
                  </a:rPr>
                  <a:t>του δείκτη Α</a:t>
                </a:r>
                <a:r>
                  <a:rPr lang="en-US" sz="1400" b="0" dirty="0">
                    <a:latin typeface="Times New Roman" panose="02020603050405020304" pitchFamily="18" charset="0"/>
                    <a:cs typeface="Times New Roman" panose="02020603050405020304" pitchFamily="18" charset="0"/>
                  </a:rPr>
                  <a:t>TG </a:t>
                </a:r>
                <a:r>
                  <a:rPr lang="el-GR" sz="1400" b="0" dirty="0">
                    <a:latin typeface="Times New Roman" panose="02020603050405020304" pitchFamily="18" charset="0"/>
                    <a:cs typeface="Times New Roman" panose="02020603050405020304" pitchFamily="18" charset="0"/>
                  </a:rPr>
                  <a:t>(σταθμισμένο </a:t>
                </a:r>
                <a:r>
                  <a:rPr lang="en-US" sz="1400" b="0" dirty="0">
                    <a:latin typeface="Times New Roman" panose="02020603050405020304" pitchFamily="18" charset="0"/>
                    <a:cs typeface="Times New Roman" panose="02020603050405020304" pitchFamily="18" charset="0"/>
                  </a:rPr>
                  <a:t>P/E </a:t>
                </a:r>
                <a:r>
                  <a:rPr lang="el-GR" sz="1400" b="0" dirty="0">
                    <a:latin typeface="Times New Roman" panose="02020603050405020304" pitchFamily="18" charset="0"/>
                    <a:cs typeface="Times New Roman" panose="02020603050405020304" pitchFamily="18" charset="0"/>
                  </a:rPr>
                  <a:t>των </a:t>
                </a:r>
                <a:r>
                  <a:rPr lang="en-US" sz="1400" b="0" dirty="0">
                    <a:latin typeface="Times New Roman" panose="02020603050405020304" pitchFamily="18" charset="0"/>
                    <a:cs typeface="Times New Roman" panose="02020603050405020304" pitchFamily="18" charset="0"/>
                  </a:rPr>
                  <a:t>30 </a:t>
                </a:r>
                <a:r>
                  <a:rPr lang="el-GR" sz="1400" b="0" dirty="0">
                    <a:latin typeface="Times New Roman" panose="02020603050405020304" pitchFamily="18" charset="0"/>
                    <a:cs typeface="Times New Roman" panose="02020603050405020304" pitchFamily="18" charset="0"/>
                  </a:rPr>
                  <a:t>συμμετεχόντων εταιρειών ανάλογα με το </a:t>
                </a:r>
                <a:r>
                  <a:rPr lang="en-US" sz="1400" b="0" dirty="0">
                    <a:latin typeface="Times New Roman" panose="02020603050405020304" pitchFamily="18" charset="0"/>
                    <a:cs typeface="Times New Roman" panose="02020603050405020304" pitchFamily="18" charset="0"/>
                  </a:rPr>
                  <a:t>market cap)</a:t>
                </a:r>
                <a:r>
                  <a:rPr lang="el-GR" sz="1400" b="0" dirty="0">
                    <a:latin typeface="Times New Roman" panose="02020603050405020304" pitchFamily="18" charset="0"/>
                    <a:cs typeface="Times New Roman" panose="02020603050405020304" pitchFamily="18" charset="0"/>
                  </a:rPr>
                  <a:t> </a:t>
                </a:r>
                <a:endParaRPr lang="en-US" sz="1400" b="1" dirty="0">
                  <a:latin typeface="Times New Roman" panose="02020603050405020304" pitchFamily="18" charset="0"/>
                  <a:cs typeface="Times New Roman" panose="02020603050405020304" pitchFamily="18" charset="0"/>
                </a:endParaRPr>
              </a:p>
              <a:p>
                <a:pPr marL="2560400" lvl="7" indent="0">
                  <a:lnSpc>
                    <a:spcPct val="90000"/>
                  </a:lnSpc>
                  <a:buNone/>
                </a:pPr>
                <a:r>
                  <a:rPr lang="en-US" sz="1400" dirty="0">
                    <a:latin typeface="Times New Roman" panose="02020603050405020304" pitchFamily="18" charset="0"/>
                    <a:cs typeface="Times New Roman" panose="02020603050405020304" pitchFamily="18" charset="0"/>
                  </a:rPr>
                  <a:t>Rf = 3.47%, Rm =15.42%, MRP = 11.96%, </a:t>
                </a:r>
                <a:r>
                  <a:rPr lang="en-US" sz="1400" b="1" dirty="0">
                    <a:latin typeface="Times New Roman" panose="02020603050405020304" pitchFamily="18" charset="0"/>
                    <a:cs typeface="Times New Roman" panose="02020603050405020304" pitchFamily="18" charset="0"/>
                  </a:rPr>
                  <a:t>Ke = 9.91%</a:t>
                </a:r>
                <a:endParaRPr lang="el-GR" sz="1400" b="1" dirty="0">
                  <a:latin typeface="Times New Roman" panose="02020603050405020304" pitchFamily="18" charset="0"/>
                  <a:cs typeface="Times New Roman" panose="02020603050405020304" pitchFamily="18" charset="0"/>
                </a:endParaRPr>
              </a:p>
              <a:p>
                <a:pPr>
                  <a:lnSpc>
                    <a:spcPct val="90000"/>
                  </a:lnSpc>
                </a:pPr>
                <a:r>
                  <a:rPr lang="en-US" sz="1400" b="1" dirty="0">
                    <a:latin typeface="Times New Roman" panose="02020603050405020304" pitchFamily="18" charset="0"/>
                    <a:cs typeface="Times New Roman" panose="02020603050405020304" pitchFamily="18" charset="0"/>
                  </a:rPr>
                  <a:t>Cost of Dept (</a:t>
                </a:r>
                <a:r>
                  <a:rPr lang="en-US" sz="1400" b="1" dirty="0" err="1">
                    <a:latin typeface="Times New Roman" panose="02020603050405020304" pitchFamily="18" charset="0"/>
                    <a:cs typeface="Times New Roman" panose="02020603050405020304" pitchFamily="18" charset="0"/>
                  </a:rPr>
                  <a:t>Kd</a:t>
                </a:r>
                <a:r>
                  <a:rPr lang="en-US" sz="1400" b="1" dirty="0">
                    <a:latin typeface="Times New Roman" panose="02020603050405020304" pitchFamily="18" charset="0"/>
                    <a:cs typeface="Times New Roman" panose="02020603050405020304" pitchFamily="18" charset="0"/>
                  </a:rPr>
                  <a:t>): </a:t>
                </a:r>
                <a:r>
                  <a:rPr lang="el-GR" sz="1400" dirty="0">
                    <a:latin typeface="Times New Roman" panose="02020603050405020304" pitchFamily="18" charset="0"/>
                    <a:cs typeface="Times New Roman" panose="02020603050405020304" pitchFamily="18" charset="0"/>
                  </a:rPr>
                  <a:t>χρησιμοποιήσαμε το ποσοστό </a:t>
                </a:r>
                <a14:m>
                  <m:oMath xmlns:m="http://schemas.openxmlformats.org/officeDocument/2006/math">
                    <m:d>
                      <m:dPr>
                        <m:ctrlPr>
                          <a:rPr lang="en-US" sz="1400" b="0" i="1" smtClean="0">
                            <a:latin typeface="Cambria Math" panose="02040503050406030204" pitchFamily="18" charset="0"/>
                            <a:cs typeface="Times New Roman" panose="02020603050405020304" pitchFamily="18" charset="0"/>
                          </a:rPr>
                        </m:ctrlPr>
                      </m:dPr>
                      <m:e>
                        <m:r>
                          <a:rPr lang="en-US" sz="1400" b="0" i="1" smtClean="0">
                            <a:latin typeface="Cambria Math" panose="02040503050406030204" pitchFamily="18" charset="0"/>
                            <a:cs typeface="Times New Roman" panose="02020603050405020304" pitchFamily="18" charset="0"/>
                          </a:rPr>
                          <m:t>𝑖𝑛𝑡𝑒𝑟𝑒𝑠𝑡</m:t>
                        </m:r>
                        <m:r>
                          <a:rPr lang="en-US" sz="1400" b="0" i="1" smtClean="0">
                            <a:latin typeface="Cambria Math" panose="02040503050406030204" pitchFamily="18" charset="0"/>
                            <a:cs typeface="Times New Roman" panose="02020603050405020304" pitchFamily="18" charset="0"/>
                          </a:rPr>
                          <m:t>−</m:t>
                        </m:r>
                        <m:r>
                          <a:rPr lang="en-US" sz="1400" b="0" i="1" smtClean="0">
                            <a:latin typeface="Cambria Math" panose="02040503050406030204" pitchFamily="18" charset="0"/>
                            <a:cs typeface="Times New Roman" panose="02020603050405020304" pitchFamily="18" charset="0"/>
                          </a:rPr>
                          <m:t>𝑝𝑎𝑖𝑑</m:t>
                        </m:r>
                      </m:e>
                    </m:d>
                    <m:r>
                      <m:rPr>
                        <m:lit/>
                      </m:rPr>
                      <a:rPr lang="en-US" sz="1400" b="0" i="1" smtClean="0">
                        <a:latin typeface="Cambria Math" panose="02040503050406030204" pitchFamily="18" charset="0"/>
                        <a:cs typeface="Times New Roman" panose="02020603050405020304" pitchFamily="18" charset="0"/>
                      </a:rPr>
                      <m:t>/</m:t>
                    </m:r>
                    <m:d>
                      <m:dPr>
                        <m:ctrlPr>
                          <a:rPr lang="en-US" sz="1400" b="0" i="1" smtClean="0">
                            <a:latin typeface="Cambria Math" panose="02040503050406030204" pitchFamily="18" charset="0"/>
                            <a:cs typeface="Times New Roman" panose="02020603050405020304" pitchFamily="18" charset="0"/>
                          </a:rPr>
                        </m:ctrlPr>
                      </m:dPr>
                      <m:e>
                        <m:r>
                          <a:rPr lang="en-US" sz="1400" b="0" i="1" smtClean="0">
                            <a:latin typeface="Cambria Math" panose="02040503050406030204" pitchFamily="18" charset="0"/>
                            <a:cs typeface="Times New Roman" panose="02020603050405020304" pitchFamily="18" charset="0"/>
                          </a:rPr>
                          <m:t>𝑡𝑜𝑡𝑎𝑙</m:t>
                        </m:r>
                        <m:r>
                          <a:rPr lang="en-US" sz="1400" b="0" i="1" smtClean="0">
                            <a:latin typeface="Cambria Math" panose="02040503050406030204" pitchFamily="18" charset="0"/>
                            <a:cs typeface="Times New Roman" panose="02020603050405020304" pitchFamily="18" charset="0"/>
                          </a:rPr>
                          <m:t>−</m:t>
                        </m:r>
                        <m:r>
                          <a:rPr lang="en-US" sz="1400" b="0" i="1" smtClean="0">
                            <a:latin typeface="Cambria Math" panose="02040503050406030204" pitchFamily="18" charset="0"/>
                            <a:cs typeface="Times New Roman" panose="02020603050405020304" pitchFamily="18" charset="0"/>
                          </a:rPr>
                          <m:t>𝑑𝑒𝑝𝑡</m:t>
                        </m:r>
                      </m:e>
                    </m:d>
                  </m:oMath>
                </a14:m>
                <a:r>
                  <a:rPr lang="en-US" sz="1400" b="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a:t>
                </a:r>
                <a:r>
                  <a:rPr lang="en-US" sz="1400" b="1" dirty="0" err="1">
                    <a:latin typeface="Times New Roman" panose="02020603050405020304" pitchFamily="18" charset="0"/>
                    <a:cs typeface="Times New Roman" panose="02020603050405020304" pitchFamily="18" charset="0"/>
                  </a:rPr>
                  <a:t>Kd</a:t>
                </a:r>
                <a:r>
                  <a:rPr lang="en-US" sz="1400" b="1" dirty="0">
                    <a:latin typeface="Times New Roman" panose="02020603050405020304" pitchFamily="18" charset="0"/>
                    <a:cs typeface="Times New Roman" panose="02020603050405020304" pitchFamily="18" charset="0"/>
                  </a:rPr>
                  <a:t> = 5.56%]</a:t>
                </a:r>
              </a:p>
              <a:p>
                <a:pPr>
                  <a:lnSpc>
                    <a:spcPct val="90000"/>
                  </a:lnSpc>
                </a:pPr>
                <a:r>
                  <a:rPr lang="en-US" sz="1400" b="1" dirty="0">
                    <a:latin typeface="Times New Roman" panose="02020603050405020304" pitchFamily="18" charset="0"/>
                    <a:cs typeface="Times New Roman" panose="02020603050405020304" pitchFamily="18" charset="0"/>
                  </a:rPr>
                  <a:t>Tax Rate</a:t>
                </a:r>
                <a:r>
                  <a:rPr lang="en-US" sz="1400" dirty="0">
                    <a:latin typeface="Times New Roman" panose="02020603050405020304" pitchFamily="18" charset="0"/>
                    <a:cs typeface="Times New Roman" panose="02020603050405020304" pitchFamily="18" charset="0"/>
                  </a:rPr>
                  <a:t>: </a:t>
                </a:r>
                <a:r>
                  <a:rPr lang="el-GR" sz="1400" dirty="0">
                    <a:latin typeface="Times New Roman" panose="02020603050405020304" pitchFamily="18" charset="0"/>
                    <a:cs typeface="Times New Roman" panose="02020603050405020304" pitchFamily="18" charset="0"/>
                  </a:rPr>
                  <a:t>χρησιμοποιήσαμε το </a:t>
                </a:r>
                <a:r>
                  <a:rPr lang="el-GR" sz="1400" b="1" dirty="0">
                    <a:latin typeface="Times New Roman" panose="02020603050405020304" pitchFamily="18" charset="0"/>
                    <a:cs typeface="Times New Roman" panose="02020603050405020304" pitchFamily="18" charset="0"/>
                  </a:rPr>
                  <a:t>22%</a:t>
                </a:r>
                <a:r>
                  <a:rPr lang="el-GR" sz="1400" dirty="0">
                    <a:latin typeface="Times New Roman" panose="02020603050405020304" pitchFamily="18" charset="0"/>
                    <a:cs typeface="Times New Roman" panose="02020603050405020304" pitchFamily="18" charset="0"/>
                  </a:rPr>
                  <a:t> το οποίο χρησιμοποιείται και στους ισολογισμούς της εταιρείας (παρά το γεγονός ότι σε ορισμένα έτη υφίστανται φορολογικές απαλλαγές από έκτακτες δράσεις, π.χ. δωρεές).</a:t>
                </a:r>
              </a:p>
              <a:p>
                <a:pPr>
                  <a:lnSpc>
                    <a:spcPct val="90000"/>
                  </a:lnSpc>
                </a:pPr>
                <a:r>
                  <a:rPr lang="el-GR" sz="1400" dirty="0">
                    <a:latin typeface="Times New Roman" panose="02020603050405020304" pitchFamily="18" charset="0"/>
                    <a:cs typeface="Times New Roman" panose="02020603050405020304" pitchFamily="18" charset="0"/>
                  </a:rPr>
                  <a:t>Για τα δεδομένα της εταιρείας χρησιμοποιήσαμε τα πιο πρόσφατα που μπορούσαμε να έχουμε </a:t>
                </a:r>
                <a:r>
                  <a:rPr lang="en-US" sz="1400" dirty="0">
                    <a:latin typeface="Times New Roman" panose="02020603050405020304" pitchFamily="18" charset="0"/>
                    <a:cs typeface="Times New Roman" panose="02020603050405020304" pitchFamily="18" charset="0"/>
                  </a:rPr>
                  <a:t>(</a:t>
                </a:r>
                <a:r>
                  <a:rPr lang="el-GR" sz="1400" dirty="0">
                    <a:latin typeface="Times New Roman" panose="02020603050405020304" pitchFamily="18" charset="0"/>
                    <a:cs typeface="Times New Roman" panose="02020603050405020304" pitchFamily="18" charset="0"/>
                  </a:rPr>
                  <a:t>ισολογισμός &amp; ΚΑΧ 2024) (πχ για το </a:t>
                </a:r>
                <a:r>
                  <a:rPr lang="en-US" sz="1400" dirty="0">
                    <a:latin typeface="Times New Roman" panose="02020603050405020304" pitchFamily="18" charset="0"/>
                    <a:cs typeface="Times New Roman" panose="02020603050405020304" pitchFamily="18" charset="0"/>
                  </a:rPr>
                  <a:t>cost of dept)</a:t>
                </a:r>
                <a:endParaRPr lang="el-GR" sz="1400" dirty="0">
                  <a:latin typeface="Times New Roman" panose="02020603050405020304" pitchFamily="18" charset="0"/>
                  <a:cs typeface="Times New Roman" panose="02020603050405020304" pitchFamily="18" charset="0"/>
                </a:endParaRPr>
              </a:p>
              <a:p>
                <a:pPr marL="36900" indent="0">
                  <a:lnSpc>
                    <a:spcPct val="90000"/>
                  </a:lnSpc>
                  <a:buNone/>
                </a:pPr>
                <a:r>
                  <a:rPr lang="el-GR" sz="1400" b="1" dirty="0">
                    <a:latin typeface="Times New Roman" panose="02020603050405020304" pitchFamily="18" charset="0"/>
                    <a:cs typeface="Times New Roman" panose="02020603050405020304" pitchFamily="18" charset="0"/>
                  </a:rPr>
                  <a:t>Αποτέλεσμα: </a:t>
                </a:r>
                <a:r>
                  <a:rPr lang="en-US" sz="1400" b="1" dirty="0">
                    <a:latin typeface="Times New Roman" panose="02020603050405020304" pitchFamily="18" charset="0"/>
                    <a:cs typeface="Times New Roman" panose="02020603050405020304" pitchFamily="18" charset="0"/>
                  </a:rPr>
                  <a:t>WACC = 9.859%</a:t>
                </a:r>
              </a:p>
              <a:p>
                <a:pPr marL="36900" indent="0">
                  <a:lnSpc>
                    <a:spcPct val="90000"/>
                  </a:lnSpc>
                  <a:buNone/>
                </a:pPr>
                <a:r>
                  <a:rPr lang="el-GR" sz="1400" b="1" dirty="0">
                    <a:latin typeface="Times New Roman" panose="02020603050405020304" pitchFamily="18" charset="0"/>
                    <a:cs typeface="Times New Roman" panose="02020603050405020304" pitchFamily="18" charset="0"/>
                  </a:rPr>
                  <a:t>Σχόλια:</a:t>
                </a:r>
              </a:p>
              <a:p>
                <a:pPr marL="36900" indent="0">
                  <a:lnSpc>
                    <a:spcPct val="90000"/>
                  </a:lnSpc>
                  <a:buNone/>
                </a:pPr>
                <a:r>
                  <a:rPr lang="el-GR" sz="1400" dirty="0">
                    <a:latin typeface="Times New Roman" panose="02020603050405020304" pitchFamily="18" charset="0"/>
                    <a:cs typeface="Times New Roman" panose="02020603050405020304" pitchFamily="18" charset="0"/>
                  </a:rPr>
                  <a:t>Το WACC της εταιρείας αντανακλά τη χαμηλή δανειακή </a:t>
                </a:r>
                <a:r>
                  <a:rPr lang="el-GR" sz="1400" dirty="0" err="1">
                    <a:latin typeface="Times New Roman" panose="02020603050405020304" pitchFamily="18" charset="0"/>
                    <a:cs typeface="Times New Roman" panose="02020603050405020304" pitchFamily="18" charset="0"/>
                  </a:rPr>
                  <a:t>μόχλευση</a:t>
                </a:r>
                <a:r>
                  <a:rPr lang="el-GR" sz="1400" dirty="0">
                    <a:latin typeface="Times New Roman" panose="02020603050405020304" pitchFamily="18" charset="0"/>
                    <a:cs typeface="Times New Roman" panose="02020603050405020304" pitchFamily="18" charset="0"/>
                  </a:rPr>
                  <a:t> και το γεγονός ότι το μεγαλύτερο μέρος της χρηματοδότησης προέρχεται από τα ίδια κεφάλαια. Παρότι το κόστος δανεισμού (</a:t>
                </a:r>
                <a:r>
                  <a:rPr lang="el-GR" sz="1400" dirty="0" err="1">
                    <a:latin typeface="Times New Roman" panose="02020603050405020304" pitchFamily="18" charset="0"/>
                    <a:cs typeface="Times New Roman" panose="02020603050405020304" pitchFamily="18" charset="0"/>
                  </a:rPr>
                  <a:t>Kd</a:t>
                </a:r>
                <a:r>
                  <a:rPr lang="el-GR" sz="1400" dirty="0">
                    <a:latin typeface="Times New Roman" panose="02020603050405020304" pitchFamily="18" charset="0"/>
                    <a:cs typeface="Times New Roman" panose="02020603050405020304" pitchFamily="18" charset="0"/>
                  </a:rPr>
                  <a:t>) είναι χαμηλότερο από το κόστος ιδίων κεφαλαίων (</a:t>
                </a:r>
                <a:r>
                  <a:rPr lang="el-GR" sz="1400" dirty="0" err="1">
                    <a:latin typeface="Times New Roman" panose="02020603050405020304" pitchFamily="18" charset="0"/>
                    <a:cs typeface="Times New Roman" panose="02020603050405020304" pitchFamily="18" charset="0"/>
                  </a:rPr>
                  <a:t>Ke</a:t>
                </a:r>
                <a:r>
                  <a:rPr lang="el-GR" sz="1400" dirty="0">
                    <a:latin typeface="Times New Roman" panose="02020603050405020304" pitchFamily="18" charset="0"/>
                    <a:cs typeface="Times New Roman" panose="02020603050405020304" pitchFamily="18" charset="0"/>
                  </a:rPr>
                  <a:t>), η περιορισμένη χρήση δανεισμού δεν επιτρέπει σημαντικό περαιτέρω μείωση του WACC. Συνολικά, η τιμή αυτή υποδηλώνει σχετικά χαμηλό προφίλ κινδύνου για την εταιρεία.</a:t>
                </a:r>
                <a:endParaRPr lang="en-US" sz="1400" b="1"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32CA703C-A634-15D1-82EC-88E510D87512}"/>
                  </a:ext>
                </a:extLst>
              </p:cNvPr>
              <p:cNvSpPr>
                <a:spLocks noGrp="1" noRot="1" noChangeAspect="1" noMove="1" noResize="1" noEditPoints="1" noAdjustHandles="1" noChangeArrowheads="1" noChangeShapeType="1" noTextEdit="1"/>
              </p:cNvSpPr>
              <p:nvPr>
                <p:ph idx="1"/>
              </p:nvPr>
            </p:nvSpPr>
            <p:spPr>
              <a:xfrm>
                <a:off x="1333502" y="1412241"/>
                <a:ext cx="10096498" cy="4629122"/>
              </a:xfrm>
              <a:blipFill>
                <a:blip r:embed="rId2"/>
                <a:stretch>
                  <a:fillRect t="-659" r="-181" b="-791"/>
                </a:stretch>
              </a:blipFill>
            </p:spPr>
            <p:txBody>
              <a:bodyPr/>
              <a:lstStyle/>
              <a:p>
                <a:r>
                  <a:rPr lang="en-US">
                    <a:noFill/>
                  </a:rPr>
                  <a:t> </a:t>
                </a:r>
              </a:p>
            </p:txBody>
          </p:sp>
        </mc:Fallback>
      </mc:AlternateContent>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4750069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A8669-62B3-871F-4724-169FFA9F1906}"/>
              </a:ext>
            </a:extLst>
          </p:cNvPr>
          <p:cNvSpPr>
            <a:spLocks noGrp="1"/>
          </p:cNvSpPr>
          <p:nvPr>
            <p:ph type="title"/>
          </p:nvPr>
        </p:nvSpPr>
        <p:spPr>
          <a:xfrm>
            <a:off x="677334" y="609600"/>
            <a:ext cx="8596668" cy="688976"/>
          </a:xfrm>
        </p:spPr>
        <p:txBody>
          <a:bodyPr/>
          <a:lstStyle/>
          <a:p>
            <a:r>
              <a:rPr lang="el-GR" b="1" dirty="0">
                <a:solidFill>
                  <a:schemeClr val="tx1"/>
                </a:solidFill>
              </a:rPr>
              <a:t>Δείκτες Κερδοφορίας</a:t>
            </a:r>
            <a:endParaRPr lang="en-US" b="1" dirty="0">
              <a:solidFill>
                <a:schemeClr val="tx1"/>
              </a:solidFill>
            </a:endParaRPr>
          </a:p>
        </p:txBody>
      </p:sp>
      <p:graphicFrame>
        <p:nvGraphicFramePr>
          <p:cNvPr id="6" name="Content Placeholder 5">
            <a:extLst>
              <a:ext uri="{FF2B5EF4-FFF2-40B4-BE49-F238E27FC236}">
                <a16:creationId xmlns:a16="http://schemas.microsoft.com/office/drawing/2014/main" id="{4521F5FC-A5F2-54E3-194E-6DCE1211D49E}"/>
              </a:ext>
            </a:extLst>
          </p:cNvPr>
          <p:cNvGraphicFramePr>
            <a:graphicFrameLocks noGrp="1"/>
          </p:cNvGraphicFramePr>
          <p:nvPr>
            <p:ph idx="1"/>
            <p:extLst>
              <p:ext uri="{D42A27DB-BD31-4B8C-83A1-F6EECF244321}">
                <p14:modId xmlns:p14="http://schemas.microsoft.com/office/powerpoint/2010/main" val="2511707597"/>
              </p:ext>
            </p:extLst>
          </p:nvPr>
        </p:nvGraphicFramePr>
        <p:xfrm>
          <a:off x="677334" y="1622108"/>
          <a:ext cx="8596308" cy="1483360"/>
        </p:xfrm>
        <a:graphic>
          <a:graphicData uri="http://schemas.openxmlformats.org/drawingml/2006/table">
            <a:tbl>
              <a:tblPr firstRow="1" bandRow="1">
                <a:tableStyleId>{00A15C55-8517-42AA-B614-E9B94910E393}</a:tableStyleId>
              </a:tblPr>
              <a:tblGrid>
                <a:gridCol w="1432718">
                  <a:extLst>
                    <a:ext uri="{9D8B030D-6E8A-4147-A177-3AD203B41FA5}">
                      <a16:colId xmlns:a16="http://schemas.microsoft.com/office/drawing/2014/main" val="768642392"/>
                    </a:ext>
                  </a:extLst>
                </a:gridCol>
                <a:gridCol w="1432718">
                  <a:extLst>
                    <a:ext uri="{9D8B030D-6E8A-4147-A177-3AD203B41FA5}">
                      <a16:colId xmlns:a16="http://schemas.microsoft.com/office/drawing/2014/main" val="4075488195"/>
                    </a:ext>
                  </a:extLst>
                </a:gridCol>
                <a:gridCol w="1432718">
                  <a:extLst>
                    <a:ext uri="{9D8B030D-6E8A-4147-A177-3AD203B41FA5}">
                      <a16:colId xmlns:a16="http://schemas.microsoft.com/office/drawing/2014/main" val="220082100"/>
                    </a:ext>
                  </a:extLst>
                </a:gridCol>
                <a:gridCol w="1432718">
                  <a:extLst>
                    <a:ext uri="{9D8B030D-6E8A-4147-A177-3AD203B41FA5}">
                      <a16:colId xmlns:a16="http://schemas.microsoft.com/office/drawing/2014/main" val="3341787763"/>
                    </a:ext>
                  </a:extLst>
                </a:gridCol>
                <a:gridCol w="1432718">
                  <a:extLst>
                    <a:ext uri="{9D8B030D-6E8A-4147-A177-3AD203B41FA5}">
                      <a16:colId xmlns:a16="http://schemas.microsoft.com/office/drawing/2014/main" val="839519930"/>
                    </a:ext>
                  </a:extLst>
                </a:gridCol>
                <a:gridCol w="1432718">
                  <a:extLst>
                    <a:ext uri="{9D8B030D-6E8A-4147-A177-3AD203B41FA5}">
                      <a16:colId xmlns:a16="http://schemas.microsoft.com/office/drawing/2014/main" val="4268079290"/>
                    </a:ext>
                  </a:extLst>
                </a:gridCol>
              </a:tblGrid>
              <a:tr h="370840">
                <a:tc>
                  <a:txBody>
                    <a:bodyPr/>
                    <a:lstStyle/>
                    <a:p>
                      <a:endParaRPr lang="en-US" dirty="0"/>
                    </a:p>
                  </a:txBody>
                  <a:tcPr/>
                </a:tc>
                <a:tc>
                  <a:txBody>
                    <a:bodyPr/>
                    <a:lstStyle/>
                    <a:p>
                      <a:pPr algn="ctr"/>
                      <a:r>
                        <a:rPr lang="el-GR" dirty="0"/>
                        <a:t>2020</a:t>
                      </a:r>
                      <a:endParaRPr lang="en-US" dirty="0"/>
                    </a:p>
                  </a:txBody>
                  <a:tcPr/>
                </a:tc>
                <a:tc>
                  <a:txBody>
                    <a:bodyPr/>
                    <a:lstStyle/>
                    <a:p>
                      <a:pPr algn="ctr"/>
                      <a:r>
                        <a:rPr lang="el-GR"/>
                        <a:t>2021</a:t>
                      </a:r>
                      <a:endParaRPr lang="en-US" dirty="0"/>
                    </a:p>
                  </a:txBody>
                  <a:tcPr/>
                </a:tc>
                <a:tc>
                  <a:txBody>
                    <a:bodyPr/>
                    <a:lstStyle/>
                    <a:p>
                      <a:pPr algn="ctr"/>
                      <a:r>
                        <a:rPr lang="el-GR"/>
                        <a:t>2022</a:t>
                      </a:r>
                      <a:endParaRPr lang="en-US" dirty="0"/>
                    </a:p>
                  </a:txBody>
                  <a:tcPr/>
                </a:tc>
                <a:tc>
                  <a:txBody>
                    <a:bodyPr/>
                    <a:lstStyle/>
                    <a:p>
                      <a:pPr algn="ctr"/>
                      <a:r>
                        <a:rPr lang="el-GR"/>
                        <a:t>2023</a:t>
                      </a:r>
                      <a:endParaRPr lang="en-US" dirty="0"/>
                    </a:p>
                  </a:txBody>
                  <a:tcPr/>
                </a:tc>
                <a:tc>
                  <a:txBody>
                    <a:bodyPr/>
                    <a:lstStyle/>
                    <a:p>
                      <a:pPr algn="ctr"/>
                      <a:r>
                        <a:rPr lang="el-GR"/>
                        <a:t>2024</a:t>
                      </a:r>
                      <a:endParaRPr lang="en-US" dirty="0"/>
                    </a:p>
                  </a:txBody>
                  <a:tcPr/>
                </a:tc>
                <a:extLst>
                  <a:ext uri="{0D108BD9-81ED-4DB2-BD59-A6C34878D82A}">
                    <a16:rowId xmlns:a16="http://schemas.microsoft.com/office/drawing/2014/main" val="491871605"/>
                  </a:ext>
                </a:extLst>
              </a:tr>
              <a:tr h="370840">
                <a:tc>
                  <a:txBody>
                    <a:bodyPr/>
                    <a:lstStyle/>
                    <a:p>
                      <a:pPr algn="ctr" fontAlgn="b">
                        <a:buNone/>
                      </a:pPr>
                      <a:r>
                        <a:rPr lang="en-US" sz="1600" b="0" u="none" strike="noStrike">
                          <a:solidFill>
                            <a:srgbClr val="000000"/>
                          </a:solidFill>
                          <a:effectLst/>
                        </a:rPr>
                        <a:t>ROE</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0.209</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0.159</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0.040</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0.308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0.271</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656625415"/>
                  </a:ext>
                </a:extLst>
              </a:tr>
              <a:tr h="370840">
                <a:tc>
                  <a:txBody>
                    <a:bodyPr/>
                    <a:lstStyle/>
                    <a:p>
                      <a:pPr algn="ctr" fontAlgn="b">
                        <a:buNone/>
                      </a:pPr>
                      <a:r>
                        <a:rPr lang="en-US" sz="1600" b="0" u="none" strike="noStrike">
                          <a:solidFill>
                            <a:srgbClr val="000000"/>
                          </a:solidFill>
                          <a:effectLst/>
                        </a:rPr>
                        <a:t>ROA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0.137</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0.110</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0.025</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0.201</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0.194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1607565002"/>
                  </a:ext>
                </a:extLst>
              </a:tr>
              <a:tr h="370840">
                <a:tc>
                  <a:txBody>
                    <a:bodyPr/>
                    <a:lstStyle/>
                    <a:p>
                      <a:pPr algn="ctr" fontAlgn="b">
                        <a:buNone/>
                      </a:pPr>
                      <a:r>
                        <a:rPr lang="en-US" sz="1600" b="0" u="none" strike="noStrike">
                          <a:solidFill>
                            <a:srgbClr val="000000"/>
                          </a:solidFill>
                          <a:effectLst/>
                        </a:rPr>
                        <a:t>ROCE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0.196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0.167</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0.042</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0.319</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0.260</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98969318"/>
                  </a:ext>
                </a:extLst>
              </a:tr>
            </a:tbl>
          </a:graphicData>
        </a:graphic>
      </p:graphicFrame>
      <p:graphicFrame>
        <p:nvGraphicFramePr>
          <p:cNvPr id="9" name="TextBox 6">
            <a:extLst>
              <a:ext uri="{FF2B5EF4-FFF2-40B4-BE49-F238E27FC236}">
                <a16:creationId xmlns:a16="http://schemas.microsoft.com/office/drawing/2014/main" id="{36B166ED-6DBA-ECF6-4F80-A0F689A24E94}"/>
              </a:ext>
            </a:extLst>
          </p:cNvPr>
          <p:cNvGraphicFramePr/>
          <p:nvPr/>
        </p:nvGraphicFramePr>
        <p:xfrm>
          <a:off x="677334" y="3429000"/>
          <a:ext cx="9055946" cy="2308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557659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72B8E-8661-923D-9DAC-F3527C2DABB7}"/>
              </a:ext>
            </a:extLst>
          </p:cNvPr>
          <p:cNvSpPr>
            <a:spLocks noGrp="1"/>
          </p:cNvSpPr>
          <p:nvPr>
            <p:ph type="title"/>
          </p:nvPr>
        </p:nvSpPr>
        <p:spPr>
          <a:xfrm>
            <a:off x="677334" y="609600"/>
            <a:ext cx="8596668" cy="873760"/>
          </a:xfrm>
        </p:spPr>
        <p:txBody>
          <a:bodyPr/>
          <a:lstStyle/>
          <a:p>
            <a:r>
              <a:rPr lang="el-GR" b="1" dirty="0">
                <a:solidFill>
                  <a:schemeClr val="tx1"/>
                </a:solidFill>
              </a:rPr>
              <a:t>Δείκτες Ρευστότητας</a:t>
            </a:r>
            <a:endParaRPr lang="en-US" b="1" dirty="0">
              <a:solidFill>
                <a:schemeClr val="tx1"/>
              </a:solidFill>
            </a:endParaRPr>
          </a:p>
        </p:txBody>
      </p:sp>
      <p:graphicFrame>
        <p:nvGraphicFramePr>
          <p:cNvPr id="4" name="Content Placeholder 3">
            <a:extLst>
              <a:ext uri="{FF2B5EF4-FFF2-40B4-BE49-F238E27FC236}">
                <a16:creationId xmlns:a16="http://schemas.microsoft.com/office/drawing/2014/main" id="{FC00975D-5F0F-D000-3F99-4B94DB0D95EE}"/>
              </a:ext>
            </a:extLst>
          </p:cNvPr>
          <p:cNvGraphicFramePr>
            <a:graphicFrameLocks noGrp="1"/>
          </p:cNvGraphicFramePr>
          <p:nvPr>
            <p:ph idx="1"/>
            <p:extLst>
              <p:ext uri="{D42A27DB-BD31-4B8C-83A1-F6EECF244321}">
                <p14:modId xmlns:p14="http://schemas.microsoft.com/office/powerpoint/2010/main" val="3426787430"/>
              </p:ext>
            </p:extLst>
          </p:nvPr>
        </p:nvGraphicFramePr>
        <p:xfrm>
          <a:off x="677694" y="1744028"/>
          <a:ext cx="9627299" cy="1483360"/>
        </p:xfrm>
        <a:graphic>
          <a:graphicData uri="http://schemas.openxmlformats.org/drawingml/2006/table">
            <a:tbl>
              <a:tblPr firstRow="1" bandRow="1">
                <a:tableStyleId>{00A15C55-8517-42AA-B614-E9B94910E393}</a:tableStyleId>
              </a:tblPr>
              <a:tblGrid>
                <a:gridCol w="1311974">
                  <a:extLst>
                    <a:ext uri="{9D8B030D-6E8A-4147-A177-3AD203B41FA5}">
                      <a16:colId xmlns:a16="http://schemas.microsoft.com/office/drawing/2014/main" val="943167348"/>
                    </a:ext>
                  </a:extLst>
                </a:gridCol>
                <a:gridCol w="1663065">
                  <a:extLst>
                    <a:ext uri="{9D8B030D-6E8A-4147-A177-3AD203B41FA5}">
                      <a16:colId xmlns:a16="http://schemas.microsoft.com/office/drawing/2014/main" val="1038752738"/>
                    </a:ext>
                  </a:extLst>
                </a:gridCol>
                <a:gridCol w="1663065">
                  <a:extLst>
                    <a:ext uri="{9D8B030D-6E8A-4147-A177-3AD203B41FA5}">
                      <a16:colId xmlns:a16="http://schemas.microsoft.com/office/drawing/2014/main" val="1570623751"/>
                    </a:ext>
                  </a:extLst>
                </a:gridCol>
                <a:gridCol w="1663065">
                  <a:extLst>
                    <a:ext uri="{9D8B030D-6E8A-4147-A177-3AD203B41FA5}">
                      <a16:colId xmlns:a16="http://schemas.microsoft.com/office/drawing/2014/main" val="384268636"/>
                    </a:ext>
                  </a:extLst>
                </a:gridCol>
                <a:gridCol w="1663065">
                  <a:extLst>
                    <a:ext uri="{9D8B030D-6E8A-4147-A177-3AD203B41FA5}">
                      <a16:colId xmlns:a16="http://schemas.microsoft.com/office/drawing/2014/main" val="553209740"/>
                    </a:ext>
                  </a:extLst>
                </a:gridCol>
                <a:gridCol w="1663065">
                  <a:extLst>
                    <a:ext uri="{9D8B030D-6E8A-4147-A177-3AD203B41FA5}">
                      <a16:colId xmlns:a16="http://schemas.microsoft.com/office/drawing/2014/main" val="1939091968"/>
                    </a:ext>
                  </a:extLst>
                </a:gridCol>
              </a:tblGrid>
              <a:tr h="370840">
                <a:tc>
                  <a:txBody>
                    <a:bodyPr/>
                    <a:lstStyle/>
                    <a:p>
                      <a:pPr algn="ctr"/>
                      <a:endParaRPr lang="en-US" dirty="0"/>
                    </a:p>
                  </a:txBody>
                  <a:tcPr/>
                </a:tc>
                <a:tc>
                  <a:txBody>
                    <a:bodyPr/>
                    <a:lstStyle/>
                    <a:p>
                      <a:pPr algn="ctr"/>
                      <a:r>
                        <a:rPr lang="el-GR" dirty="0"/>
                        <a:t>2020</a:t>
                      </a:r>
                      <a:endParaRPr lang="en-US" dirty="0"/>
                    </a:p>
                  </a:txBody>
                  <a:tcPr/>
                </a:tc>
                <a:tc>
                  <a:txBody>
                    <a:bodyPr/>
                    <a:lstStyle/>
                    <a:p>
                      <a:pPr algn="ctr"/>
                      <a:r>
                        <a:rPr lang="el-GR" dirty="0"/>
                        <a:t>2021</a:t>
                      </a:r>
                      <a:endParaRPr lang="en-US" dirty="0"/>
                    </a:p>
                  </a:txBody>
                  <a:tcPr/>
                </a:tc>
                <a:tc>
                  <a:txBody>
                    <a:bodyPr/>
                    <a:lstStyle/>
                    <a:p>
                      <a:pPr algn="ctr"/>
                      <a:r>
                        <a:rPr lang="el-GR" dirty="0"/>
                        <a:t>2022</a:t>
                      </a:r>
                      <a:endParaRPr lang="en-US" dirty="0"/>
                    </a:p>
                  </a:txBody>
                  <a:tcPr/>
                </a:tc>
                <a:tc>
                  <a:txBody>
                    <a:bodyPr/>
                    <a:lstStyle/>
                    <a:p>
                      <a:pPr algn="ctr"/>
                      <a:r>
                        <a:rPr lang="el-GR" dirty="0"/>
                        <a:t>2023</a:t>
                      </a:r>
                      <a:endParaRPr lang="en-US" dirty="0"/>
                    </a:p>
                  </a:txBody>
                  <a:tcPr/>
                </a:tc>
                <a:tc>
                  <a:txBody>
                    <a:bodyPr/>
                    <a:lstStyle/>
                    <a:p>
                      <a:pPr algn="ctr"/>
                      <a:r>
                        <a:rPr lang="el-GR" dirty="0"/>
                        <a:t>2024</a:t>
                      </a:r>
                      <a:endParaRPr lang="en-US" dirty="0"/>
                    </a:p>
                  </a:txBody>
                  <a:tcPr/>
                </a:tc>
                <a:extLst>
                  <a:ext uri="{0D108BD9-81ED-4DB2-BD59-A6C34878D82A}">
                    <a16:rowId xmlns:a16="http://schemas.microsoft.com/office/drawing/2014/main" val="3851906228"/>
                  </a:ext>
                </a:extLst>
              </a:tr>
              <a:tr h="370840">
                <a:tc>
                  <a:txBody>
                    <a:bodyPr/>
                    <a:lstStyle/>
                    <a:p>
                      <a:pPr algn="ctr" fontAlgn="b">
                        <a:buNone/>
                      </a:pPr>
                      <a:r>
                        <a:rPr lang="en-US" sz="1400" b="0" u="none" strike="noStrike" dirty="0">
                          <a:solidFill>
                            <a:srgbClr val="000000"/>
                          </a:solidFill>
                          <a:effectLst/>
                        </a:rPr>
                        <a:t>Working Capital</a:t>
                      </a:r>
                      <a:endParaRPr lang="en-US" sz="14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rPr>
                        <a:t> €     29,460,287.00 </a:t>
                      </a:r>
                      <a:endParaRPr lang="en-US" sz="14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rPr>
                        <a:t> €     27,632,038.00 </a:t>
                      </a:r>
                      <a:endParaRPr lang="en-US" sz="14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rPr>
                        <a:t> €     21,337,516.00 </a:t>
                      </a:r>
                      <a:endParaRPr lang="en-US" sz="14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rPr>
                        <a:t> €     43,236,314.00 </a:t>
                      </a:r>
                      <a:endParaRPr lang="en-US" sz="14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rPr>
                        <a:t> €     40,124,308.00 </a:t>
                      </a:r>
                      <a:endParaRPr lang="en-US" sz="1400" b="0" i="0" u="none" strike="noStrike" dirty="0">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1747115106"/>
                  </a:ext>
                </a:extLst>
              </a:tr>
              <a:tr h="370840">
                <a:tc>
                  <a:txBody>
                    <a:bodyPr/>
                    <a:lstStyle/>
                    <a:p>
                      <a:pPr algn="ctr" fontAlgn="b">
                        <a:buNone/>
                      </a:pPr>
                      <a:r>
                        <a:rPr lang="en-US" sz="1400" b="0" u="none" strike="noStrike" dirty="0">
                          <a:solidFill>
                            <a:srgbClr val="000000"/>
                          </a:solidFill>
                          <a:effectLst/>
                        </a:rPr>
                        <a:t>Current Ratio</a:t>
                      </a:r>
                      <a:endParaRPr lang="en-US" sz="14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rPr>
                        <a:t>2.453</a:t>
                      </a:r>
                      <a:endParaRPr lang="en-US" sz="14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rPr>
                        <a:t>2.363</a:t>
                      </a:r>
                      <a:endParaRPr lang="en-US" sz="14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rPr>
                        <a:t>1.667</a:t>
                      </a:r>
                      <a:endParaRPr lang="en-US" sz="14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rPr>
                        <a:t>2.261</a:t>
                      </a:r>
                      <a:endParaRPr lang="en-US" sz="14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rPr>
                        <a:t>2.161</a:t>
                      </a:r>
                      <a:endParaRPr lang="en-US" sz="1400" b="0" i="0" u="none" strike="noStrike" dirty="0">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765628630"/>
                  </a:ext>
                </a:extLst>
              </a:tr>
              <a:tr h="370840">
                <a:tc>
                  <a:txBody>
                    <a:bodyPr/>
                    <a:lstStyle/>
                    <a:p>
                      <a:pPr algn="ctr" fontAlgn="b">
                        <a:buNone/>
                      </a:pPr>
                      <a:r>
                        <a:rPr lang="en-US" sz="1400" b="0" u="none" strike="noStrike">
                          <a:solidFill>
                            <a:srgbClr val="000000"/>
                          </a:solidFill>
                          <a:effectLst/>
                        </a:rPr>
                        <a:t>Quick Ratio</a:t>
                      </a:r>
                      <a:endParaRPr lang="en-US" sz="14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rPr>
                        <a:t>1.761</a:t>
                      </a:r>
                      <a:endParaRPr lang="en-US" sz="14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rPr>
                        <a:t>1.778</a:t>
                      </a:r>
                      <a:endParaRPr lang="en-US" sz="14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rPr>
                        <a:t>1.189</a:t>
                      </a:r>
                      <a:endParaRPr lang="en-US" sz="14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rPr>
                        <a:t>1.757</a:t>
                      </a:r>
                      <a:endParaRPr lang="en-US" sz="14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rPr>
                        <a:t>1.444</a:t>
                      </a:r>
                      <a:endParaRPr lang="en-US" sz="1400" b="0" i="0" u="none" strike="noStrike" dirty="0">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908903964"/>
                  </a:ext>
                </a:extLst>
              </a:tr>
            </a:tbl>
          </a:graphicData>
        </a:graphic>
      </p:graphicFrame>
      <p:graphicFrame>
        <p:nvGraphicFramePr>
          <p:cNvPr id="7" name="TextBox 4">
            <a:extLst>
              <a:ext uri="{FF2B5EF4-FFF2-40B4-BE49-F238E27FC236}">
                <a16:creationId xmlns:a16="http://schemas.microsoft.com/office/drawing/2014/main" id="{B715E2B8-9B66-BD49-4F96-659D19F859CC}"/>
              </a:ext>
            </a:extLst>
          </p:cNvPr>
          <p:cNvGraphicFramePr/>
          <p:nvPr/>
        </p:nvGraphicFramePr>
        <p:xfrm>
          <a:off x="677334" y="3488056"/>
          <a:ext cx="10844106" cy="2308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180225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045C7-F946-871D-C12D-3D36BCB5A589}"/>
              </a:ext>
            </a:extLst>
          </p:cNvPr>
          <p:cNvSpPr>
            <a:spLocks noGrp="1"/>
          </p:cNvSpPr>
          <p:nvPr>
            <p:ph type="title"/>
          </p:nvPr>
        </p:nvSpPr>
        <p:spPr>
          <a:xfrm>
            <a:off x="677334" y="609600"/>
            <a:ext cx="8596668" cy="711200"/>
          </a:xfrm>
        </p:spPr>
        <p:txBody>
          <a:bodyPr/>
          <a:lstStyle/>
          <a:p>
            <a:r>
              <a:rPr lang="el-GR" b="1" dirty="0">
                <a:solidFill>
                  <a:schemeClr val="tx1"/>
                </a:solidFill>
              </a:rPr>
              <a:t>Δείκτες Μόχλευσης</a:t>
            </a:r>
            <a:endParaRPr lang="en-US" b="1" dirty="0">
              <a:solidFill>
                <a:schemeClr val="tx1"/>
              </a:solidFill>
            </a:endParaRPr>
          </a:p>
        </p:txBody>
      </p:sp>
      <p:graphicFrame>
        <p:nvGraphicFramePr>
          <p:cNvPr id="5" name="Content Placeholder 4">
            <a:extLst>
              <a:ext uri="{FF2B5EF4-FFF2-40B4-BE49-F238E27FC236}">
                <a16:creationId xmlns:a16="http://schemas.microsoft.com/office/drawing/2014/main" id="{AA4FD141-759E-B68F-9A6A-80C0056BC553}"/>
              </a:ext>
            </a:extLst>
          </p:cNvPr>
          <p:cNvGraphicFramePr>
            <a:graphicFrameLocks noGrp="1"/>
          </p:cNvGraphicFramePr>
          <p:nvPr>
            <p:ph idx="1"/>
            <p:extLst>
              <p:ext uri="{D42A27DB-BD31-4B8C-83A1-F6EECF244321}">
                <p14:modId xmlns:p14="http://schemas.microsoft.com/office/powerpoint/2010/main" val="3259287257"/>
              </p:ext>
            </p:extLst>
          </p:nvPr>
        </p:nvGraphicFramePr>
        <p:xfrm>
          <a:off x="677694" y="1398588"/>
          <a:ext cx="8731405" cy="1483360"/>
        </p:xfrm>
        <a:graphic>
          <a:graphicData uri="http://schemas.openxmlformats.org/drawingml/2006/table">
            <a:tbl>
              <a:tblPr firstRow="1" bandRow="1">
                <a:tableStyleId>{00A15C55-8517-42AA-B614-E9B94910E393}</a:tableStyleId>
              </a:tblPr>
              <a:tblGrid>
                <a:gridCol w="1567815">
                  <a:extLst>
                    <a:ext uri="{9D8B030D-6E8A-4147-A177-3AD203B41FA5}">
                      <a16:colId xmlns:a16="http://schemas.microsoft.com/office/drawing/2014/main" val="2018525394"/>
                    </a:ext>
                  </a:extLst>
                </a:gridCol>
                <a:gridCol w="1432718">
                  <a:extLst>
                    <a:ext uri="{9D8B030D-6E8A-4147-A177-3AD203B41FA5}">
                      <a16:colId xmlns:a16="http://schemas.microsoft.com/office/drawing/2014/main" val="3827420427"/>
                    </a:ext>
                  </a:extLst>
                </a:gridCol>
                <a:gridCol w="1432718">
                  <a:extLst>
                    <a:ext uri="{9D8B030D-6E8A-4147-A177-3AD203B41FA5}">
                      <a16:colId xmlns:a16="http://schemas.microsoft.com/office/drawing/2014/main" val="1046327904"/>
                    </a:ext>
                  </a:extLst>
                </a:gridCol>
                <a:gridCol w="1432718">
                  <a:extLst>
                    <a:ext uri="{9D8B030D-6E8A-4147-A177-3AD203B41FA5}">
                      <a16:colId xmlns:a16="http://schemas.microsoft.com/office/drawing/2014/main" val="3460713662"/>
                    </a:ext>
                  </a:extLst>
                </a:gridCol>
                <a:gridCol w="1432718">
                  <a:extLst>
                    <a:ext uri="{9D8B030D-6E8A-4147-A177-3AD203B41FA5}">
                      <a16:colId xmlns:a16="http://schemas.microsoft.com/office/drawing/2014/main" val="1329237156"/>
                    </a:ext>
                  </a:extLst>
                </a:gridCol>
                <a:gridCol w="1432718">
                  <a:extLst>
                    <a:ext uri="{9D8B030D-6E8A-4147-A177-3AD203B41FA5}">
                      <a16:colId xmlns:a16="http://schemas.microsoft.com/office/drawing/2014/main" val="3786463914"/>
                    </a:ext>
                  </a:extLst>
                </a:gridCol>
              </a:tblGrid>
              <a:tr h="370840">
                <a:tc>
                  <a:txBody>
                    <a:bodyPr/>
                    <a:lstStyle/>
                    <a:p>
                      <a:pPr algn="ctr"/>
                      <a:endParaRPr lang="en-US" dirty="0"/>
                    </a:p>
                  </a:txBody>
                  <a:tcPr/>
                </a:tc>
                <a:tc>
                  <a:txBody>
                    <a:bodyPr/>
                    <a:lstStyle/>
                    <a:p>
                      <a:pPr algn="ctr"/>
                      <a:r>
                        <a:rPr lang="en-US" dirty="0"/>
                        <a:t>2020</a:t>
                      </a:r>
                    </a:p>
                  </a:txBody>
                  <a:tcPr/>
                </a:tc>
                <a:tc>
                  <a:txBody>
                    <a:bodyPr/>
                    <a:lstStyle/>
                    <a:p>
                      <a:pPr algn="ctr"/>
                      <a:r>
                        <a:rPr lang="en-US" dirty="0"/>
                        <a:t>2021</a:t>
                      </a:r>
                    </a:p>
                  </a:txBody>
                  <a:tcPr/>
                </a:tc>
                <a:tc>
                  <a:txBody>
                    <a:bodyPr/>
                    <a:lstStyle/>
                    <a:p>
                      <a:pPr algn="ctr"/>
                      <a:r>
                        <a:rPr lang="en-US" dirty="0"/>
                        <a:t>2022</a:t>
                      </a:r>
                    </a:p>
                  </a:txBody>
                  <a:tcPr/>
                </a:tc>
                <a:tc>
                  <a:txBody>
                    <a:bodyPr/>
                    <a:lstStyle/>
                    <a:p>
                      <a:pPr algn="ctr"/>
                      <a:r>
                        <a:rPr lang="en-US" dirty="0"/>
                        <a:t>2023</a:t>
                      </a:r>
                    </a:p>
                  </a:txBody>
                  <a:tcPr/>
                </a:tc>
                <a:tc>
                  <a:txBody>
                    <a:bodyPr/>
                    <a:lstStyle/>
                    <a:p>
                      <a:pPr algn="ctr"/>
                      <a:r>
                        <a:rPr lang="en-US" dirty="0"/>
                        <a:t>2024</a:t>
                      </a:r>
                    </a:p>
                  </a:txBody>
                  <a:tcPr/>
                </a:tc>
                <a:extLst>
                  <a:ext uri="{0D108BD9-81ED-4DB2-BD59-A6C34878D82A}">
                    <a16:rowId xmlns:a16="http://schemas.microsoft.com/office/drawing/2014/main" val="148684196"/>
                  </a:ext>
                </a:extLst>
              </a:tr>
              <a:tr h="370840">
                <a:tc>
                  <a:txBody>
                    <a:bodyPr/>
                    <a:lstStyle/>
                    <a:p>
                      <a:pPr algn="ctr" fontAlgn="b">
                        <a:buNone/>
                      </a:pPr>
                      <a:r>
                        <a:rPr lang="en-US" sz="1600" b="0" u="none" strike="noStrike">
                          <a:solidFill>
                            <a:srgbClr val="000000"/>
                          </a:solidFill>
                          <a:effectLst/>
                        </a:rPr>
                        <a:t>Net Dept/Ebidta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0.071</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-0.066</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0.866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-0.202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-0.284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2017206761"/>
                  </a:ext>
                </a:extLst>
              </a:tr>
              <a:tr h="370840">
                <a:tc>
                  <a:txBody>
                    <a:bodyPr/>
                    <a:lstStyle/>
                    <a:p>
                      <a:pPr algn="ctr" fontAlgn="b">
                        <a:buNone/>
                      </a:pPr>
                      <a:r>
                        <a:rPr lang="en-US" sz="1600" b="0" u="none" strike="noStrike">
                          <a:solidFill>
                            <a:srgbClr val="000000"/>
                          </a:solidFill>
                          <a:effectLst/>
                        </a:rPr>
                        <a:t>Dept/Equity</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0.150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0.113</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0.193</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0.120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0.038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557723025"/>
                  </a:ext>
                </a:extLst>
              </a:tr>
              <a:tr h="370840">
                <a:tc>
                  <a:txBody>
                    <a:bodyPr/>
                    <a:lstStyle/>
                    <a:p>
                      <a:pPr algn="ctr" fontAlgn="b">
                        <a:buNone/>
                      </a:pPr>
                      <a:r>
                        <a:rPr lang="el-GR" sz="1600" b="0" u="none" strike="noStrike">
                          <a:solidFill>
                            <a:srgbClr val="000000"/>
                          </a:solidFill>
                          <a:effectLst/>
                        </a:rPr>
                        <a:t>Τόκοι / Κέρδη</a:t>
                      </a:r>
                      <a:endParaRPr lang="el-GR"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0.020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0.023</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0.091</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0.013</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0.009</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2769293980"/>
                  </a:ext>
                </a:extLst>
              </a:tr>
            </a:tbl>
          </a:graphicData>
        </a:graphic>
      </p:graphicFrame>
      <p:sp>
        <p:nvSpPr>
          <p:cNvPr id="7" name="TextBox 6">
            <a:extLst>
              <a:ext uri="{FF2B5EF4-FFF2-40B4-BE49-F238E27FC236}">
                <a16:creationId xmlns:a16="http://schemas.microsoft.com/office/drawing/2014/main" id="{909643B1-80DA-3696-1F47-DB837A47C024}"/>
              </a:ext>
            </a:extLst>
          </p:cNvPr>
          <p:cNvSpPr txBox="1"/>
          <p:nvPr/>
        </p:nvSpPr>
        <p:spPr>
          <a:xfrm>
            <a:off x="677334" y="5616337"/>
            <a:ext cx="9641840" cy="923330"/>
          </a:xfrm>
          <a:prstGeom prst="rect">
            <a:avLst/>
          </a:prstGeom>
          <a:noFill/>
        </p:spPr>
        <p:txBody>
          <a:bodyPr wrap="square" rtlCol="0">
            <a:spAutoFit/>
          </a:bodyPr>
          <a:lstStyle/>
          <a:p>
            <a:r>
              <a:rPr lang="el-GR" dirty="0"/>
              <a:t>Σε συμφωνία με τα ευρήματα του WACC, ο δανεισμός της εταιρείας παραμένει σε πολύ χαμηλά επίπεδα, γεγονός που συνεπάγεται περιορισμένο χρηματοοικονομικό κίνδυνο και μικρή επιβάρυνση από τόκους</a:t>
            </a:r>
            <a:endParaRPr lang="en-US" dirty="0"/>
          </a:p>
        </p:txBody>
      </p:sp>
      <p:graphicFrame>
        <p:nvGraphicFramePr>
          <p:cNvPr id="9" name="TextBox 5">
            <a:extLst>
              <a:ext uri="{FF2B5EF4-FFF2-40B4-BE49-F238E27FC236}">
                <a16:creationId xmlns:a16="http://schemas.microsoft.com/office/drawing/2014/main" id="{3652CFFD-A009-E24C-D8BC-38D6DA3824B4}"/>
              </a:ext>
            </a:extLst>
          </p:cNvPr>
          <p:cNvGraphicFramePr/>
          <p:nvPr>
            <p:extLst>
              <p:ext uri="{D42A27DB-BD31-4B8C-83A1-F6EECF244321}">
                <p14:modId xmlns:p14="http://schemas.microsoft.com/office/powerpoint/2010/main" val="3306881073"/>
              </p:ext>
            </p:extLst>
          </p:nvPr>
        </p:nvGraphicFramePr>
        <p:xfrm>
          <a:off x="677334" y="3031014"/>
          <a:ext cx="9807786" cy="25853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161975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F805-7584-B2B2-67C9-E9077F681A9F}"/>
              </a:ext>
            </a:extLst>
          </p:cNvPr>
          <p:cNvSpPr>
            <a:spLocks noGrp="1"/>
          </p:cNvSpPr>
          <p:nvPr>
            <p:ph type="title"/>
          </p:nvPr>
        </p:nvSpPr>
        <p:spPr>
          <a:xfrm>
            <a:off x="677334" y="335280"/>
            <a:ext cx="8596668" cy="690880"/>
          </a:xfrm>
        </p:spPr>
        <p:txBody>
          <a:bodyPr/>
          <a:lstStyle/>
          <a:p>
            <a:r>
              <a:rPr lang="el-GR" b="1" dirty="0">
                <a:solidFill>
                  <a:schemeClr val="tx1"/>
                </a:solidFill>
              </a:rPr>
              <a:t>Δείκτες Αποτίμησης</a:t>
            </a:r>
            <a:endParaRPr lang="en-US" b="1" dirty="0">
              <a:solidFill>
                <a:schemeClr val="tx1"/>
              </a:solidFill>
            </a:endParaRPr>
          </a:p>
        </p:txBody>
      </p:sp>
      <p:graphicFrame>
        <p:nvGraphicFramePr>
          <p:cNvPr id="4" name="Content Placeholder 3">
            <a:extLst>
              <a:ext uri="{FF2B5EF4-FFF2-40B4-BE49-F238E27FC236}">
                <a16:creationId xmlns:a16="http://schemas.microsoft.com/office/drawing/2014/main" id="{3CA6523E-236C-84A9-D79A-98AD1FC1278E}"/>
              </a:ext>
            </a:extLst>
          </p:cNvPr>
          <p:cNvGraphicFramePr>
            <a:graphicFrameLocks noGrp="1"/>
          </p:cNvGraphicFramePr>
          <p:nvPr>
            <p:ph idx="1"/>
            <p:extLst>
              <p:ext uri="{D42A27DB-BD31-4B8C-83A1-F6EECF244321}">
                <p14:modId xmlns:p14="http://schemas.microsoft.com/office/powerpoint/2010/main" val="886620388"/>
              </p:ext>
            </p:extLst>
          </p:nvPr>
        </p:nvGraphicFramePr>
        <p:xfrm>
          <a:off x="677334" y="1300480"/>
          <a:ext cx="8596308" cy="1854200"/>
        </p:xfrm>
        <a:graphic>
          <a:graphicData uri="http://schemas.openxmlformats.org/drawingml/2006/table">
            <a:tbl>
              <a:tblPr firstRow="1" bandRow="1">
                <a:tableStyleId>{00A15C55-8517-42AA-B614-E9B94910E393}</a:tableStyleId>
              </a:tblPr>
              <a:tblGrid>
                <a:gridCol w="1432718">
                  <a:extLst>
                    <a:ext uri="{9D8B030D-6E8A-4147-A177-3AD203B41FA5}">
                      <a16:colId xmlns:a16="http://schemas.microsoft.com/office/drawing/2014/main" val="1307368740"/>
                    </a:ext>
                  </a:extLst>
                </a:gridCol>
                <a:gridCol w="1432718">
                  <a:extLst>
                    <a:ext uri="{9D8B030D-6E8A-4147-A177-3AD203B41FA5}">
                      <a16:colId xmlns:a16="http://schemas.microsoft.com/office/drawing/2014/main" val="4067576477"/>
                    </a:ext>
                  </a:extLst>
                </a:gridCol>
                <a:gridCol w="1432718">
                  <a:extLst>
                    <a:ext uri="{9D8B030D-6E8A-4147-A177-3AD203B41FA5}">
                      <a16:colId xmlns:a16="http://schemas.microsoft.com/office/drawing/2014/main" val="3964838406"/>
                    </a:ext>
                  </a:extLst>
                </a:gridCol>
                <a:gridCol w="1432718">
                  <a:extLst>
                    <a:ext uri="{9D8B030D-6E8A-4147-A177-3AD203B41FA5}">
                      <a16:colId xmlns:a16="http://schemas.microsoft.com/office/drawing/2014/main" val="3237776224"/>
                    </a:ext>
                  </a:extLst>
                </a:gridCol>
                <a:gridCol w="1432718">
                  <a:extLst>
                    <a:ext uri="{9D8B030D-6E8A-4147-A177-3AD203B41FA5}">
                      <a16:colId xmlns:a16="http://schemas.microsoft.com/office/drawing/2014/main" val="3493108004"/>
                    </a:ext>
                  </a:extLst>
                </a:gridCol>
                <a:gridCol w="1432718">
                  <a:extLst>
                    <a:ext uri="{9D8B030D-6E8A-4147-A177-3AD203B41FA5}">
                      <a16:colId xmlns:a16="http://schemas.microsoft.com/office/drawing/2014/main" val="3808356615"/>
                    </a:ext>
                  </a:extLst>
                </a:gridCol>
              </a:tblGrid>
              <a:tr h="370840">
                <a:tc>
                  <a:txBody>
                    <a:bodyPr/>
                    <a:lstStyle/>
                    <a:p>
                      <a:pPr algn="ctr"/>
                      <a:endParaRPr lang="en-US" dirty="0"/>
                    </a:p>
                  </a:txBody>
                  <a:tcPr/>
                </a:tc>
                <a:tc>
                  <a:txBody>
                    <a:bodyPr/>
                    <a:lstStyle/>
                    <a:p>
                      <a:pPr algn="ctr"/>
                      <a:r>
                        <a:rPr lang="el-GR" dirty="0"/>
                        <a:t>2020</a:t>
                      </a:r>
                      <a:endParaRPr lang="en-US" dirty="0"/>
                    </a:p>
                  </a:txBody>
                  <a:tcPr/>
                </a:tc>
                <a:tc>
                  <a:txBody>
                    <a:bodyPr/>
                    <a:lstStyle/>
                    <a:p>
                      <a:pPr algn="ctr"/>
                      <a:r>
                        <a:rPr lang="el-GR" dirty="0"/>
                        <a:t>2021</a:t>
                      </a:r>
                      <a:endParaRPr lang="en-US" dirty="0"/>
                    </a:p>
                  </a:txBody>
                  <a:tcPr/>
                </a:tc>
                <a:tc>
                  <a:txBody>
                    <a:bodyPr/>
                    <a:lstStyle/>
                    <a:p>
                      <a:pPr algn="ctr"/>
                      <a:r>
                        <a:rPr lang="el-GR" dirty="0"/>
                        <a:t>2022</a:t>
                      </a:r>
                      <a:endParaRPr lang="en-US" dirty="0"/>
                    </a:p>
                  </a:txBody>
                  <a:tcPr/>
                </a:tc>
                <a:tc>
                  <a:txBody>
                    <a:bodyPr/>
                    <a:lstStyle/>
                    <a:p>
                      <a:pPr algn="ctr"/>
                      <a:r>
                        <a:rPr lang="el-GR" dirty="0"/>
                        <a:t>2023</a:t>
                      </a:r>
                      <a:endParaRPr lang="en-US" dirty="0"/>
                    </a:p>
                  </a:txBody>
                  <a:tcPr/>
                </a:tc>
                <a:tc>
                  <a:txBody>
                    <a:bodyPr/>
                    <a:lstStyle/>
                    <a:p>
                      <a:pPr algn="ctr"/>
                      <a:r>
                        <a:rPr lang="el-GR" dirty="0"/>
                        <a:t>2024</a:t>
                      </a:r>
                      <a:endParaRPr lang="en-US" dirty="0"/>
                    </a:p>
                  </a:txBody>
                  <a:tcPr/>
                </a:tc>
                <a:extLst>
                  <a:ext uri="{0D108BD9-81ED-4DB2-BD59-A6C34878D82A}">
                    <a16:rowId xmlns:a16="http://schemas.microsoft.com/office/drawing/2014/main" val="285973420"/>
                  </a:ext>
                </a:extLst>
              </a:tr>
              <a:tr h="370840">
                <a:tc>
                  <a:txBody>
                    <a:bodyPr/>
                    <a:lstStyle/>
                    <a:p>
                      <a:pPr algn="ctr" fontAlgn="b">
                        <a:buNone/>
                      </a:pPr>
                      <a:r>
                        <a:rPr lang="en-US" sz="1600" b="0" u="none" strike="noStrike" dirty="0">
                          <a:solidFill>
                            <a:srgbClr val="000000"/>
                          </a:solidFill>
                          <a:effectLst/>
                        </a:rPr>
                        <a:t>EPS</a:t>
                      </a:r>
                      <a:endParaRPr lang="en-US" sz="16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 €        0.48 </a:t>
                      </a:r>
                      <a:endParaRPr lang="en-US" sz="16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 €          0.40 </a:t>
                      </a:r>
                      <a:endParaRPr lang="en-US" sz="16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 €        0.10 </a:t>
                      </a:r>
                      <a:endParaRPr lang="en-US" sz="16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 €        0.98 </a:t>
                      </a:r>
                      <a:endParaRPr lang="en-US" sz="16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 €        1.05 </a:t>
                      </a:r>
                      <a:endParaRPr lang="en-US" sz="1600" b="0" i="0" u="none" strike="noStrike" dirty="0">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1608644640"/>
                  </a:ext>
                </a:extLst>
              </a:tr>
              <a:tr h="370840">
                <a:tc>
                  <a:txBody>
                    <a:bodyPr/>
                    <a:lstStyle/>
                    <a:p>
                      <a:pPr algn="ctr" fontAlgn="b">
                        <a:buNone/>
                      </a:pPr>
                      <a:r>
                        <a:rPr lang="en-US" sz="1600" b="0" u="none" strike="noStrike">
                          <a:solidFill>
                            <a:srgbClr val="000000"/>
                          </a:solidFill>
                          <a:effectLst/>
                        </a:rPr>
                        <a:t>P/E</a:t>
                      </a:r>
                      <a:endParaRPr lang="en-US" sz="16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13.63 </a:t>
                      </a:r>
                      <a:endParaRPr lang="en-US" sz="16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21.21 </a:t>
                      </a:r>
                      <a:endParaRPr lang="en-US" sz="16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64.34 </a:t>
                      </a:r>
                      <a:endParaRPr lang="en-US" sz="16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10.02 </a:t>
                      </a:r>
                      <a:endParaRPr lang="en-US" sz="16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14.85 </a:t>
                      </a:r>
                      <a:endParaRPr lang="en-US" sz="1600" b="0" i="0" u="none" strike="noStrike">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847399805"/>
                  </a:ext>
                </a:extLst>
              </a:tr>
              <a:tr h="370840">
                <a:tc>
                  <a:txBody>
                    <a:bodyPr/>
                    <a:lstStyle/>
                    <a:p>
                      <a:pPr algn="ctr" fontAlgn="b">
                        <a:buNone/>
                      </a:pPr>
                      <a:r>
                        <a:rPr lang="en-US" sz="1600" b="0" u="none" strike="noStrike">
                          <a:solidFill>
                            <a:srgbClr val="000000"/>
                          </a:solidFill>
                          <a:effectLst/>
                        </a:rPr>
                        <a:t>EV/EBIDTA</a:t>
                      </a:r>
                      <a:endParaRPr lang="en-US" sz="16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9.58</a:t>
                      </a:r>
                      <a:endParaRPr lang="en-US" sz="16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13.04</a:t>
                      </a:r>
                      <a:endParaRPr lang="en-US" sz="16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22.91</a:t>
                      </a:r>
                      <a:endParaRPr lang="en-US" sz="16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6.90</a:t>
                      </a:r>
                      <a:endParaRPr lang="en-US" sz="16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11.65</a:t>
                      </a:r>
                      <a:endParaRPr lang="en-US" sz="1600" b="0" i="0" u="none" strike="noStrike" dirty="0">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2475085741"/>
                  </a:ext>
                </a:extLst>
              </a:tr>
              <a:tr h="370840">
                <a:tc>
                  <a:txBody>
                    <a:bodyPr/>
                    <a:lstStyle/>
                    <a:p>
                      <a:pPr algn="ctr" fontAlgn="b">
                        <a:buNone/>
                      </a:pPr>
                      <a:r>
                        <a:rPr lang="en-US" sz="1600" b="0" u="none" strike="noStrike" dirty="0" err="1">
                          <a:solidFill>
                            <a:srgbClr val="000000"/>
                          </a:solidFill>
                          <a:effectLst/>
                        </a:rPr>
                        <a:t>Divident</a:t>
                      </a:r>
                      <a:r>
                        <a:rPr lang="en-US" sz="1600" b="0" u="none" strike="noStrike" dirty="0">
                          <a:solidFill>
                            <a:srgbClr val="000000"/>
                          </a:solidFill>
                          <a:effectLst/>
                        </a:rPr>
                        <a:t> Yield</a:t>
                      </a:r>
                      <a:endParaRPr lang="en-US" sz="1600" b="0" i="0" u="none" strike="noStrike" dirty="0">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2.58%</a:t>
                      </a:r>
                      <a:endParaRPr lang="en-US" sz="16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2.49%</a:t>
                      </a:r>
                      <a:endParaRPr lang="en-US" sz="16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3.24%</a:t>
                      </a:r>
                      <a:endParaRPr lang="en-US" sz="16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a:solidFill>
                            <a:srgbClr val="000000"/>
                          </a:solidFill>
                          <a:effectLst/>
                        </a:rPr>
                        <a:t>2.04%</a:t>
                      </a:r>
                      <a:endParaRPr lang="en-US" sz="1600" b="0" i="0" u="none" strike="noStrike">
                        <a:solidFill>
                          <a:srgbClr val="000000"/>
                        </a:solidFill>
                        <a:effectLst/>
                        <a:latin typeface="Times New Roman" panose="02020603050405020304" pitchFamily="18" charset="0"/>
                      </a:endParaRPr>
                    </a:p>
                  </a:txBody>
                  <a:tcPr marL="7620" marR="7620" marT="7620" marB="0" anchor="b"/>
                </a:tc>
                <a:tc>
                  <a:txBody>
                    <a:bodyPr/>
                    <a:lstStyle/>
                    <a:p>
                      <a:pPr algn="ctr" fontAlgn="b">
                        <a:buNone/>
                      </a:pPr>
                      <a:r>
                        <a:rPr lang="en-US" sz="1600" b="0" u="none" strike="noStrike" dirty="0">
                          <a:solidFill>
                            <a:srgbClr val="000000"/>
                          </a:solidFill>
                          <a:effectLst/>
                        </a:rPr>
                        <a:t>2.25%</a:t>
                      </a:r>
                      <a:endParaRPr lang="en-US" sz="1600" b="0" i="0" u="none" strike="noStrike" dirty="0">
                        <a:solidFill>
                          <a:srgbClr val="000000"/>
                        </a:solidFill>
                        <a:effectLst/>
                        <a:latin typeface="Times New Roman" panose="02020603050405020304" pitchFamily="18" charset="0"/>
                      </a:endParaRPr>
                    </a:p>
                  </a:txBody>
                  <a:tcPr marL="7620" marR="7620" marT="7620" marB="0" anchor="b"/>
                </a:tc>
                <a:extLst>
                  <a:ext uri="{0D108BD9-81ED-4DB2-BD59-A6C34878D82A}">
                    <a16:rowId xmlns:a16="http://schemas.microsoft.com/office/drawing/2014/main" val="3202127645"/>
                  </a:ext>
                </a:extLst>
              </a:tr>
            </a:tbl>
          </a:graphicData>
        </a:graphic>
      </p:graphicFrame>
      <p:graphicFrame>
        <p:nvGraphicFramePr>
          <p:cNvPr id="7" name="TextBox 4">
            <a:extLst>
              <a:ext uri="{FF2B5EF4-FFF2-40B4-BE49-F238E27FC236}">
                <a16:creationId xmlns:a16="http://schemas.microsoft.com/office/drawing/2014/main" id="{5272F17E-07B2-5BBA-28F5-39FC4C39F676}"/>
              </a:ext>
            </a:extLst>
          </p:cNvPr>
          <p:cNvGraphicFramePr/>
          <p:nvPr>
            <p:extLst>
              <p:ext uri="{D42A27DB-BD31-4B8C-83A1-F6EECF244321}">
                <p14:modId xmlns:p14="http://schemas.microsoft.com/office/powerpoint/2010/main" val="320643564"/>
              </p:ext>
            </p:extLst>
          </p:nvPr>
        </p:nvGraphicFramePr>
        <p:xfrm>
          <a:off x="677334" y="3429000"/>
          <a:ext cx="9970346" cy="31393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336894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1A5ED63-0729-3B40-7660-78090B1C743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E865EED-AD30-AF24-6260-2E6BBB5E3467}"/>
              </a:ext>
            </a:extLst>
          </p:cNvPr>
          <p:cNvSpPr>
            <a:spLocks noGrp="1"/>
          </p:cNvSpPr>
          <p:nvPr>
            <p:ph idx="1"/>
          </p:nvPr>
        </p:nvSpPr>
        <p:spPr>
          <a:xfrm>
            <a:off x="1198880" y="775286"/>
            <a:ext cx="10129520" cy="5290234"/>
          </a:xfrm>
        </p:spPr>
        <p:txBody>
          <a:bodyPr>
            <a:normAutofit/>
          </a:bodyPr>
          <a:lstStyle/>
          <a:p>
            <a:pPr marL="36900" indent="0">
              <a:buNone/>
            </a:pPr>
            <a:r>
              <a:rPr lang="el-GR" sz="2400" b="1" dirty="0">
                <a:latin typeface="Times New Roman" panose="02020603050405020304" pitchFamily="18" charset="0"/>
                <a:cs typeface="Times New Roman" panose="02020603050405020304" pitchFamily="18" charset="0"/>
              </a:rPr>
              <a:t>Παρατηρήσεις</a:t>
            </a:r>
            <a:r>
              <a:rPr lang="en-US" sz="2400" b="1"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l-GR" b="0" dirty="0">
                <a:latin typeface="Times New Roman" panose="02020603050405020304" pitchFamily="18" charset="0"/>
                <a:cs typeface="Times New Roman" panose="02020603050405020304" pitchFamily="18" charset="0"/>
              </a:rPr>
              <a:t>Η εταιρεία εμφανίζει μία ασθενή διετία (2021–2022), με πτώση κερδοφορίας, αύξηση αποτιμητικών δεικτών (P/E, EV/EBITDA) και συμπίεση περιθωρίων.</a:t>
            </a:r>
          </a:p>
          <a:p>
            <a:r>
              <a:rPr lang="el-GR" b="0" dirty="0">
                <a:latin typeface="Times New Roman" panose="02020603050405020304" pitchFamily="18" charset="0"/>
                <a:cs typeface="Times New Roman" panose="02020603050405020304" pitchFamily="18" charset="0"/>
              </a:rPr>
              <a:t>Από το 2023–2024 καταγράφεται σαφής ανάκαμψη, με ισχυρή βελτίωση σε EPS, ROE/ROA/ROCE, ρευστότητα και δείκτες αποτίμησης, υποδηλώνοντας επαναφορά της λειτουργικής απόδοσης.</a:t>
            </a:r>
          </a:p>
          <a:p>
            <a:r>
              <a:rPr lang="el-GR" b="0" dirty="0">
                <a:latin typeface="Times New Roman" panose="02020603050405020304" pitchFamily="18" charset="0"/>
                <a:cs typeface="Times New Roman" panose="02020603050405020304" pitchFamily="18" charset="0"/>
              </a:rPr>
              <a:t>Η κεφαλαιακή διάρθρωση παραμένει ιδιαιτέρως συντηρητική: χαμηλός δανεισμός, αρνητικό/χαμηλό Net Debt/EBITDA σε αρκετά έτη και περιορισμένος χρηματοοικονομικός κίνδυνος.</a:t>
            </a:r>
          </a:p>
          <a:p>
            <a:r>
              <a:rPr lang="el-GR" b="0" dirty="0">
                <a:latin typeface="Times New Roman" panose="02020603050405020304" pitchFamily="18" charset="0"/>
                <a:cs typeface="Times New Roman" panose="02020603050405020304" pitchFamily="18" charset="0"/>
              </a:rPr>
              <a:t>Οι δείκτες ρευστότητας είναι ισχυροί και σταθερά πάνω από τα ελάχιστα αποδεκτά επίπεδα, γεγονός που προσδίδει άνεση κεφαλαίου κίνησης και μικρή πιθανότητα πίεσης βραχυπρόθεσμων υποχρεώσεων.</a:t>
            </a:r>
          </a:p>
          <a:p>
            <a:r>
              <a:rPr lang="el-GR" b="0" dirty="0">
                <a:latin typeface="Times New Roman" panose="02020603050405020304" pitchFamily="18" charset="0"/>
                <a:cs typeface="Times New Roman" panose="02020603050405020304" pitchFamily="18" charset="0"/>
              </a:rPr>
              <a:t>Το Dividend Yield κινείται σε ήπια και σταθερά επίπεδα (≈2%–3%), αντανακλώντας συντηρητική μερισματική πολιτική και έμφαση στη διατήρηση ρευστότητας / επανεπένδυση κερδών.</a:t>
            </a:r>
          </a:p>
          <a:p>
            <a:r>
              <a:rPr lang="el-GR" b="0" dirty="0">
                <a:latin typeface="Times New Roman" panose="02020603050405020304" pitchFamily="18" charset="0"/>
                <a:cs typeface="Times New Roman" panose="02020603050405020304" pitchFamily="18" charset="0"/>
              </a:rPr>
              <a:t>Συνολικά, η ΚΡΙ-ΚΡΙ παρουσιάζει ισχυρή οικονομική θέση, με προσωρινή επιδείνωση στη διετία 2021–2022 και σημαντική βελτίωση τα επόμενα έτη, στοιχείο που ενισχύει την εικόνα χαμηλού κινδύνου και υγιούς χρηματοοικονομικής κατάστασης.</a:t>
            </a:r>
            <a:endParaRPr lang="en-US" b="0" dirty="0">
              <a:latin typeface="Times New Roman" panose="02020603050405020304" pitchFamily="18" charset="0"/>
              <a:cs typeface="Times New Roman" panose="02020603050405020304" pitchFamily="18" charset="0"/>
            </a:endParaRPr>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5604432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A733F-3D75-A3F3-271D-DED0ABD92930}"/>
              </a:ext>
            </a:extLst>
          </p:cNvPr>
          <p:cNvSpPr>
            <a:spLocks noGrp="1"/>
          </p:cNvSpPr>
          <p:nvPr>
            <p:ph type="title"/>
          </p:nvPr>
        </p:nvSpPr>
        <p:spPr>
          <a:xfrm>
            <a:off x="677334" y="287598"/>
            <a:ext cx="8596668" cy="773634"/>
          </a:xfrm>
        </p:spPr>
        <p:txBody>
          <a:bodyPr anchor="t">
            <a:normAutofit/>
          </a:bodyPr>
          <a:lstStyle/>
          <a:p>
            <a:r>
              <a:rPr lang="el-GR" b="1" dirty="0">
                <a:solidFill>
                  <a:schemeClr val="tx1"/>
                </a:solidFill>
              </a:rPr>
              <a:t>Σύγκριση με αγορά</a:t>
            </a:r>
            <a:endParaRPr lang="en-US" b="1" dirty="0">
              <a:solidFill>
                <a:schemeClr val="tx1"/>
              </a:solidFill>
            </a:endParaRPr>
          </a:p>
        </p:txBody>
      </p:sp>
      <p:pic>
        <p:nvPicPr>
          <p:cNvPr id="5" name="Picture 4" descr="A graph showing the price of a stock market&#10;&#10;AI-generated content may be incorrect.">
            <a:extLst>
              <a:ext uri="{FF2B5EF4-FFF2-40B4-BE49-F238E27FC236}">
                <a16:creationId xmlns:a16="http://schemas.microsoft.com/office/drawing/2014/main" id="{AC541B99-F454-AFDB-69B7-C4CEFECFD0ED}"/>
              </a:ext>
            </a:extLst>
          </p:cNvPr>
          <p:cNvPicPr>
            <a:picLocks noChangeAspect="1"/>
          </p:cNvPicPr>
          <p:nvPr/>
        </p:nvPicPr>
        <p:blipFill>
          <a:blip r:embed="rId2"/>
          <a:stretch>
            <a:fillRect/>
          </a:stretch>
        </p:blipFill>
        <p:spPr>
          <a:xfrm>
            <a:off x="677334" y="1185953"/>
            <a:ext cx="7551646" cy="3716421"/>
          </a:xfrm>
          <a:prstGeom prst="rect">
            <a:avLst/>
          </a:prstGeom>
        </p:spPr>
      </p:pic>
      <p:sp>
        <p:nvSpPr>
          <p:cNvPr id="8" name="TextBox 7">
            <a:extLst>
              <a:ext uri="{FF2B5EF4-FFF2-40B4-BE49-F238E27FC236}">
                <a16:creationId xmlns:a16="http://schemas.microsoft.com/office/drawing/2014/main" id="{651BD492-C166-F2B2-7728-F200D1B74ECC}"/>
              </a:ext>
            </a:extLst>
          </p:cNvPr>
          <p:cNvSpPr txBox="1"/>
          <p:nvPr/>
        </p:nvSpPr>
        <p:spPr>
          <a:xfrm>
            <a:off x="677334" y="5151816"/>
            <a:ext cx="9200313" cy="1477328"/>
          </a:xfrm>
          <a:prstGeom prst="rect">
            <a:avLst/>
          </a:prstGeom>
          <a:noFill/>
        </p:spPr>
        <p:txBody>
          <a:bodyPr wrap="square">
            <a:spAutoFit/>
          </a:bodyPr>
          <a:lstStyle/>
          <a:p>
            <a:r>
              <a:rPr lang="el-GR" dirty="0"/>
              <a:t>Στην περίοδο 01/01/2020–21/12/2025, ο δείκτης </a:t>
            </a:r>
            <a:r>
              <a:rPr lang="el-GR" b="1" dirty="0"/>
              <a:t>ATG</a:t>
            </a:r>
            <a:r>
              <a:rPr lang="el-GR" dirty="0"/>
              <a:t> σημείωσε άνοδο περίπου </a:t>
            </a:r>
            <a:r>
              <a:rPr lang="el-GR" b="1" dirty="0"/>
              <a:t>130%</a:t>
            </a:r>
            <a:r>
              <a:rPr lang="el-GR" dirty="0"/>
              <a:t>, ενώ η μετοχή της </a:t>
            </a:r>
            <a:r>
              <a:rPr lang="el-GR" b="1" dirty="0"/>
              <a:t>ΚΡΙ-ΚΡΙ κατέγραψε άνοδο ~272%</a:t>
            </a:r>
            <a:r>
              <a:rPr lang="el-GR" dirty="0"/>
              <a:t>. Αυτό σημαίνει ότι η ΚΡΙ-ΚΡΙ </a:t>
            </a:r>
            <a:r>
              <a:rPr lang="el-GR" b="1" dirty="0" err="1"/>
              <a:t>υπεραπέδωσε</a:t>
            </a:r>
            <a:r>
              <a:rPr lang="el-GR" b="1" dirty="0"/>
              <a:t> σημαντικά</a:t>
            </a:r>
            <a:r>
              <a:rPr lang="el-GR" dirty="0"/>
              <a:t> σε σχέση με την αγορά, προσφέροντας σχεδόν </a:t>
            </a:r>
            <a:r>
              <a:rPr lang="el-GR" b="1" dirty="0"/>
              <a:t>διπλάσια σωρευτική απόδοση</a:t>
            </a:r>
            <a:r>
              <a:rPr lang="el-GR" dirty="0"/>
              <a:t> από τον Γενικό Δείκτη. Η </a:t>
            </a:r>
            <a:r>
              <a:rPr lang="el-GR" dirty="0" err="1"/>
              <a:t>υπεραπόδοση</a:t>
            </a:r>
            <a:r>
              <a:rPr lang="el-GR" dirty="0"/>
              <a:t> αυτή είναι συμβατή με την ισχυρή βελτίωση των θεμελιωδών μεγεθών της εταιρείας τα τελευταία έτη.</a:t>
            </a:r>
          </a:p>
        </p:txBody>
      </p:sp>
    </p:spTree>
    <p:extLst>
      <p:ext uri="{BB962C8B-B14F-4D97-AF65-F5344CB8AC3E}">
        <p14:creationId xmlns:p14="http://schemas.microsoft.com/office/powerpoint/2010/main" val="23296957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2508BFC-3D78-CDD3-FF08-AFF63096BF4B}"/>
              </a:ext>
            </a:extLst>
          </p:cNvPr>
          <p:cNvGraphicFramePr>
            <a:graphicFrameLocks noGrp="1"/>
          </p:cNvGraphicFramePr>
          <p:nvPr>
            <p:ph idx="1"/>
            <p:extLst>
              <p:ext uri="{D42A27DB-BD31-4B8C-83A1-F6EECF244321}">
                <p14:modId xmlns:p14="http://schemas.microsoft.com/office/powerpoint/2010/main" val="407418562"/>
              </p:ext>
            </p:extLst>
          </p:nvPr>
        </p:nvGraphicFramePr>
        <p:xfrm>
          <a:off x="540507" y="1247199"/>
          <a:ext cx="9507264" cy="1490776"/>
        </p:xfrm>
        <a:graphic>
          <a:graphicData uri="http://schemas.openxmlformats.org/drawingml/2006/table">
            <a:tbl>
              <a:tblPr firstRow="1" bandRow="1">
                <a:tableStyleId>{00A15C55-8517-42AA-B614-E9B94910E393}</a:tableStyleId>
              </a:tblPr>
              <a:tblGrid>
                <a:gridCol w="1584544">
                  <a:extLst>
                    <a:ext uri="{9D8B030D-6E8A-4147-A177-3AD203B41FA5}">
                      <a16:colId xmlns:a16="http://schemas.microsoft.com/office/drawing/2014/main" val="873759315"/>
                    </a:ext>
                  </a:extLst>
                </a:gridCol>
                <a:gridCol w="1584544">
                  <a:extLst>
                    <a:ext uri="{9D8B030D-6E8A-4147-A177-3AD203B41FA5}">
                      <a16:colId xmlns:a16="http://schemas.microsoft.com/office/drawing/2014/main" val="4104307423"/>
                    </a:ext>
                  </a:extLst>
                </a:gridCol>
                <a:gridCol w="1584544">
                  <a:extLst>
                    <a:ext uri="{9D8B030D-6E8A-4147-A177-3AD203B41FA5}">
                      <a16:colId xmlns:a16="http://schemas.microsoft.com/office/drawing/2014/main" val="3585938063"/>
                    </a:ext>
                  </a:extLst>
                </a:gridCol>
                <a:gridCol w="1584544">
                  <a:extLst>
                    <a:ext uri="{9D8B030D-6E8A-4147-A177-3AD203B41FA5}">
                      <a16:colId xmlns:a16="http://schemas.microsoft.com/office/drawing/2014/main" val="1226620120"/>
                    </a:ext>
                  </a:extLst>
                </a:gridCol>
                <a:gridCol w="1584544">
                  <a:extLst>
                    <a:ext uri="{9D8B030D-6E8A-4147-A177-3AD203B41FA5}">
                      <a16:colId xmlns:a16="http://schemas.microsoft.com/office/drawing/2014/main" val="3679248171"/>
                    </a:ext>
                  </a:extLst>
                </a:gridCol>
                <a:gridCol w="1584544">
                  <a:extLst>
                    <a:ext uri="{9D8B030D-6E8A-4147-A177-3AD203B41FA5}">
                      <a16:colId xmlns:a16="http://schemas.microsoft.com/office/drawing/2014/main" val="1554963408"/>
                    </a:ext>
                  </a:extLst>
                </a:gridCol>
              </a:tblGrid>
              <a:tr h="316014">
                <a:tc>
                  <a:txBody>
                    <a:bodyPr/>
                    <a:lstStyle/>
                    <a:p>
                      <a:pPr algn="ctr"/>
                      <a:r>
                        <a:rPr lang="el-GR" dirty="0"/>
                        <a:t>Αγορά</a:t>
                      </a:r>
                      <a:endParaRPr lang="en-US" dirty="0"/>
                    </a:p>
                  </a:txBody>
                  <a:tcPr/>
                </a:tc>
                <a:tc>
                  <a:txBody>
                    <a:bodyPr/>
                    <a:lstStyle/>
                    <a:p>
                      <a:pPr algn="ctr"/>
                      <a:r>
                        <a:rPr lang="el-GR" dirty="0"/>
                        <a:t>2020</a:t>
                      </a:r>
                      <a:endParaRPr lang="en-US" dirty="0"/>
                    </a:p>
                  </a:txBody>
                  <a:tcPr/>
                </a:tc>
                <a:tc>
                  <a:txBody>
                    <a:bodyPr/>
                    <a:lstStyle/>
                    <a:p>
                      <a:pPr algn="ctr"/>
                      <a:r>
                        <a:rPr lang="el-GR" dirty="0"/>
                        <a:t>2021</a:t>
                      </a:r>
                      <a:endParaRPr lang="en-US" dirty="0"/>
                    </a:p>
                  </a:txBody>
                  <a:tcPr/>
                </a:tc>
                <a:tc>
                  <a:txBody>
                    <a:bodyPr/>
                    <a:lstStyle/>
                    <a:p>
                      <a:pPr algn="ctr"/>
                      <a:r>
                        <a:rPr lang="el-GR" dirty="0"/>
                        <a:t>2022</a:t>
                      </a:r>
                      <a:endParaRPr lang="en-US" dirty="0"/>
                    </a:p>
                  </a:txBody>
                  <a:tcPr/>
                </a:tc>
                <a:tc>
                  <a:txBody>
                    <a:bodyPr/>
                    <a:lstStyle/>
                    <a:p>
                      <a:pPr algn="ctr"/>
                      <a:r>
                        <a:rPr lang="el-GR" dirty="0"/>
                        <a:t>2023</a:t>
                      </a:r>
                      <a:endParaRPr lang="en-US" dirty="0"/>
                    </a:p>
                  </a:txBody>
                  <a:tcPr/>
                </a:tc>
                <a:tc>
                  <a:txBody>
                    <a:bodyPr/>
                    <a:lstStyle/>
                    <a:p>
                      <a:pPr algn="ctr"/>
                      <a:r>
                        <a:rPr lang="el-GR" dirty="0"/>
                        <a:t>2024</a:t>
                      </a:r>
                      <a:endParaRPr lang="en-US" dirty="0"/>
                    </a:p>
                  </a:txBody>
                  <a:tcPr/>
                </a:tc>
                <a:extLst>
                  <a:ext uri="{0D108BD9-81ED-4DB2-BD59-A6C34878D82A}">
                    <a16:rowId xmlns:a16="http://schemas.microsoft.com/office/drawing/2014/main" val="1616326661"/>
                  </a:ext>
                </a:extLst>
              </a:tr>
              <a:tr h="281254">
                <a:tc>
                  <a:txBody>
                    <a:bodyPr/>
                    <a:lstStyle/>
                    <a:p>
                      <a:pPr algn="ctr" fontAlgn="b">
                        <a:buNone/>
                      </a:pPr>
                      <a:r>
                        <a:rPr lang="en-US" sz="1400" b="1" u="none" strike="noStrike" dirty="0">
                          <a:solidFill>
                            <a:srgbClr val="000000"/>
                          </a:solidFill>
                          <a:effectLst/>
                          <a:latin typeface="Times New Roman" panose="02020603050405020304" pitchFamily="18" charset="0"/>
                          <a:cs typeface="Times New Roman" panose="02020603050405020304" pitchFamily="18" charset="0"/>
                        </a:rPr>
                        <a:t>ROE</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latin typeface="Times New Roman" panose="02020603050405020304" pitchFamily="18" charset="0"/>
                          <a:cs typeface="Times New Roman" panose="02020603050405020304" pitchFamily="18" charset="0"/>
                        </a:rPr>
                        <a:t>-0.053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0.071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0.123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0.142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0.139</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1703205269"/>
                  </a:ext>
                </a:extLst>
              </a:tr>
              <a:tr h="281254">
                <a:tc>
                  <a:txBody>
                    <a:bodyPr/>
                    <a:lstStyle/>
                    <a:p>
                      <a:pPr algn="ctr" fontAlgn="b">
                        <a:buNone/>
                      </a:pPr>
                      <a:r>
                        <a:rPr lang="en-US" sz="1400" b="1" u="none" strike="noStrike">
                          <a:solidFill>
                            <a:srgbClr val="000000"/>
                          </a:solidFill>
                          <a:effectLst/>
                          <a:latin typeface="Times New Roman" panose="02020603050405020304" pitchFamily="18" charset="0"/>
                          <a:cs typeface="Times New Roman" panose="02020603050405020304" pitchFamily="18" charset="0"/>
                        </a:rPr>
                        <a:t>P/E</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latin typeface="Times New Roman" panose="02020603050405020304" pitchFamily="18" charset="0"/>
                          <a:cs typeface="Times New Roman" panose="02020603050405020304" pitchFamily="18" charset="0"/>
                        </a:rPr>
                        <a:t>-24.022</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18.284</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latin typeface="Times New Roman" panose="02020603050405020304" pitchFamily="18" charset="0"/>
                          <a:cs typeface="Times New Roman" panose="02020603050405020304" pitchFamily="18" charset="0"/>
                        </a:rPr>
                        <a:t>8.419</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latin typeface="Times New Roman" panose="02020603050405020304" pitchFamily="18" charset="0"/>
                          <a:cs typeface="Times New Roman" panose="02020603050405020304" pitchFamily="18" charset="0"/>
                        </a:rPr>
                        <a:t>9.185</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10.344</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4253152863"/>
                  </a:ext>
                </a:extLst>
              </a:tr>
              <a:tr h="281254">
                <a:tc>
                  <a:txBody>
                    <a:bodyPr/>
                    <a:lstStyle/>
                    <a:p>
                      <a:pPr algn="ctr" fontAlgn="b">
                        <a:buNone/>
                      </a:pPr>
                      <a:r>
                        <a:rPr lang="en-US" sz="1400" b="1" u="none" strike="noStrike">
                          <a:solidFill>
                            <a:srgbClr val="000000"/>
                          </a:solidFill>
                          <a:effectLst/>
                          <a:latin typeface="Times New Roman" panose="02020603050405020304" pitchFamily="18" charset="0"/>
                          <a:cs typeface="Times New Roman" panose="02020603050405020304" pitchFamily="18" charset="0"/>
                        </a:rPr>
                        <a:t>Ev/Ebidta</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8.978</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8.886</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6.725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latin typeface="Times New Roman" panose="02020603050405020304" pitchFamily="18" charset="0"/>
                          <a:cs typeface="Times New Roman" panose="02020603050405020304" pitchFamily="18" charset="0"/>
                        </a:rPr>
                        <a:t>7.621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latin typeface="Times New Roman" panose="02020603050405020304" pitchFamily="18" charset="0"/>
                          <a:cs typeface="Times New Roman" panose="02020603050405020304" pitchFamily="18" charset="0"/>
                        </a:rPr>
                        <a:t>7.473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644818779"/>
                  </a:ext>
                </a:extLst>
              </a:tr>
              <a:tr h="281254">
                <a:tc>
                  <a:txBody>
                    <a:bodyPr/>
                    <a:lstStyle/>
                    <a:p>
                      <a:pPr algn="ctr" fontAlgn="b">
                        <a:buNone/>
                      </a:pPr>
                      <a:r>
                        <a:rPr lang="en-US" sz="1400" b="1" u="none" strike="noStrike">
                          <a:solidFill>
                            <a:srgbClr val="000000"/>
                          </a:solidFill>
                          <a:effectLst/>
                          <a:latin typeface="Times New Roman" panose="02020603050405020304" pitchFamily="18" charset="0"/>
                          <a:cs typeface="Times New Roman" panose="02020603050405020304" pitchFamily="18" charset="0"/>
                        </a:rPr>
                        <a:t>Divident Yield</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3.01%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1.70%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2.56%</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a:solidFill>
                            <a:srgbClr val="000000"/>
                          </a:solidFill>
                          <a:effectLst/>
                          <a:latin typeface="Times New Roman" panose="02020603050405020304" pitchFamily="18" charset="0"/>
                          <a:cs typeface="Times New Roman" panose="02020603050405020304" pitchFamily="18" charset="0"/>
                        </a:rPr>
                        <a:t>3.90%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buNone/>
                      </a:pPr>
                      <a:r>
                        <a:rPr lang="en-US" sz="1400" b="0" u="none" strike="noStrike" dirty="0">
                          <a:solidFill>
                            <a:srgbClr val="000000"/>
                          </a:solidFill>
                          <a:effectLst/>
                          <a:latin typeface="Times New Roman" panose="02020603050405020304" pitchFamily="18" charset="0"/>
                          <a:cs typeface="Times New Roman" panose="02020603050405020304" pitchFamily="18" charset="0"/>
                        </a:rPr>
                        <a:t>3.49%</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extLst>
                  <a:ext uri="{0D108BD9-81ED-4DB2-BD59-A6C34878D82A}">
                    <a16:rowId xmlns:a16="http://schemas.microsoft.com/office/drawing/2014/main" val="176108480"/>
                  </a:ext>
                </a:extLst>
              </a:tr>
            </a:tbl>
          </a:graphicData>
        </a:graphic>
      </p:graphicFrame>
      <p:graphicFrame>
        <p:nvGraphicFramePr>
          <p:cNvPr id="5" name="Table 4">
            <a:extLst>
              <a:ext uri="{FF2B5EF4-FFF2-40B4-BE49-F238E27FC236}">
                <a16:creationId xmlns:a16="http://schemas.microsoft.com/office/drawing/2014/main" id="{805B4F40-919B-72AB-85C8-576F340F42B2}"/>
              </a:ext>
            </a:extLst>
          </p:cNvPr>
          <p:cNvGraphicFramePr>
            <a:graphicFrameLocks noGrp="1"/>
          </p:cNvGraphicFramePr>
          <p:nvPr>
            <p:extLst>
              <p:ext uri="{D42A27DB-BD31-4B8C-83A1-F6EECF244321}">
                <p14:modId xmlns:p14="http://schemas.microsoft.com/office/powerpoint/2010/main" val="1824987931"/>
              </p:ext>
            </p:extLst>
          </p:nvPr>
        </p:nvGraphicFramePr>
        <p:xfrm>
          <a:off x="540507" y="2854390"/>
          <a:ext cx="9507264" cy="1680848"/>
        </p:xfrm>
        <a:graphic>
          <a:graphicData uri="http://schemas.openxmlformats.org/drawingml/2006/table">
            <a:tbl>
              <a:tblPr firstRow="1" bandRow="1">
                <a:tableStyleId>{00A15C55-8517-42AA-B614-E9B94910E393}</a:tableStyleId>
              </a:tblPr>
              <a:tblGrid>
                <a:gridCol w="1584544">
                  <a:extLst>
                    <a:ext uri="{9D8B030D-6E8A-4147-A177-3AD203B41FA5}">
                      <a16:colId xmlns:a16="http://schemas.microsoft.com/office/drawing/2014/main" val="1685561174"/>
                    </a:ext>
                  </a:extLst>
                </a:gridCol>
                <a:gridCol w="1584544">
                  <a:extLst>
                    <a:ext uri="{9D8B030D-6E8A-4147-A177-3AD203B41FA5}">
                      <a16:colId xmlns:a16="http://schemas.microsoft.com/office/drawing/2014/main" val="2284416199"/>
                    </a:ext>
                  </a:extLst>
                </a:gridCol>
                <a:gridCol w="1584544">
                  <a:extLst>
                    <a:ext uri="{9D8B030D-6E8A-4147-A177-3AD203B41FA5}">
                      <a16:colId xmlns:a16="http://schemas.microsoft.com/office/drawing/2014/main" val="4194398406"/>
                    </a:ext>
                  </a:extLst>
                </a:gridCol>
                <a:gridCol w="1584544">
                  <a:extLst>
                    <a:ext uri="{9D8B030D-6E8A-4147-A177-3AD203B41FA5}">
                      <a16:colId xmlns:a16="http://schemas.microsoft.com/office/drawing/2014/main" val="1766778042"/>
                    </a:ext>
                  </a:extLst>
                </a:gridCol>
                <a:gridCol w="1584544">
                  <a:extLst>
                    <a:ext uri="{9D8B030D-6E8A-4147-A177-3AD203B41FA5}">
                      <a16:colId xmlns:a16="http://schemas.microsoft.com/office/drawing/2014/main" val="1741074266"/>
                    </a:ext>
                  </a:extLst>
                </a:gridCol>
                <a:gridCol w="1584544">
                  <a:extLst>
                    <a:ext uri="{9D8B030D-6E8A-4147-A177-3AD203B41FA5}">
                      <a16:colId xmlns:a16="http://schemas.microsoft.com/office/drawing/2014/main" val="1750808435"/>
                    </a:ext>
                  </a:extLst>
                </a:gridCol>
              </a:tblGrid>
              <a:tr h="328772">
                <a:tc>
                  <a:txBody>
                    <a:bodyPr/>
                    <a:lstStyle/>
                    <a:p>
                      <a:pPr algn="ctr"/>
                      <a:r>
                        <a:rPr lang="el-GR" dirty="0"/>
                        <a:t>ΚΡΙ-ΚΡΙ</a:t>
                      </a:r>
                      <a:endParaRPr lang="en-US" dirty="0"/>
                    </a:p>
                  </a:txBody>
                  <a:tcPr/>
                </a:tc>
                <a:tc>
                  <a:txBody>
                    <a:bodyPr/>
                    <a:lstStyle/>
                    <a:p>
                      <a:pPr algn="ctr"/>
                      <a:r>
                        <a:rPr lang="el-GR" dirty="0"/>
                        <a:t>2020</a:t>
                      </a:r>
                      <a:endParaRPr lang="en-US" dirty="0"/>
                    </a:p>
                  </a:txBody>
                  <a:tcPr/>
                </a:tc>
                <a:tc>
                  <a:txBody>
                    <a:bodyPr/>
                    <a:lstStyle/>
                    <a:p>
                      <a:pPr algn="ctr"/>
                      <a:r>
                        <a:rPr lang="el-GR" dirty="0"/>
                        <a:t>2021</a:t>
                      </a:r>
                      <a:endParaRPr lang="en-US" dirty="0"/>
                    </a:p>
                  </a:txBody>
                  <a:tcPr/>
                </a:tc>
                <a:tc>
                  <a:txBody>
                    <a:bodyPr/>
                    <a:lstStyle/>
                    <a:p>
                      <a:pPr algn="ctr"/>
                      <a:r>
                        <a:rPr lang="el-GR" dirty="0"/>
                        <a:t>2022</a:t>
                      </a:r>
                      <a:endParaRPr lang="en-US" dirty="0"/>
                    </a:p>
                  </a:txBody>
                  <a:tcPr/>
                </a:tc>
                <a:tc>
                  <a:txBody>
                    <a:bodyPr/>
                    <a:lstStyle/>
                    <a:p>
                      <a:pPr algn="ctr"/>
                      <a:r>
                        <a:rPr lang="el-GR" dirty="0"/>
                        <a:t>2023</a:t>
                      </a:r>
                      <a:endParaRPr lang="en-US" dirty="0"/>
                    </a:p>
                  </a:txBody>
                  <a:tcPr/>
                </a:tc>
                <a:tc>
                  <a:txBody>
                    <a:bodyPr/>
                    <a:lstStyle/>
                    <a:p>
                      <a:pPr algn="ctr"/>
                      <a:r>
                        <a:rPr lang="el-GR" dirty="0"/>
                        <a:t>2024</a:t>
                      </a:r>
                      <a:endParaRPr lang="en-US" dirty="0"/>
                    </a:p>
                  </a:txBody>
                  <a:tcPr/>
                </a:tc>
                <a:extLst>
                  <a:ext uri="{0D108BD9-81ED-4DB2-BD59-A6C34878D82A}">
                    <a16:rowId xmlns:a16="http://schemas.microsoft.com/office/drawing/2014/main" val="2179706907"/>
                  </a:ext>
                </a:extLst>
              </a:tr>
              <a:tr h="328772">
                <a:tc>
                  <a:txBody>
                    <a:bodyPr/>
                    <a:lstStyle/>
                    <a:p>
                      <a:pPr algn="ctr" fontAlgn="b">
                        <a:buNone/>
                      </a:pPr>
                      <a:r>
                        <a:rPr lang="en-US" sz="1400" b="1" i="0" u="none" strike="noStrike">
                          <a:solidFill>
                            <a:srgbClr val="000000"/>
                          </a:solidFill>
                          <a:effectLst/>
                          <a:latin typeface="Times New Roman" panose="02020603050405020304" pitchFamily="18" charset="0"/>
                        </a:rPr>
                        <a:t>ROE</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0.209</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0.159</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0.040</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0.308</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0.271</a:t>
                      </a:r>
                    </a:p>
                  </a:txBody>
                  <a:tcPr marL="7620" marR="7620" marT="7620" marB="0" anchor="b"/>
                </a:tc>
                <a:extLst>
                  <a:ext uri="{0D108BD9-81ED-4DB2-BD59-A6C34878D82A}">
                    <a16:rowId xmlns:a16="http://schemas.microsoft.com/office/drawing/2014/main" val="1276920825"/>
                  </a:ext>
                </a:extLst>
              </a:tr>
              <a:tr h="328772">
                <a:tc>
                  <a:txBody>
                    <a:bodyPr/>
                    <a:lstStyle/>
                    <a:p>
                      <a:pPr algn="ctr" fontAlgn="b">
                        <a:buNone/>
                      </a:pPr>
                      <a:r>
                        <a:rPr lang="en-US" sz="1400" b="1" i="0" u="none" strike="noStrike">
                          <a:solidFill>
                            <a:srgbClr val="000000"/>
                          </a:solidFill>
                          <a:effectLst/>
                          <a:latin typeface="Times New Roman" panose="02020603050405020304" pitchFamily="18" charset="0"/>
                        </a:rPr>
                        <a:t>P/E</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13.632</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21.207</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64.338</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10.020</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14.852</a:t>
                      </a:r>
                    </a:p>
                  </a:txBody>
                  <a:tcPr marL="7620" marR="7620" marT="7620" marB="0" anchor="b"/>
                </a:tc>
                <a:extLst>
                  <a:ext uri="{0D108BD9-81ED-4DB2-BD59-A6C34878D82A}">
                    <a16:rowId xmlns:a16="http://schemas.microsoft.com/office/drawing/2014/main" val="2223830884"/>
                  </a:ext>
                </a:extLst>
              </a:tr>
              <a:tr h="328772">
                <a:tc>
                  <a:txBody>
                    <a:bodyPr/>
                    <a:lstStyle/>
                    <a:p>
                      <a:pPr algn="ctr" fontAlgn="b">
                        <a:buNone/>
                      </a:pPr>
                      <a:r>
                        <a:rPr lang="en-US" sz="1400" b="1" i="0" u="none" strike="noStrike">
                          <a:solidFill>
                            <a:srgbClr val="000000"/>
                          </a:solidFill>
                          <a:effectLst/>
                          <a:latin typeface="Times New Roman" panose="02020603050405020304" pitchFamily="18" charset="0"/>
                        </a:rPr>
                        <a:t>EV/EBIDTA</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9.584</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13.044</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22.911</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6.902</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11.654</a:t>
                      </a:r>
                    </a:p>
                  </a:txBody>
                  <a:tcPr marL="7620" marR="7620" marT="7620" marB="0" anchor="b"/>
                </a:tc>
                <a:extLst>
                  <a:ext uri="{0D108BD9-81ED-4DB2-BD59-A6C34878D82A}">
                    <a16:rowId xmlns:a16="http://schemas.microsoft.com/office/drawing/2014/main" val="2052475272"/>
                  </a:ext>
                </a:extLst>
              </a:tr>
              <a:tr h="328772">
                <a:tc>
                  <a:txBody>
                    <a:bodyPr/>
                    <a:lstStyle/>
                    <a:p>
                      <a:pPr algn="ctr" fontAlgn="b">
                        <a:buNone/>
                      </a:pPr>
                      <a:r>
                        <a:rPr lang="en-US" sz="1400" b="1" i="0" u="none" strike="noStrike">
                          <a:solidFill>
                            <a:srgbClr val="000000"/>
                          </a:solidFill>
                          <a:effectLst/>
                          <a:latin typeface="Times New Roman" panose="02020603050405020304" pitchFamily="18" charset="0"/>
                        </a:rPr>
                        <a:t>Divident Yield</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2.58%</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2.49%</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3.24%</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2.04%</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2.25%</a:t>
                      </a:r>
                    </a:p>
                  </a:txBody>
                  <a:tcPr marL="7620" marR="7620" marT="7620" marB="0" anchor="b"/>
                </a:tc>
                <a:extLst>
                  <a:ext uri="{0D108BD9-81ED-4DB2-BD59-A6C34878D82A}">
                    <a16:rowId xmlns:a16="http://schemas.microsoft.com/office/drawing/2014/main" val="1790442271"/>
                  </a:ext>
                </a:extLst>
              </a:tr>
            </a:tbl>
          </a:graphicData>
        </a:graphic>
      </p:graphicFrame>
      <p:sp>
        <p:nvSpPr>
          <p:cNvPr id="6" name="TextBox 5">
            <a:extLst>
              <a:ext uri="{FF2B5EF4-FFF2-40B4-BE49-F238E27FC236}">
                <a16:creationId xmlns:a16="http://schemas.microsoft.com/office/drawing/2014/main" id="{B46E412F-92A1-4FA5-48F1-B34350F411AB}"/>
              </a:ext>
            </a:extLst>
          </p:cNvPr>
          <p:cNvSpPr txBox="1"/>
          <p:nvPr/>
        </p:nvSpPr>
        <p:spPr>
          <a:xfrm>
            <a:off x="460889" y="4651653"/>
            <a:ext cx="10235464" cy="2031325"/>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Σημειώσεις:</a:t>
            </a:r>
          </a:p>
          <a:p>
            <a:pPr marL="285750" indent="-285750">
              <a:buFont typeface="Arial" panose="020B0604020202020204" pitchFamily="34" charset="0"/>
              <a:buChar char="•"/>
            </a:pPr>
            <a:r>
              <a:rPr lang="el-GR" dirty="0">
                <a:latin typeface="Times New Roman" panose="02020603050405020304" pitchFamily="18" charset="0"/>
                <a:cs typeface="Times New Roman" panose="02020603050405020304" pitchFamily="18" charset="0"/>
              </a:rPr>
              <a:t>Για τη σύγκριση με την αγορά χρησιμοποιήθηκε ο δείκτης ATG (Γενικός Δείκτης ΧΑ) για τις αποδόσεις τιμών, ενώ για τους αριθμοδείκτες αποτίμησης και κερδοφορίας κατασκευάστηκε </a:t>
            </a:r>
            <a:r>
              <a:rPr lang="el-GR" dirty="0" err="1">
                <a:latin typeface="Times New Roman" panose="02020603050405020304" pitchFamily="18" charset="0"/>
                <a:cs typeface="Times New Roman" panose="02020603050405020304" pitchFamily="18" charset="0"/>
              </a:rPr>
              <a:t>proxy</a:t>
            </a:r>
            <a:r>
              <a:rPr lang="el-GR" dirty="0">
                <a:latin typeface="Times New Roman" panose="02020603050405020304" pitchFamily="18" charset="0"/>
                <a:cs typeface="Times New Roman" panose="02020603050405020304" pitchFamily="18" charset="0"/>
              </a:rPr>
              <a:t> της αγοράς ως σταθμισμένος μέσος όρος (με βάση το </a:t>
            </a:r>
            <a:r>
              <a:rPr lang="el-GR" dirty="0" err="1">
                <a:latin typeface="Times New Roman" panose="02020603050405020304" pitchFamily="18" charset="0"/>
                <a:cs typeface="Times New Roman" panose="02020603050405020304" pitchFamily="18" charset="0"/>
              </a:rPr>
              <a:t>market</a:t>
            </a:r>
            <a:r>
              <a:rPr lang="el-GR" dirty="0">
                <a:latin typeface="Times New Roman" panose="02020603050405020304" pitchFamily="18" charset="0"/>
                <a:cs typeface="Times New Roman" panose="02020603050405020304" pitchFamily="18" charset="0"/>
              </a:rPr>
              <a:t> </a:t>
            </a:r>
            <a:r>
              <a:rPr lang="el-GR" dirty="0" err="1">
                <a:latin typeface="Times New Roman" panose="02020603050405020304" pitchFamily="18" charset="0"/>
                <a:cs typeface="Times New Roman" panose="02020603050405020304" pitchFamily="18" charset="0"/>
              </a:rPr>
              <a:t>cap</a:t>
            </a:r>
            <a:r>
              <a:rPr lang="el-GR" dirty="0">
                <a:latin typeface="Times New Roman" panose="02020603050405020304" pitchFamily="18" charset="0"/>
                <a:cs typeface="Times New Roman" panose="02020603050405020304" pitchFamily="18" charset="0"/>
              </a:rPr>
              <a:t>) τεσσάρων μεγάλων εταιρειών του δείκτη (</a:t>
            </a:r>
            <a:r>
              <a:rPr lang="el-GR" dirty="0" err="1">
                <a:latin typeface="Times New Roman" panose="02020603050405020304" pitchFamily="18" charset="0"/>
                <a:cs typeface="Times New Roman" panose="02020603050405020304" pitchFamily="18" charset="0"/>
              </a:rPr>
              <a:t>Coca</a:t>
            </a:r>
            <a:r>
              <a:rPr lang="el-GR" dirty="0">
                <a:latin typeface="Times New Roman" panose="02020603050405020304" pitchFamily="18" charset="0"/>
                <a:cs typeface="Times New Roman" panose="02020603050405020304" pitchFamily="18" charset="0"/>
              </a:rPr>
              <a:t> </a:t>
            </a:r>
            <a:r>
              <a:rPr lang="el-GR" dirty="0" err="1">
                <a:latin typeface="Times New Roman" panose="02020603050405020304" pitchFamily="18" charset="0"/>
                <a:cs typeface="Times New Roman" panose="02020603050405020304" pitchFamily="18" charset="0"/>
              </a:rPr>
              <a:t>Cola</a:t>
            </a:r>
            <a:r>
              <a:rPr lang="el-GR" dirty="0">
                <a:latin typeface="Times New Roman" panose="02020603050405020304" pitchFamily="18" charset="0"/>
                <a:cs typeface="Times New Roman" panose="02020603050405020304" pitchFamily="18" charset="0"/>
              </a:rPr>
              <a:t> HBC, </a:t>
            </a:r>
            <a:r>
              <a:rPr lang="el-GR" dirty="0" err="1">
                <a:latin typeface="Times New Roman" panose="02020603050405020304" pitchFamily="18" charset="0"/>
                <a:cs typeface="Times New Roman" panose="02020603050405020304" pitchFamily="18" charset="0"/>
              </a:rPr>
              <a:t>Eurobank</a:t>
            </a:r>
            <a:r>
              <a:rPr lang="el-GR" dirty="0">
                <a:latin typeface="Times New Roman" panose="02020603050405020304" pitchFamily="18" charset="0"/>
                <a:cs typeface="Times New Roman" panose="02020603050405020304" pitchFamily="18" charset="0"/>
              </a:rPr>
              <a:t>, ΔΕΗ, Jumbo).</a:t>
            </a:r>
          </a:p>
          <a:p>
            <a:pPr marL="285750" indent="-285750">
              <a:buFont typeface="Arial" panose="020B0604020202020204" pitchFamily="34" charset="0"/>
              <a:buChar char="•"/>
            </a:pPr>
            <a:r>
              <a:rPr lang="el-GR" dirty="0">
                <a:latin typeface="Times New Roman" panose="02020603050405020304" pitchFamily="18" charset="0"/>
                <a:cs typeface="Times New Roman" panose="02020603050405020304" pitchFamily="18" charset="0"/>
              </a:rPr>
              <a:t>Σε περιόδους αρνητικής κερδοφορίας (2020 =&gt; αρνητικό ROE) οι δείκτες P/E της αγοράς αποκτούν περιορισμένη ερμηνευτική αξία</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FB2DDE2-71DD-5A1C-9090-5233E5B87031}"/>
              </a:ext>
            </a:extLst>
          </p:cNvPr>
          <p:cNvSpPr txBox="1"/>
          <p:nvPr/>
        </p:nvSpPr>
        <p:spPr>
          <a:xfrm>
            <a:off x="540507" y="233916"/>
            <a:ext cx="7508340" cy="584775"/>
          </a:xfrm>
          <a:prstGeom prst="rect">
            <a:avLst/>
          </a:prstGeom>
          <a:noFill/>
        </p:spPr>
        <p:txBody>
          <a:bodyPr wrap="square" rtlCol="0">
            <a:spAutoFit/>
          </a:bodyPr>
          <a:lstStyle/>
          <a:p>
            <a:r>
              <a:rPr lang="el-GR" sz="3200" b="1" dirty="0">
                <a:latin typeface="+mj-lt"/>
                <a:cs typeface="Times New Roman" panose="02020603050405020304" pitchFamily="18" charset="0"/>
              </a:rPr>
              <a:t>Αριθμοδείκτες</a:t>
            </a:r>
          </a:p>
        </p:txBody>
      </p:sp>
    </p:spTree>
    <p:extLst>
      <p:ext uri="{BB962C8B-B14F-4D97-AF65-F5344CB8AC3E}">
        <p14:creationId xmlns:p14="http://schemas.microsoft.com/office/powerpoint/2010/main" val="370306358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88FA2F54-4851-D873-6379-8B2CAC083A6B}"/>
              </a:ext>
            </a:extLst>
          </p:cNvPr>
          <p:cNvSpPr>
            <a:spLocks noGrp="1"/>
          </p:cNvSpPr>
          <p:nvPr>
            <p:ph idx="1"/>
          </p:nvPr>
        </p:nvSpPr>
        <p:spPr>
          <a:xfrm>
            <a:off x="1127051" y="723014"/>
            <a:ext cx="10377377" cy="5369442"/>
          </a:xfrm>
        </p:spPr>
        <p:txBody>
          <a:bodyPr>
            <a:normAutofit/>
          </a:bodyPr>
          <a:lstStyle/>
          <a:p>
            <a:pPr marL="0" indent="0">
              <a:lnSpc>
                <a:spcPct val="90000"/>
              </a:lnSpc>
              <a:buNone/>
            </a:pPr>
            <a:r>
              <a:rPr lang="el-GR" sz="2400" b="1" dirty="0">
                <a:latin typeface="Times New Roman" panose="02020603050405020304" pitchFamily="18" charset="0"/>
                <a:cs typeface="Times New Roman" panose="02020603050405020304" pitchFamily="18" charset="0"/>
              </a:rPr>
              <a:t>Παρατηρήσεις</a:t>
            </a:r>
          </a:p>
          <a:p>
            <a:pPr>
              <a:lnSpc>
                <a:spcPct val="90000"/>
              </a:lnSpc>
            </a:pPr>
            <a:r>
              <a:rPr lang="el-GR" sz="2000" dirty="0">
                <a:latin typeface="Times New Roman" panose="02020603050405020304" pitchFamily="18" charset="0"/>
                <a:cs typeface="Times New Roman" panose="02020603050405020304" pitchFamily="18" charset="0"/>
              </a:rPr>
              <a:t>Η ΚΡΙ-ΚΡΙ εμφανίζει στις περισσότερες χρήσεις υψηλότερο ROE σε σχέση με την αγορά, γεγονός που δείχνει πιο αποτελεσματική αξιοποίηση των ιδίων κεφαλαίων. Ωστόσο, η επίδοση αυτή συνοδεύεται από μεγαλύτερη κυκλικότητα στη διετία 2021–2022, κάτι που υποδηλώνει ότι η κερδοφορία της εταιρείας είναι ευαίσθητη σε περιόδους πίεσης κόστους ή περιθωρίων.</a:t>
            </a:r>
          </a:p>
          <a:p>
            <a:pPr>
              <a:lnSpc>
                <a:spcPct val="90000"/>
              </a:lnSpc>
            </a:pPr>
            <a:r>
              <a:rPr lang="el-GR" sz="2000" dirty="0">
                <a:latin typeface="Times New Roman" panose="02020603050405020304" pitchFamily="18" charset="0"/>
                <a:cs typeface="Times New Roman" panose="02020603050405020304" pitchFamily="18" charset="0"/>
              </a:rPr>
              <a:t>Οι δείκτες αποτίμησης (P/E και EV/EBITDA) διαμορφώνονται συχνά υψηλότερα από τα επίπεδα της αγοράς. Αυτό μπορεί να αντανακλά θετικές προσδοκίες των επενδυτών για ανάκαμψη και ανάπτυξη (προσδοκίες οι οποίες, σε μεγάλο βαθμό, επιβεβαιώνονται στα έτη 2023–2024 μετά την υποχώρηση της κερδοφορίας στη διετία 2021–2022), αλλά ταυτόχρονα συνεπάγεται αυξημένο κίνδυνο υπερτίμησης, ιδίως σε περιόδους όπου τα κέρδη υποχωρούν.</a:t>
            </a:r>
          </a:p>
          <a:p>
            <a:pPr>
              <a:lnSpc>
                <a:spcPct val="90000"/>
              </a:lnSpc>
            </a:pPr>
            <a:r>
              <a:rPr lang="el-GR" sz="2000" dirty="0">
                <a:latin typeface="Times New Roman" panose="02020603050405020304" pitchFamily="18" charset="0"/>
                <a:cs typeface="Times New Roman" panose="02020603050405020304" pitchFamily="18" charset="0"/>
              </a:rPr>
              <a:t>Στα πιο πρόσφατα έτη παρατηρείται μερική σύγκλιση της αποτίμησης προς τον μέσο όρο της αγοράς, γεγονός που δείχνει ότι οι προσδοκίες έχουν σε κάποιο βαθμό εξομαλυνθεί, χωρίς όμως να εξαφανίζεται πλήρως το </a:t>
            </a:r>
            <a:r>
              <a:rPr lang="el-GR" sz="2000" dirty="0" err="1">
                <a:latin typeface="Times New Roman" panose="02020603050405020304" pitchFamily="18" charset="0"/>
                <a:cs typeface="Times New Roman" panose="02020603050405020304" pitchFamily="18" charset="0"/>
              </a:rPr>
              <a:t>αποτιμητικό</a:t>
            </a:r>
            <a:r>
              <a:rPr lang="el-GR" sz="2000" dirty="0">
                <a:latin typeface="Times New Roman" panose="02020603050405020304" pitchFamily="18" charset="0"/>
                <a:cs typeface="Times New Roman" panose="02020603050405020304" pitchFamily="18" charset="0"/>
              </a:rPr>
              <a:t> </a:t>
            </a:r>
            <a:r>
              <a:rPr lang="el-GR" sz="2000" dirty="0" err="1">
                <a:latin typeface="Times New Roman" panose="02020603050405020304" pitchFamily="18" charset="0"/>
                <a:cs typeface="Times New Roman" panose="02020603050405020304" pitchFamily="18" charset="0"/>
              </a:rPr>
              <a:t>premium</a:t>
            </a:r>
            <a:r>
              <a:rPr lang="el-GR" sz="2000" dirty="0">
                <a:latin typeface="Times New Roman" panose="02020603050405020304" pitchFamily="18" charset="0"/>
                <a:cs typeface="Times New Roman" panose="02020603050405020304" pitchFamily="18" charset="0"/>
              </a:rPr>
              <a:t> της μετοχής.</a:t>
            </a:r>
          </a:p>
          <a:p>
            <a:pPr>
              <a:lnSpc>
                <a:spcPct val="90000"/>
              </a:lnSpc>
            </a:pPr>
            <a:r>
              <a:rPr lang="el-GR" sz="2000" dirty="0">
                <a:latin typeface="Times New Roman" panose="02020603050405020304" pitchFamily="18" charset="0"/>
                <a:cs typeface="Times New Roman" panose="02020603050405020304" pitchFamily="18" charset="0"/>
              </a:rPr>
              <a:t>Η μερισματική απόδοση κινείται σε παρόμοια επίπεδα με την αγορά, γεγονός που υποδηλώνει συντηρητική αλλά σταθερή μερισματική πολιτική: δεν αποτελεί ισχυρό πλεονέκτημα για τον μέτοχο, αλλά λειτουργεί υποστηρικτικά στη συνολική επενδυτική απόδοση.</a:t>
            </a:r>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25243129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FF8AA-5BFF-362F-BFC4-FDD053A89C69}"/>
              </a:ext>
            </a:extLst>
          </p:cNvPr>
          <p:cNvSpPr>
            <a:spLocks noGrp="1"/>
          </p:cNvSpPr>
          <p:nvPr>
            <p:ph type="title"/>
          </p:nvPr>
        </p:nvSpPr>
        <p:spPr/>
        <p:txBody>
          <a:bodyPr/>
          <a:lstStyle/>
          <a:p>
            <a:r>
              <a:rPr lang="el-GR" b="1" dirty="0">
                <a:solidFill>
                  <a:schemeClr val="tx1"/>
                </a:solidFill>
              </a:rPr>
              <a:t>Σύγκριση με κλάδο</a:t>
            </a:r>
            <a:endParaRPr lang="en-US" b="1" dirty="0">
              <a:solidFill>
                <a:schemeClr val="tx1"/>
              </a:solidFill>
            </a:endParaRPr>
          </a:p>
        </p:txBody>
      </p:sp>
      <p:sp>
        <p:nvSpPr>
          <p:cNvPr id="3" name="Content Placeholder 2">
            <a:extLst>
              <a:ext uri="{FF2B5EF4-FFF2-40B4-BE49-F238E27FC236}">
                <a16:creationId xmlns:a16="http://schemas.microsoft.com/office/drawing/2014/main" id="{F2032D91-AE96-8F47-8583-8CF6945A8519}"/>
              </a:ext>
            </a:extLst>
          </p:cNvPr>
          <p:cNvSpPr>
            <a:spLocks noGrp="1"/>
          </p:cNvSpPr>
          <p:nvPr>
            <p:ph idx="1"/>
          </p:nvPr>
        </p:nvSpPr>
        <p:spPr>
          <a:xfrm>
            <a:off x="677334" y="1408922"/>
            <a:ext cx="9287760" cy="4907902"/>
          </a:xfrm>
        </p:spPr>
        <p:txBody>
          <a:bodyPr>
            <a:normAutofit/>
          </a:bodyPr>
          <a:lstStyle/>
          <a:p>
            <a:pPr marL="0" indent="0">
              <a:buNone/>
            </a:pPr>
            <a:r>
              <a:rPr lang="el-GR" sz="2600" b="1" dirty="0">
                <a:latin typeface="Times New Roman" panose="02020603050405020304" pitchFamily="18" charset="0"/>
                <a:cs typeface="Times New Roman" panose="02020603050405020304" pitchFamily="18" charset="0"/>
              </a:rPr>
              <a:t>Σημείωση:</a:t>
            </a:r>
          </a:p>
          <a:p>
            <a:pPr marL="0" indent="0">
              <a:buNone/>
            </a:pPr>
            <a:r>
              <a:rPr lang="el-GR" dirty="0">
                <a:latin typeface="Times New Roman" panose="02020603050405020304" pitchFamily="18" charset="0"/>
                <a:cs typeface="Times New Roman" panose="02020603050405020304" pitchFamily="18" charset="0"/>
              </a:rPr>
              <a:t>Για τη σύγκριση με τον κλάδο εξετάστηκε αρχικά η δυνατότητα χρήσης ελληνικής γαλακτοβιομηχανίας ως άμεσου συγκρίσιμου (</a:t>
            </a:r>
            <a:r>
              <a:rPr lang="el-GR" dirty="0" err="1">
                <a:latin typeface="Times New Roman" panose="02020603050405020304" pitchFamily="18" charset="0"/>
                <a:cs typeface="Times New Roman" panose="02020603050405020304" pitchFamily="18" charset="0"/>
              </a:rPr>
              <a:t>peer</a:t>
            </a:r>
            <a:r>
              <a:rPr lang="el-GR" dirty="0">
                <a:latin typeface="Times New Roman" panose="02020603050405020304" pitchFamily="18" charset="0"/>
                <a:cs typeface="Times New Roman" panose="02020603050405020304" pitchFamily="18" charset="0"/>
              </a:rPr>
              <a:t>). Ωστόσο, στην ελληνική αγορά δεν υφίσταται εισηγμένη εταιρεία καθαρά γαλακτοκομικού κλάδου. Για τον λόγο αυτό επιλέχθηκε η χρήση δύο εναλλακτικών κλαδικών σημείων αναφοράς (</a:t>
            </a:r>
            <a:r>
              <a:rPr lang="el-GR" dirty="0" err="1">
                <a:latin typeface="Times New Roman" panose="02020603050405020304" pitchFamily="18" charset="0"/>
                <a:cs typeface="Times New Roman" panose="02020603050405020304" pitchFamily="18" charset="0"/>
              </a:rPr>
              <a:t>benchmarks</a:t>
            </a:r>
            <a:r>
              <a:rPr lang="el-GR" dirty="0">
                <a:latin typeface="Times New Roman" panose="02020603050405020304" pitchFamily="18" charset="0"/>
                <a:cs typeface="Times New Roman" panose="02020603050405020304" pitchFamily="18" charset="0"/>
              </a:rPr>
              <a:t>):</a:t>
            </a:r>
            <a:br>
              <a:rPr lang="el-GR" dirty="0">
                <a:latin typeface="Times New Roman" panose="02020603050405020304" pitchFamily="18" charset="0"/>
                <a:cs typeface="Times New Roman" panose="02020603050405020304" pitchFamily="18" charset="0"/>
              </a:rPr>
            </a:br>
            <a:r>
              <a:rPr lang="el-GR" dirty="0">
                <a:latin typeface="Times New Roman" panose="02020603050405020304" pitchFamily="18" charset="0"/>
                <a:cs typeface="Times New Roman" panose="02020603050405020304" pitchFamily="18" charset="0"/>
              </a:rPr>
              <a:t>• Coca-Cola HBC — εισηγμένη εταιρεία τροφίμων–ποτών με σημαντική δραστηριότητα στην Ελλάδα, η οποία λειτουργεί ως τοπικός κλαδικός </a:t>
            </a:r>
            <a:r>
              <a:rPr lang="el-GR" dirty="0" err="1">
                <a:latin typeface="Times New Roman" panose="02020603050405020304" pitchFamily="18" charset="0"/>
                <a:cs typeface="Times New Roman" panose="02020603050405020304" pitchFamily="18" charset="0"/>
              </a:rPr>
              <a:t>proxy</a:t>
            </a:r>
            <a:r>
              <a:rPr lang="el-GR" dirty="0">
                <a:latin typeface="Times New Roman" panose="02020603050405020304" pitchFamily="18" charset="0"/>
                <a:cs typeface="Times New Roman" panose="02020603050405020304" pitchFamily="18" charset="0"/>
              </a:rPr>
              <a:t> σε επίπεδο αγοράς κεφαλαίου.</a:t>
            </a:r>
            <a:br>
              <a:rPr lang="el-GR" dirty="0">
                <a:latin typeface="Times New Roman" panose="02020603050405020304" pitchFamily="18" charset="0"/>
                <a:cs typeface="Times New Roman" panose="02020603050405020304" pitchFamily="18" charset="0"/>
              </a:rPr>
            </a:br>
            <a:r>
              <a:rPr lang="el-GR" dirty="0">
                <a:latin typeface="Times New Roman" panose="02020603050405020304" pitchFamily="18" charset="0"/>
                <a:cs typeface="Times New Roman" panose="02020603050405020304" pitchFamily="18" charset="0"/>
              </a:rPr>
              <a:t>• </a:t>
            </a:r>
            <a:r>
              <a:rPr lang="el-GR" dirty="0" err="1">
                <a:latin typeface="Times New Roman" panose="02020603050405020304" pitchFamily="18" charset="0"/>
                <a:cs typeface="Times New Roman" panose="02020603050405020304" pitchFamily="18" charset="0"/>
              </a:rPr>
              <a:t>Nestlé</a:t>
            </a:r>
            <a:r>
              <a:rPr lang="el-GR" dirty="0">
                <a:latin typeface="Times New Roman" panose="02020603050405020304" pitchFamily="18" charset="0"/>
                <a:cs typeface="Times New Roman" panose="02020603050405020304" pitchFamily="18" charset="0"/>
              </a:rPr>
              <a:t> — διεθνής εταιρεία με ισχυρή παρουσία στον ευρύτερο κλάδο γαλακτοκομικών και τροφίμων, η οποία παρέχει διεθνές συγκριτικό σημείο αναφοράς.</a:t>
            </a:r>
          </a:p>
          <a:p>
            <a:pPr marL="0" indent="0">
              <a:buNone/>
            </a:pPr>
            <a:r>
              <a:rPr lang="el-GR" dirty="0">
                <a:latin typeface="Times New Roman" panose="02020603050405020304" pitchFamily="18" charset="0"/>
                <a:cs typeface="Times New Roman" panose="02020603050405020304" pitchFamily="18" charset="0"/>
              </a:rPr>
              <a:t>Με τον συνδυασμό των δύο αυτών εταιρειών επιτυγχάνεται ισορροπία μεταξύ τοπικής και διεθνούς οπτικής, διασφαλίζοντας παράλληλα ότι η σύγκριση βασίζεται σε διαθέσιμα, ελεγμένα και συγκρίσιμα λογιστικά δεδομένα εισηγμένων εταιρειών.</a:t>
            </a:r>
          </a:p>
          <a:p>
            <a:pPr marL="0" indent="0">
              <a:buNone/>
            </a:pPr>
            <a:r>
              <a:rPr lang="el-GR" dirty="0">
                <a:latin typeface="Times New Roman" panose="02020603050405020304" pitchFamily="18" charset="0"/>
                <a:cs typeface="Times New Roman" panose="02020603050405020304" pitchFamily="18" charset="0"/>
              </a:rPr>
              <a:t>Ωστόσο είναι σημαντικό να σημειωθεί ότι η σύγκριση με πολυεθνικούς ομίλους μεγαλύτερης κλίμακας (όπως η </a:t>
            </a:r>
            <a:r>
              <a:rPr lang="el-GR" dirty="0" err="1">
                <a:latin typeface="Times New Roman" panose="02020603050405020304" pitchFamily="18" charset="0"/>
                <a:cs typeface="Times New Roman" panose="02020603050405020304" pitchFamily="18" charset="0"/>
              </a:rPr>
              <a:t>Nestlé</a:t>
            </a:r>
            <a:r>
              <a:rPr lang="el-GR" dirty="0">
                <a:latin typeface="Times New Roman" panose="02020603050405020304" pitchFamily="18" charset="0"/>
                <a:cs typeface="Times New Roman" panose="02020603050405020304" pitchFamily="18" charset="0"/>
              </a:rPr>
              <a:t>) έχει περιορισμούς λόγω διαφορών μεγέθους και διαφοροποίησης.</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351234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09F55-F348-ED86-6EED-113BADF7EF73}"/>
              </a:ext>
            </a:extLst>
          </p:cNvPr>
          <p:cNvSpPr>
            <a:spLocks noGrp="1"/>
          </p:cNvSpPr>
          <p:nvPr>
            <p:ph type="title"/>
          </p:nvPr>
        </p:nvSpPr>
        <p:spPr>
          <a:xfrm>
            <a:off x="676974" y="217714"/>
            <a:ext cx="8596668" cy="594049"/>
          </a:xfrm>
        </p:spPr>
        <p:txBody>
          <a:bodyPr>
            <a:normAutofit/>
          </a:bodyPr>
          <a:lstStyle/>
          <a:p>
            <a:r>
              <a:rPr lang="el-GR" sz="3200" b="1" dirty="0">
                <a:solidFill>
                  <a:schemeClr val="tx1"/>
                </a:solidFill>
                <a:latin typeface="Times New Roman" panose="02020603050405020304" pitchFamily="18" charset="0"/>
                <a:cs typeface="Times New Roman" panose="02020603050405020304" pitchFamily="18" charset="0"/>
              </a:rPr>
              <a:t>Αριθμοδείκτες</a:t>
            </a:r>
            <a:endParaRPr lang="en-US" sz="32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E0A4FA5B-17B8-356D-850F-ECCD96EABA47}"/>
              </a:ext>
            </a:extLst>
          </p:cNvPr>
          <p:cNvGraphicFramePr>
            <a:graphicFrameLocks noGrp="1"/>
          </p:cNvGraphicFramePr>
          <p:nvPr>
            <p:ph idx="1"/>
            <p:extLst>
              <p:ext uri="{D42A27DB-BD31-4B8C-83A1-F6EECF244321}">
                <p14:modId xmlns:p14="http://schemas.microsoft.com/office/powerpoint/2010/main" val="2854149229"/>
              </p:ext>
            </p:extLst>
          </p:nvPr>
        </p:nvGraphicFramePr>
        <p:xfrm>
          <a:off x="676974" y="905069"/>
          <a:ext cx="8373720" cy="1520889"/>
        </p:xfrm>
        <a:graphic>
          <a:graphicData uri="http://schemas.openxmlformats.org/drawingml/2006/table">
            <a:tbl>
              <a:tblPr firstRow="1" bandRow="1">
                <a:tableStyleId>{00A15C55-8517-42AA-B614-E9B94910E393}</a:tableStyleId>
              </a:tblPr>
              <a:tblGrid>
                <a:gridCol w="1395620">
                  <a:extLst>
                    <a:ext uri="{9D8B030D-6E8A-4147-A177-3AD203B41FA5}">
                      <a16:colId xmlns:a16="http://schemas.microsoft.com/office/drawing/2014/main" val="672617328"/>
                    </a:ext>
                  </a:extLst>
                </a:gridCol>
                <a:gridCol w="1395620">
                  <a:extLst>
                    <a:ext uri="{9D8B030D-6E8A-4147-A177-3AD203B41FA5}">
                      <a16:colId xmlns:a16="http://schemas.microsoft.com/office/drawing/2014/main" val="2490796484"/>
                    </a:ext>
                  </a:extLst>
                </a:gridCol>
                <a:gridCol w="1395620">
                  <a:extLst>
                    <a:ext uri="{9D8B030D-6E8A-4147-A177-3AD203B41FA5}">
                      <a16:colId xmlns:a16="http://schemas.microsoft.com/office/drawing/2014/main" val="1389485010"/>
                    </a:ext>
                  </a:extLst>
                </a:gridCol>
                <a:gridCol w="1395620">
                  <a:extLst>
                    <a:ext uri="{9D8B030D-6E8A-4147-A177-3AD203B41FA5}">
                      <a16:colId xmlns:a16="http://schemas.microsoft.com/office/drawing/2014/main" val="3796288515"/>
                    </a:ext>
                  </a:extLst>
                </a:gridCol>
                <a:gridCol w="1395620">
                  <a:extLst>
                    <a:ext uri="{9D8B030D-6E8A-4147-A177-3AD203B41FA5}">
                      <a16:colId xmlns:a16="http://schemas.microsoft.com/office/drawing/2014/main" val="1046000430"/>
                    </a:ext>
                  </a:extLst>
                </a:gridCol>
                <a:gridCol w="1395620">
                  <a:extLst>
                    <a:ext uri="{9D8B030D-6E8A-4147-A177-3AD203B41FA5}">
                      <a16:colId xmlns:a16="http://schemas.microsoft.com/office/drawing/2014/main" val="265475570"/>
                    </a:ext>
                  </a:extLst>
                </a:gridCol>
              </a:tblGrid>
              <a:tr h="368929">
                <a:tc>
                  <a:txBody>
                    <a:bodyPr/>
                    <a:lstStyle/>
                    <a:p>
                      <a:pPr algn="ctr"/>
                      <a:r>
                        <a:rPr lang="en-US" dirty="0"/>
                        <a:t>Coca Cola</a:t>
                      </a:r>
                    </a:p>
                  </a:txBody>
                  <a:tcPr/>
                </a:tc>
                <a:tc>
                  <a:txBody>
                    <a:bodyPr/>
                    <a:lstStyle/>
                    <a:p>
                      <a:pPr algn="ctr"/>
                      <a:r>
                        <a:rPr lang="el-GR" dirty="0"/>
                        <a:t>2020</a:t>
                      </a:r>
                      <a:endParaRPr lang="en-US" dirty="0"/>
                    </a:p>
                  </a:txBody>
                  <a:tcPr/>
                </a:tc>
                <a:tc>
                  <a:txBody>
                    <a:bodyPr/>
                    <a:lstStyle/>
                    <a:p>
                      <a:pPr algn="ctr"/>
                      <a:r>
                        <a:rPr lang="el-GR" dirty="0"/>
                        <a:t>2021</a:t>
                      </a:r>
                      <a:endParaRPr lang="en-US" dirty="0"/>
                    </a:p>
                  </a:txBody>
                  <a:tcPr/>
                </a:tc>
                <a:tc>
                  <a:txBody>
                    <a:bodyPr/>
                    <a:lstStyle/>
                    <a:p>
                      <a:pPr algn="ctr"/>
                      <a:r>
                        <a:rPr lang="el-GR" dirty="0"/>
                        <a:t>2022</a:t>
                      </a:r>
                      <a:endParaRPr lang="en-US" dirty="0"/>
                    </a:p>
                  </a:txBody>
                  <a:tcPr/>
                </a:tc>
                <a:tc>
                  <a:txBody>
                    <a:bodyPr/>
                    <a:lstStyle/>
                    <a:p>
                      <a:pPr algn="ctr"/>
                      <a:r>
                        <a:rPr lang="el-GR" dirty="0"/>
                        <a:t>2023</a:t>
                      </a:r>
                      <a:endParaRPr lang="en-US" dirty="0"/>
                    </a:p>
                  </a:txBody>
                  <a:tcPr/>
                </a:tc>
                <a:tc>
                  <a:txBody>
                    <a:bodyPr/>
                    <a:lstStyle/>
                    <a:p>
                      <a:pPr algn="ctr"/>
                      <a:r>
                        <a:rPr lang="el-GR" dirty="0"/>
                        <a:t>2024</a:t>
                      </a:r>
                      <a:endParaRPr lang="en-US" dirty="0"/>
                    </a:p>
                  </a:txBody>
                  <a:tcPr/>
                </a:tc>
                <a:extLst>
                  <a:ext uri="{0D108BD9-81ED-4DB2-BD59-A6C34878D82A}">
                    <a16:rowId xmlns:a16="http://schemas.microsoft.com/office/drawing/2014/main" val="2490474730"/>
                  </a:ext>
                </a:extLst>
              </a:tr>
              <a:tr h="287990">
                <a:tc>
                  <a:txBody>
                    <a:bodyPr/>
                    <a:lstStyle/>
                    <a:p>
                      <a:pPr algn="ctr" fontAlgn="b">
                        <a:buNone/>
                      </a:pPr>
                      <a:r>
                        <a:rPr lang="en-US" sz="1400" b="1" i="0" u="none" strike="noStrike" dirty="0">
                          <a:solidFill>
                            <a:srgbClr val="000000"/>
                          </a:solidFill>
                          <a:effectLst/>
                          <a:latin typeface="Times New Roman" panose="02020603050405020304" pitchFamily="18" charset="0"/>
                        </a:rPr>
                        <a:t>ROE</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0.158</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0.176</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0.123</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0.200</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0.248</a:t>
                      </a:r>
                    </a:p>
                  </a:txBody>
                  <a:tcPr marL="7620" marR="7620" marT="7620" marB="0" anchor="b"/>
                </a:tc>
                <a:extLst>
                  <a:ext uri="{0D108BD9-81ED-4DB2-BD59-A6C34878D82A}">
                    <a16:rowId xmlns:a16="http://schemas.microsoft.com/office/drawing/2014/main" val="3640607636"/>
                  </a:ext>
                </a:extLst>
              </a:tr>
              <a:tr h="287990">
                <a:tc>
                  <a:txBody>
                    <a:bodyPr/>
                    <a:lstStyle/>
                    <a:p>
                      <a:pPr algn="ctr" fontAlgn="b">
                        <a:buNone/>
                      </a:pPr>
                      <a:r>
                        <a:rPr lang="en-US" sz="1400" b="1" i="0" u="none" strike="noStrike" dirty="0">
                          <a:solidFill>
                            <a:srgbClr val="000000"/>
                          </a:solidFill>
                          <a:effectLst/>
                          <a:latin typeface="Times New Roman" panose="02020603050405020304" pitchFamily="18" charset="0"/>
                        </a:rPr>
                        <a:t>P/E</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23.198</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20.146</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19.820</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15.207</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14.783</a:t>
                      </a:r>
                    </a:p>
                  </a:txBody>
                  <a:tcPr marL="7620" marR="7620" marT="7620" marB="0" anchor="b"/>
                </a:tc>
                <a:extLst>
                  <a:ext uri="{0D108BD9-81ED-4DB2-BD59-A6C34878D82A}">
                    <a16:rowId xmlns:a16="http://schemas.microsoft.com/office/drawing/2014/main" val="4027118301"/>
                  </a:ext>
                </a:extLst>
              </a:tr>
              <a:tr h="287990">
                <a:tc>
                  <a:txBody>
                    <a:bodyPr/>
                    <a:lstStyle/>
                    <a:p>
                      <a:pPr algn="ctr" fontAlgn="b">
                        <a:buNone/>
                      </a:pPr>
                      <a:r>
                        <a:rPr lang="en-US" sz="1400" b="1" i="0" u="none" strike="noStrike" dirty="0">
                          <a:solidFill>
                            <a:srgbClr val="000000"/>
                          </a:solidFill>
                          <a:effectLst/>
                          <a:latin typeface="Times New Roman" panose="02020603050405020304" pitchFamily="18" charset="0"/>
                        </a:rPr>
                        <a:t>EV/EBIDTA</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11.511</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12.002</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8.789</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9.039</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9.623</a:t>
                      </a:r>
                    </a:p>
                  </a:txBody>
                  <a:tcPr marL="7620" marR="7620" marT="7620" marB="0" anchor="b"/>
                </a:tc>
                <a:extLst>
                  <a:ext uri="{0D108BD9-81ED-4DB2-BD59-A6C34878D82A}">
                    <a16:rowId xmlns:a16="http://schemas.microsoft.com/office/drawing/2014/main" val="2868318922"/>
                  </a:ext>
                </a:extLst>
              </a:tr>
              <a:tr h="287990">
                <a:tc>
                  <a:txBody>
                    <a:bodyPr/>
                    <a:lstStyle/>
                    <a:p>
                      <a:pPr algn="ctr" fontAlgn="b">
                        <a:buNone/>
                      </a:pPr>
                      <a:r>
                        <a:rPr lang="en-US" sz="1400" b="1" i="0" u="none" strike="noStrike" dirty="0" err="1">
                          <a:solidFill>
                            <a:srgbClr val="000000"/>
                          </a:solidFill>
                          <a:effectLst/>
                          <a:latin typeface="Times New Roman" panose="02020603050405020304" pitchFamily="18" charset="0"/>
                        </a:rPr>
                        <a:t>Divident</a:t>
                      </a:r>
                      <a:r>
                        <a:rPr lang="en-US" sz="1400" b="1" i="0" u="none" strike="noStrike" dirty="0">
                          <a:solidFill>
                            <a:srgbClr val="000000"/>
                          </a:solidFill>
                          <a:effectLst/>
                          <a:latin typeface="Times New Roman" panose="02020603050405020304" pitchFamily="18" charset="0"/>
                        </a:rPr>
                        <a:t> Yield</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2.78%</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2.07%</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3.29%</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5.17%</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2.91%</a:t>
                      </a:r>
                    </a:p>
                  </a:txBody>
                  <a:tcPr marL="7620" marR="7620" marT="7620" marB="0" anchor="b"/>
                </a:tc>
                <a:extLst>
                  <a:ext uri="{0D108BD9-81ED-4DB2-BD59-A6C34878D82A}">
                    <a16:rowId xmlns:a16="http://schemas.microsoft.com/office/drawing/2014/main" val="3748540967"/>
                  </a:ext>
                </a:extLst>
              </a:tr>
            </a:tbl>
          </a:graphicData>
        </a:graphic>
      </p:graphicFrame>
      <p:graphicFrame>
        <p:nvGraphicFramePr>
          <p:cNvPr id="5" name="Content Placeholder 3">
            <a:extLst>
              <a:ext uri="{FF2B5EF4-FFF2-40B4-BE49-F238E27FC236}">
                <a16:creationId xmlns:a16="http://schemas.microsoft.com/office/drawing/2014/main" id="{142A211F-61CE-90B7-D980-526426880439}"/>
              </a:ext>
            </a:extLst>
          </p:cNvPr>
          <p:cNvGraphicFramePr>
            <a:graphicFrameLocks/>
          </p:cNvGraphicFramePr>
          <p:nvPr>
            <p:extLst>
              <p:ext uri="{D42A27DB-BD31-4B8C-83A1-F6EECF244321}">
                <p14:modId xmlns:p14="http://schemas.microsoft.com/office/powerpoint/2010/main" val="879182743"/>
              </p:ext>
            </p:extLst>
          </p:nvPr>
        </p:nvGraphicFramePr>
        <p:xfrm>
          <a:off x="676974" y="2731070"/>
          <a:ext cx="8373720" cy="1582472"/>
        </p:xfrm>
        <a:graphic>
          <a:graphicData uri="http://schemas.openxmlformats.org/drawingml/2006/table">
            <a:tbl>
              <a:tblPr firstRow="1" bandRow="1">
                <a:tableStyleId>{00A15C55-8517-42AA-B614-E9B94910E393}</a:tableStyleId>
              </a:tblPr>
              <a:tblGrid>
                <a:gridCol w="1395620">
                  <a:extLst>
                    <a:ext uri="{9D8B030D-6E8A-4147-A177-3AD203B41FA5}">
                      <a16:colId xmlns:a16="http://schemas.microsoft.com/office/drawing/2014/main" val="672617328"/>
                    </a:ext>
                  </a:extLst>
                </a:gridCol>
                <a:gridCol w="1395620">
                  <a:extLst>
                    <a:ext uri="{9D8B030D-6E8A-4147-A177-3AD203B41FA5}">
                      <a16:colId xmlns:a16="http://schemas.microsoft.com/office/drawing/2014/main" val="2490796484"/>
                    </a:ext>
                  </a:extLst>
                </a:gridCol>
                <a:gridCol w="1395620">
                  <a:extLst>
                    <a:ext uri="{9D8B030D-6E8A-4147-A177-3AD203B41FA5}">
                      <a16:colId xmlns:a16="http://schemas.microsoft.com/office/drawing/2014/main" val="1389485010"/>
                    </a:ext>
                  </a:extLst>
                </a:gridCol>
                <a:gridCol w="1395620">
                  <a:extLst>
                    <a:ext uri="{9D8B030D-6E8A-4147-A177-3AD203B41FA5}">
                      <a16:colId xmlns:a16="http://schemas.microsoft.com/office/drawing/2014/main" val="3796288515"/>
                    </a:ext>
                  </a:extLst>
                </a:gridCol>
                <a:gridCol w="1395620">
                  <a:extLst>
                    <a:ext uri="{9D8B030D-6E8A-4147-A177-3AD203B41FA5}">
                      <a16:colId xmlns:a16="http://schemas.microsoft.com/office/drawing/2014/main" val="1046000430"/>
                    </a:ext>
                  </a:extLst>
                </a:gridCol>
                <a:gridCol w="1395620">
                  <a:extLst>
                    <a:ext uri="{9D8B030D-6E8A-4147-A177-3AD203B41FA5}">
                      <a16:colId xmlns:a16="http://schemas.microsoft.com/office/drawing/2014/main" val="265475570"/>
                    </a:ext>
                  </a:extLst>
                </a:gridCol>
              </a:tblGrid>
              <a:tr h="304178">
                <a:tc>
                  <a:txBody>
                    <a:bodyPr/>
                    <a:lstStyle/>
                    <a:p>
                      <a:pPr algn="ctr"/>
                      <a:r>
                        <a:rPr lang="en-US" dirty="0"/>
                        <a:t>Nestle</a:t>
                      </a:r>
                    </a:p>
                  </a:txBody>
                  <a:tcPr/>
                </a:tc>
                <a:tc>
                  <a:txBody>
                    <a:bodyPr/>
                    <a:lstStyle/>
                    <a:p>
                      <a:pPr algn="ctr"/>
                      <a:r>
                        <a:rPr lang="el-GR" dirty="0"/>
                        <a:t>2020</a:t>
                      </a:r>
                      <a:endParaRPr lang="en-US" dirty="0"/>
                    </a:p>
                  </a:txBody>
                  <a:tcPr/>
                </a:tc>
                <a:tc>
                  <a:txBody>
                    <a:bodyPr/>
                    <a:lstStyle/>
                    <a:p>
                      <a:pPr algn="ctr"/>
                      <a:r>
                        <a:rPr lang="el-GR" dirty="0"/>
                        <a:t>2021</a:t>
                      </a:r>
                      <a:endParaRPr lang="en-US" dirty="0"/>
                    </a:p>
                  </a:txBody>
                  <a:tcPr/>
                </a:tc>
                <a:tc>
                  <a:txBody>
                    <a:bodyPr/>
                    <a:lstStyle/>
                    <a:p>
                      <a:pPr algn="ctr"/>
                      <a:r>
                        <a:rPr lang="el-GR" dirty="0"/>
                        <a:t>2022</a:t>
                      </a:r>
                      <a:endParaRPr lang="en-US" dirty="0"/>
                    </a:p>
                  </a:txBody>
                  <a:tcPr/>
                </a:tc>
                <a:tc>
                  <a:txBody>
                    <a:bodyPr/>
                    <a:lstStyle/>
                    <a:p>
                      <a:pPr algn="ctr"/>
                      <a:r>
                        <a:rPr lang="el-GR" dirty="0"/>
                        <a:t>2023</a:t>
                      </a:r>
                      <a:endParaRPr lang="en-US" dirty="0"/>
                    </a:p>
                  </a:txBody>
                  <a:tcPr/>
                </a:tc>
                <a:tc>
                  <a:txBody>
                    <a:bodyPr/>
                    <a:lstStyle/>
                    <a:p>
                      <a:pPr algn="ctr"/>
                      <a:r>
                        <a:rPr lang="el-GR" dirty="0"/>
                        <a:t>2024</a:t>
                      </a:r>
                      <a:endParaRPr lang="en-US" dirty="0"/>
                    </a:p>
                  </a:txBody>
                  <a:tcPr/>
                </a:tc>
                <a:extLst>
                  <a:ext uri="{0D108BD9-81ED-4DB2-BD59-A6C34878D82A}">
                    <a16:rowId xmlns:a16="http://schemas.microsoft.com/office/drawing/2014/main" val="2490474730"/>
                  </a:ext>
                </a:extLst>
              </a:tr>
              <a:tr h="304178">
                <a:tc>
                  <a:txBody>
                    <a:bodyPr/>
                    <a:lstStyle/>
                    <a:p>
                      <a:pPr algn="ctr" fontAlgn="b">
                        <a:buNone/>
                      </a:pPr>
                      <a:r>
                        <a:rPr lang="en-US" sz="1400" b="1" i="0" u="none" strike="noStrike" dirty="0">
                          <a:solidFill>
                            <a:srgbClr val="000000"/>
                          </a:solidFill>
                          <a:effectLst/>
                          <a:latin typeface="Times New Roman" panose="02020603050405020304" pitchFamily="18" charset="0"/>
                        </a:rPr>
                        <a:t>ROE</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0.263</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0.315</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0.217</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0.308</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0.297</a:t>
                      </a:r>
                    </a:p>
                  </a:txBody>
                  <a:tcPr marL="7620" marR="7620" marT="7620" marB="0" anchor="b"/>
                </a:tc>
                <a:extLst>
                  <a:ext uri="{0D108BD9-81ED-4DB2-BD59-A6C34878D82A}">
                    <a16:rowId xmlns:a16="http://schemas.microsoft.com/office/drawing/2014/main" val="3640607636"/>
                  </a:ext>
                </a:extLst>
              </a:tr>
              <a:tr h="304178">
                <a:tc>
                  <a:txBody>
                    <a:bodyPr/>
                    <a:lstStyle/>
                    <a:p>
                      <a:pPr algn="ctr" fontAlgn="b">
                        <a:buNone/>
                      </a:pPr>
                      <a:r>
                        <a:rPr lang="en-US" sz="1400" b="1" i="0" u="none" strike="noStrike" dirty="0">
                          <a:solidFill>
                            <a:srgbClr val="000000"/>
                          </a:solidFill>
                          <a:effectLst/>
                          <a:latin typeface="Times New Roman" panose="02020603050405020304" pitchFamily="18" charset="0"/>
                        </a:rPr>
                        <a:t>P/E</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23.741</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20.734</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31.899</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22.518</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17.687</a:t>
                      </a:r>
                    </a:p>
                  </a:txBody>
                  <a:tcPr marL="7620" marR="7620" marT="7620" marB="0" anchor="b"/>
                </a:tc>
                <a:extLst>
                  <a:ext uri="{0D108BD9-81ED-4DB2-BD59-A6C34878D82A}">
                    <a16:rowId xmlns:a16="http://schemas.microsoft.com/office/drawing/2014/main" val="4027118301"/>
                  </a:ext>
                </a:extLst>
              </a:tr>
              <a:tr h="304178">
                <a:tc>
                  <a:txBody>
                    <a:bodyPr/>
                    <a:lstStyle/>
                    <a:p>
                      <a:pPr algn="ctr" fontAlgn="b">
                        <a:buNone/>
                      </a:pPr>
                      <a:r>
                        <a:rPr lang="en-US" sz="1400" b="1" i="0" u="none" strike="noStrike" dirty="0">
                          <a:solidFill>
                            <a:srgbClr val="000000"/>
                          </a:solidFill>
                          <a:effectLst/>
                          <a:latin typeface="Times New Roman" panose="02020603050405020304" pitchFamily="18" charset="0"/>
                        </a:rPr>
                        <a:t>EV/EBIDTA</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19.031</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22.520</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18.680</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16.557</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13.528</a:t>
                      </a:r>
                    </a:p>
                  </a:txBody>
                  <a:tcPr marL="7620" marR="7620" marT="7620" marB="0" anchor="b"/>
                </a:tc>
                <a:extLst>
                  <a:ext uri="{0D108BD9-81ED-4DB2-BD59-A6C34878D82A}">
                    <a16:rowId xmlns:a16="http://schemas.microsoft.com/office/drawing/2014/main" val="2868318922"/>
                  </a:ext>
                </a:extLst>
              </a:tr>
              <a:tr h="304178">
                <a:tc>
                  <a:txBody>
                    <a:bodyPr/>
                    <a:lstStyle/>
                    <a:p>
                      <a:pPr algn="ctr" fontAlgn="b">
                        <a:buNone/>
                      </a:pPr>
                      <a:r>
                        <a:rPr lang="en-US" sz="1400" b="1" i="0" u="none" strike="noStrike" dirty="0" err="1">
                          <a:solidFill>
                            <a:srgbClr val="000000"/>
                          </a:solidFill>
                          <a:effectLst/>
                          <a:latin typeface="Times New Roman" panose="02020603050405020304" pitchFamily="18" charset="0"/>
                        </a:rPr>
                        <a:t>Divident</a:t>
                      </a:r>
                      <a:r>
                        <a:rPr lang="en-US" sz="1400" b="1" i="0" u="none" strike="noStrike" dirty="0">
                          <a:solidFill>
                            <a:srgbClr val="000000"/>
                          </a:solidFill>
                          <a:effectLst/>
                          <a:latin typeface="Times New Roman" panose="02020603050405020304" pitchFamily="18" charset="0"/>
                        </a:rPr>
                        <a:t> Yield</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2.59%</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2.16%</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2.61%</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3.03%</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4.01%</a:t>
                      </a:r>
                    </a:p>
                  </a:txBody>
                  <a:tcPr marL="7620" marR="7620" marT="7620" marB="0" anchor="b"/>
                </a:tc>
                <a:extLst>
                  <a:ext uri="{0D108BD9-81ED-4DB2-BD59-A6C34878D82A}">
                    <a16:rowId xmlns:a16="http://schemas.microsoft.com/office/drawing/2014/main" val="3748540967"/>
                  </a:ext>
                </a:extLst>
              </a:tr>
            </a:tbl>
          </a:graphicData>
        </a:graphic>
      </p:graphicFrame>
      <p:graphicFrame>
        <p:nvGraphicFramePr>
          <p:cNvPr id="6" name="Content Placeholder 3">
            <a:extLst>
              <a:ext uri="{FF2B5EF4-FFF2-40B4-BE49-F238E27FC236}">
                <a16:creationId xmlns:a16="http://schemas.microsoft.com/office/drawing/2014/main" id="{9A01A179-29DB-A0C9-D8FD-AA2264C76087}"/>
              </a:ext>
            </a:extLst>
          </p:cNvPr>
          <p:cNvGraphicFramePr>
            <a:graphicFrameLocks/>
          </p:cNvGraphicFramePr>
          <p:nvPr>
            <p:extLst>
              <p:ext uri="{D42A27DB-BD31-4B8C-83A1-F6EECF244321}">
                <p14:modId xmlns:p14="http://schemas.microsoft.com/office/powerpoint/2010/main" val="2218656582"/>
              </p:ext>
            </p:extLst>
          </p:nvPr>
        </p:nvGraphicFramePr>
        <p:xfrm>
          <a:off x="676974" y="4618654"/>
          <a:ext cx="8373720" cy="1631736"/>
        </p:xfrm>
        <a:graphic>
          <a:graphicData uri="http://schemas.openxmlformats.org/drawingml/2006/table">
            <a:tbl>
              <a:tblPr firstRow="1" bandRow="1">
                <a:tableStyleId>{00A15C55-8517-42AA-B614-E9B94910E393}</a:tableStyleId>
              </a:tblPr>
              <a:tblGrid>
                <a:gridCol w="1395620">
                  <a:extLst>
                    <a:ext uri="{9D8B030D-6E8A-4147-A177-3AD203B41FA5}">
                      <a16:colId xmlns:a16="http://schemas.microsoft.com/office/drawing/2014/main" val="672617328"/>
                    </a:ext>
                  </a:extLst>
                </a:gridCol>
                <a:gridCol w="1395620">
                  <a:extLst>
                    <a:ext uri="{9D8B030D-6E8A-4147-A177-3AD203B41FA5}">
                      <a16:colId xmlns:a16="http://schemas.microsoft.com/office/drawing/2014/main" val="2490796484"/>
                    </a:ext>
                  </a:extLst>
                </a:gridCol>
                <a:gridCol w="1395620">
                  <a:extLst>
                    <a:ext uri="{9D8B030D-6E8A-4147-A177-3AD203B41FA5}">
                      <a16:colId xmlns:a16="http://schemas.microsoft.com/office/drawing/2014/main" val="1389485010"/>
                    </a:ext>
                  </a:extLst>
                </a:gridCol>
                <a:gridCol w="1395620">
                  <a:extLst>
                    <a:ext uri="{9D8B030D-6E8A-4147-A177-3AD203B41FA5}">
                      <a16:colId xmlns:a16="http://schemas.microsoft.com/office/drawing/2014/main" val="3796288515"/>
                    </a:ext>
                  </a:extLst>
                </a:gridCol>
                <a:gridCol w="1395620">
                  <a:extLst>
                    <a:ext uri="{9D8B030D-6E8A-4147-A177-3AD203B41FA5}">
                      <a16:colId xmlns:a16="http://schemas.microsoft.com/office/drawing/2014/main" val="1046000430"/>
                    </a:ext>
                  </a:extLst>
                </a:gridCol>
                <a:gridCol w="1395620">
                  <a:extLst>
                    <a:ext uri="{9D8B030D-6E8A-4147-A177-3AD203B41FA5}">
                      <a16:colId xmlns:a16="http://schemas.microsoft.com/office/drawing/2014/main" val="265475570"/>
                    </a:ext>
                  </a:extLst>
                </a:gridCol>
              </a:tblGrid>
              <a:tr h="316494">
                <a:tc>
                  <a:txBody>
                    <a:bodyPr/>
                    <a:lstStyle/>
                    <a:p>
                      <a:pPr algn="ctr"/>
                      <a:r>
                        <a:rPr lang="el-GR" dirty="0"/>
                        <a:t>ΚΡΙ-ΚΡΙ</a:t>
                      </a:r>
                      <a:endParaRPr lang="en-US" dirty="0"/>
                    </a:p>
                  </a:txBody>
                  <a:tcPr/>
                </a:tc>
                <a:tc>
                  <a:txBody>
                    <a:bodyPr/>
                    <a:lstStyle/>
                    <a:p>
                      <a:pPr algn="ctr"/>
                      <a:r>
                        <a:rPr lang="el-GR" dirty="0"/>
                        <a:t>2020</a:t>
                      </a:r>
                      <a:endParaRPr lang="en-US" dirty="0"/>
                    </a:p>
                  </a:txBody>
                  <a:tcPr/>
                </a:tc>
                <a:tc>
                  <a:txBody>
                    <a:bodyPr/>
                    <a:lstStyle/>
                    <a:p>
                      <a:pPr algn="ctr"/>
                      <a:r>
                        <a:rPr lang="el-GR" dirty="0"/>
                        <a:t>2021</a:t>
                      </a:r>
                      <a:endParaRPr lang="en-US" dirty="0"/>
                    </a:p>
                  </a:txBody>
                  <a:tcPr/>
                </a:tc>
                <a:tc>
                  <a:txBody>
                    <a:bodyPr/>
                    <a:lstStyle/>
                    <a:p>
                      <a:pPr algn="ctr"/>
                      <a:r>
                        <a:rPr lang="el-GR" dirty="0"/>
                        <a:t>2022</a:t>
                      </a:r>
                      <a:endParaRPr lang="en-US" dirty="0"/>
                    </a:p>
                  </a:txBody>
                  <a:tcPr/>
                </a:tc>
                <a:tc>
                  <a:txBody>
                    <a:bodyPr/>
                    <a:lstStyle/>
                    <a:p>
                      <a:pPr algn="ctr"/>
                      <a:r>
                        <a:rPr lang="el-GR" dirty="0"/>
                        <a:t>2023</a:t>
                      </a:r>
                      <a:endParaRPr lang="en-US" dirty="0"/>
                    </a:p>
                  </a:txBody>
                  <a:tcPr/>
                </a:tc>
                <a:tc>
                  <a:txBody>
                    <a:bodyPr/>
                    <a:lstStyle/>
                    <a:p>
                      <a:pPr algn="ctr"/>
                      <a:r>
                        <a:rPr lang="el-GR" dirty="0"/>
                        <a:t>2024</a:t>
                      </a:r>
                      <a:endParaRPr lang="en-US" dirty="0"/>
                    </a:p>
                  </a:txBody>
                  <a:tcPr/>
                </a:tc>
                <a:extLst>
                  <a:ext uri="{0D108BD9-81ED-4DB2-BD59-A6C34878D82A}">
                    <a16:rowId xmlns:a16="http://schemas.microsoft.com/office/drawing/2014/main" val="2490474730"/>
                  </a:ext>
                </a:extLst>
              </a:tr>
              <a:tr h="316494">
                <a:tc>
                  <a:txBody>
                    <a:bodyPr/>
                    <a:lstStyle/>
                    <a:p>
                      <a:pPr algn="ctr" fontAlgn="b">
                        <a:buNone/>
                      </a:pPr>
                      <a:r>
                        <a:rPr lang="en-US" sz="1400" b="1" i="0" u="none" strike="noStrike" dirty="0">
                          <a:solidFill>
                            <a:srgbClr val="000000"/>
                          </a:solidFill>
                          <a:effectLst/>
                          <a:latin typeface="Times New Roman" panose="02020603050405020304" pitchFamily="18" charset="0"/>
                        </a:rPr>
                        <a:t>ROE</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0.209</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0.159</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0.040</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0.308</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0.271</a:t>
                      </a:r>
                    </a:p>
                  </a:txBody>
                  <a:tcPr marL="7620" marR="7620" marT="7620" marB="0" anchor="b"/>
                </a:tc>
                <a:extLst>
                  <a:ext uri="{0D108BD9-81ED-4DB2-BD59-A6C34878D82A}">
                    <a16:rowId xmlns:a16="http://schemas.microsoft.com/office/drawing/2014/main" val="3640607636"/>
                  </a:ext>
                </a:extLst>
              </a:tr>
              <a:tr h="316494">
                <a:tc>
                  <a:txBody>
                    <a:bodyPr/>
                    <a:lstStyle/>
                    <a:p>
                      <a:pPr algn="ctr" fontAlgn="b">
                        <a:buNone/>
                      </a:pPr>
                      <a:r>
                        <a:rPr lang="en-US" sz="1400" b="1" i="0" u="none" strike="noStrike">
                          <a:solidFill>
                            <a:srgbClr val="000000"/>
                          </a:solidFill>
                          <a:effectLst/>
                          <a:latin typeface="Times New Roman" panose="02020603050405020304" pitchFamily="18" charset="0"/>
                        </a:rPr>
                        <a:t>P/E</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13.632</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21.207</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64.338</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10.020</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14.852</a:t>
                      </a:r>
                    </a:p>
                  </a:txBody>
                  <a:tcPr marL="7620" marR="7620" marT="7620" marB="0" anchor="b"/>
                </a:tc>
                <a:extLst>
                  <a:ext uri="{0D108BD9-81ED-4DB2-BD59-A6C34878D82A}">
                    <a16:rowId xmlns:a16="http://schemas.microsoft.com/office/drawing/2014/main" val="4027118301"/>
                  </a:ext>
                </a:extLst>
              </a:tr>
              <a:tr h="316494">
                <a:tc>
                  <a:txBody>
                    <a:bodyPr/>
                    <a:lstStyle/>
                    <a:p>
                      <a:pPr algn="ctr" fontAlgn="b">
                        <a:buNone/>
                      </a:pPr>
                      <a:r>
                        <a:rPr lang="en-US" sz="1400" b="1" i="0" u="none" strike="noStrike" dirty="0">
                          <a:solidFill>
                            <a:srgbClr val="000000"/>
                          </a:solidFill>
                          <a:effectLst/>
                          <a:latin typeface="Times New Roman" panose="02020603050405020304" pitchFamily="18" charset="0"/>
                        </a:rPr>
                        <a:t>EV/EBIDTA</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9.584</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13.044</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22.911</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6.902</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11.654</a:t>
                      </a:r>
                    </a:p>
                  </a:txBody>
                  <a:tcPr marL="7620" marR="7620" marT="7620" marB="0" anchor="b"/>
                </a:tc>
                <a:extLst>
                  <a:ext uri="{0D108BD9-81ED-4DB2-BD59-A6C34878D82A}">
                    <a16:rowId xmlns:a16="http://schemas.microsoft.com/office/drawing/2014/main" val="2868318922"/>
                  </a:ext>
                </a:extLst>
              </a:tr>
              <a:tr h="316494">
                <a:tc>
                  <a:txBody>
                    <a:bodyPr/>
                    <a:lstStyle/>
                    <a:p>
                      <a:pPr algn="ctr" fontAlgn="b">
                        <a:buNone/>
                      </a:pPr>
                      <a:r>
                        <a:rPr lang="en-US" sz="1400" b="1" i="0" u="none" strike="noStrike" dirty="0" err="1">
                          <a:solidFill>
                            <a:srgbClr val="000000"/>
                          </a:solidFill>
                          <a:effectLst/>
                          <a:latin typeface="Times New Roman" panose="02020603050405020304" pitchFamily="18" charset="0"/>
                        </a:rPr>
                        <a:t>Divident</a:t>
                      </a:r>
                      <a:r>
                        <a:rPr lang="en-US" sz="1400" b="1" i="0" u="none" strike="noStrike" dirty="0">
                          <a:solidFill>
                            <a:srgbClr val="000000"/>
                          </a:solidFill>
                          <a:effectLst/>
                          <a:latin typeface="Times New Roman" panose="02020603050405020304" pitchFamily="18" charset="0"/>
                        </a:rPr>
                        <a:t> Yield</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2.58%</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2.49%</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3.24%</a:t>
                      </a:r>
                    </a:p>
                  </a:txBody>
                  <a:tcPr marL="7620" marR="7620" marT="7620" marB="0" anchor="b"/>
                </a:tc>
                <a:tc>
                  <a:txBody>
                    <a:bodyPr/>
                    <a:lstStyle/>
                    <a:p>
                      <a:pPr algn="ctr" fontAlgn="b">
                        <a:buNone/>
                      </a:pPr>
                      <a:r>
                        <a:rPr lang="en-US" sz="1400" b="0" i="0" u="none" strike="noStrike">
                          <a:solidFill>
                            <a:srgbClr val="000000"/>
                          </a:solidFill>
                          <a:effectLst/>
                          <a:latin typeface="Times New Roman" panose="02020603050405020304" pitchFamily="18" charset="0"/>
                        </a:rPr>
                        <a:t>2.04%</a:t>
                      </a:r>
                    </a:p>
                  </a:txBody>
                  <a:tcPr marL="7620" marR="7620" marT="7620" marB="0" anchor="b"/>
                </a:tc>
                <a:tc>
                  <a:txBody>
                    <a:bodyPr/>
                    <a:lstStyle/>
                    <a:p>
                      <a:pPr algn="ctr" fontAlgn="b">
                        <a:buNone/>
                      </a:pPr>
                      <a:r>
                        <a:rPr lang="en-US" sz="1400" b="0" i="0" u="none" strike="noStrike" dirty="0">
                          <a:solidFill>
                            <a:srgbClr val="000000"/>
                          </a:solidFill>
                          <a:effectLst/>
                          <a:latin typeface="Times New Roman" panose="02020603050405020304" pitchFamily="18" charset="0"/>
                        </a:rPr>
                        <a:t>2.25%</a:t>
                      </a:r>
                    </a:p>
                  </a:txBody>
                  <a:tcPr marL="7620" marR="7620" marT="7620" marB="0" anchor="b"/>
                </a:tc>
                <a:extLst>
                  <a:ext uri="{0D108BD9-81ED-4DB2-BD59-A6C34878D82A}">
                    <a16:rowId xmlns:a16="http://schemas.microsoft.com/office/drawing/2014/main" val="3748540967"/>
                  </a:ext>
                </a:extLst>
              </a:tr>
            </a:tbl>
          </a:graphicData>
        </a:graphic>
      </p:graphicFrame>
    </p:spTree>
    <p:extLst>
      <p:ext uri="{BB962C8B-B14F-4D97-AF65-F5344CB8AC3E}">
        <p14:creationId xmlns:p14="http://schemas.microsoft.com/office/powerpoint/2010/main" val="107740927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361BA4E-E61E-14EE-8C18-016E21232537}"/>
              </a:ext>
            </a:extLst>
          </p:cNvPr>
          <p:cNvSpPr>
            <a:spLocks noGrp="1"/>
          </p:cNvSpPr>
          <p:nvPr>
            <p:ph idx="1"/>
          </p:nvPr>
        </p:nvSpPr>
        <p:spPr>
          <a:xfrm>
            <a:off x="1333502" y="861237"/>
            <a:ext cx="10022070" cy="5180125"/>
          </a:xfrm>
        </p:spPr>
        <p:txBody>
          <a:bodyPr>
            <a:normAutofit/>
          </a:bodyPr>
          <a:lstStyle/>
          <a:p>
            <a:pPr marL="0" indent="0">
              <a:buNone/>
            </a:pPr>
            <a:r>
              <a:rPr lang="el-GR" sz="2400" b="1" dirty="0">
                <a:latin typeface="Times New Roman" panose="02020603050405020304" pitchFamily="18" charset="0"/>
                <a:cs typeface="Times New Roman" panose="02020603050405020304" pitchFamily="18" charset="0"/>
              </a:rPr>
              <a:t>Παρατηρήσεις</a:t>
            </a:r>
            <a:r>
              <a:rPr lang="en-US" sz="2400" b="1" dirty="0">
                <a:latin typeface="Times New Roman" panose="02020603050405020304" pitchFamily="18" charset="0"/>
                <a:cs typeface="Times New Roman" panose="02020603050405020304" pitchFamily="18" charset="0"/>
              </a:rPr>
              <a:t>:</a:t>
            </a:r>
          </a:p>
          <a:p>
            <a:r>
              <a:rPr lang="el-GR" dirty="0">
                <a:latin typeface="Times New Roman" panose="02020603050405020304" pitchFamily="18" charset="0"/>
                <a:cs typeface="Times New Roman" panose="02020603050405020304" pitchFamily="18" charset="0"/>
              </a:rPr>
              <a:t>Η ΚΡΙ-ΚΡΙ εμφανίζει ανταγωνιστική κερδοφορία (ROE) σε αρκετές χρήσεις, ιδιαίτερα στα έτη ανάκαμψης, αλλά παρουσιάζει μεγαλύτερη διακύμανση σε σύγκριση με τους μεγαλύτερους ομίλους του κλάδου.</a:t>
            </a:r>
            <a:endParaRPr lang="en-US" dirty="0">
              <a:latin typeface="Times New Roman" panose="02020603050405020304" pitchFamily="18" charset="0"/>
              <a:cs typeface="Times New Roman" panose="02020603050405020304" pitchFamily="18" charset="0"/>
            </a:endParaRPr>
          </a:p>
          <a:p>
            <a:r>
              <a:rPr lang="el-GR" dirty="0">
                <a:latin typeface="Times New Roman" panose="02020603050405020304" pitchFamily="18" charset="0"/>
                <a:cs typeface="Times New Roman" panose="02020603050405020304" pitchFamily="18" charset="0"/>
              </a:rPr>
              <a:t>Οι δείκτες αποτίμησης (P/E, EV/EBITDA) δεν δείχνουν σταθερή υπερτίμηση</a:t>
            </a:r>
            <a:r>
              <a:rPr lang="en-US" dirty="0">
                <a:latin typeface="Times New Roman" panose="02020603050405020304" pitchFamily="18" charset="0"/>
                <a:cs typeface="Times New Roman" panose="02020603050405020304" pitchFamily="18" charset="0"/>
              </a:rPr>
              <a:t>,</a:t>
            </a:r>
            <a:r>
              <a:rPr lang="el-GR" dirty="0">
                <a:latin typeface="Times New Roman" panose="02020603050405020304" pitchFamily="18" charset="0"/>
                <a:cs typeface="Times New Roman" panose="02020603050405020304" pitchFamily="18" charset="0"/>
              </a:rPr>
              <a:t> σε πολλές χρήσεις κινούνται σε εύλογα ή ελαφρώς χαμηλότερα επίπεδα από τους διεθνείς </a:t>
            </a:r>
            <a:r>
              <a:rPr lang="el-GR" dirty="0" err="1">
                <a:latin typeface="Times New Roman" panose="02020603050405020304" pitchFamily="18" charset="0"/>
                <a:cs typeface="Times New Roman" panose="02020603050405020304" pitchFamily="18" charset="0"/>
              </a:rPr>
              <a:t>peers</a:t>
            </a:r>
            <a:r>
              <a:rPr lang="el-GR" dirty="0">
                <a:latin typeface="Times New Roman" panose="02020603050405020304" pitchFamily="18" charset="0"/>
                <a:cs typeface="Times New Roman" panose="02020603050405020304" pitchFamily="18" charset="0"/>
              </a:rPr>
              <a:t>, με εξαίρεση περιόδους υποχώρησης κερδών όπου το </a:t>
            </a:r>
            <a:r>
              <a:rPr lang="el-GR" dirty="0" err="1">
                <a:latin typeface="Times New Roman" panose="02020603050405020304" pitchFamily="18" charset="0"/>
                <a:cs typeface="Times New Roman" panose="02020603050405020304" pitchFamily="18" charset="0"/>
              </a:rPr>
              <a:t>premium</a:t>
            </a:r>
            <a:r>
              <a:rPr lang="el-GR" dirty="0">
                <a:latin typeface="Times New Roman" panose="02020603050405020304" pitchFamily="18" charset="0"/>
                <a:cs typeface="Times New Roman" panose="02020603050405020304" pitchFamily="18" charset="0"/>
              </a:rPr>
              <a:t> αυξάνεται.</a:t>
            </a:r>
            <a:endParaRPr lang="en-US" dirty="0">
              <a:latin typeface="Times New Roman" panose="02020603050405020304" pitchFamily="18" charset="0"/>
              <a:cs typeface="Times New Roman" panose="02020603050405020304" pitchFamily="18" charset="0"/>
            </a:endParaRPr>
          </a:p>
          <a:p>
            <a:r>
              <a:rPr lang="el-GR" dirty="0">
                <a:latin typeface="Times New Roman" panose="02020603050405020304" pitchFamily="18" charset="0"/>
                <a:cs typeface="Times New Roman" panose="02020603050405020304" pitchFamily="18" charset="0"/>
              </a:rPr>
              <a:t>Η εικόνα της εταιρείας τοποθετείται ενδιάμεσα: μικρότερη κλίμακα και υψηλότερη ευαισθησία σε διακυμάνσεις κερδοφορίας, αλλά με υγιή θεμελιώδη μεγέθη και αποτίμηση που, στις περισσότερες χρήσεις, παραμένει συνεπής με τα επίπεδα του κλάδου.</a:t>
            </a:r>
            <a:endParaRPr lang="en-US" dirty="0">
              <a:latin typeface="Times New Roman" panose="02020603050405020304" pitchFamily="18" charset="0"/>
              <a:cs typeface="Times New Roman" panose="02020603050405020304" pitchFamily="18" charset="0"/>
            </a:endParaRPr>
          </a:p>
          <a:p>
            <a:r>
              <a:rPr lang="el-GR" dirty="0">
                <a:latin typeface="Times New Roman" panose="02020603050405020304" pitchFamily="18" charset="0"/>
                <a:cs typeface="Times New Roman" panose="02020603050405020304" pitchFamily="18" charset="0"/>
              </a:rPr>
              <a:t>Η μερισματική πολιτική είναι συγκρίσιμη και μάλλον συντηρητική, με απόδοση ανάλογη των </a:t>
            </a:r>
            <a:r>
              <a:rPr lang="el-GR" dirty="0" err="1">
                <a:latin typeface="Times New Roman" panose="02020603050405020304" pitchFamily="18" charset="0"/>
                <a:cs typeface="Times New Roman" panose="02020603050405020304" pitchFamily="18" charset="0"/>
              </a:rPr>
              <a:t>peers</a:t>
            </a:r>
            <a:r>
              <a:rPr lang="el-GR" dirty="0">
                <a:latin typeface="Times New Roman" panose="02020603050405020304" pitchFamily="18" charset="0"/>
                <a:cs typeface="Times New Roman" panose="02020603050405020304" pitchFamily="18" charset="0"/>
              </a:rPr>
              <a:t> και έμφαση στην ισορροπία μεταξύ διανομής και επανεπένδυσης κερδών.</a:t>
            </a:r>
            <a:endParaRPr lang="en-US" dirty="0">
              <a:latin typeface="Times New Roman" panose="02020603050405020304" pitchFamily="18" charset="0"/>
              <a:cs typeface="Times New Roman" panose="02020603050405020304" pitchFamily="18" charset="0"/>
            </a:endParaRPr>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5558141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A8458-B2AF-4FD3-F34D-C7B70A995089}"/>
              </a:ext>
            </a:extLst>
          </p:cNvPr>
          <p:cNvSpPr>
            <a:spLocks noGrp="1"/>
          </p:cNvSpPr>
          <p:nvPr>
            <p:ph type="title"/>
          </p:nvPr>
        </p:nvSpPr>
        <p:spPr>
          <a:xfrm>
            <a:off x="677334" y="609600"/>
            <a:ext cx="8596668" cy="827314"/>
          </a:xfrm>
        </p:spPr>
        <p:txBody>
          <a:bodyPr/>
          <a:lstStyle/>
          <a:p>
            <a:r>
              <a:rPr lang="el-GR" b="1" dirty="0">
                <a:solidFill>
                  <a:schemeClr val="tx1"/>
                </a:solidFill>
              </a:rPr>
              <a:t>Συμπεράσματα</a:t>
            </a:r>
            <a:endParaRPr lang="en-US" b="1" dirty="0">
              <a:solidFill>
                <a:schemeClr val="tx1"/>
              </a:solidFill>
            </a:endParaRPr>
          </a:p>
        </p:txBody>
      </p:sp>
      <p:sp>
        <p:nvSpPr>
          <p:cNvPr id="3" name="Content Placeholder 2">
            <a:extLst>
              <a:ext uri="{FF2B5EF4-FFF2-40B4-BE49-F238E27FC236}">
                <a16:creationId xmlns:a16="http://schemas.microsoft.com/office/drawing/2014/main" id="{4AE2776E-6EC3-F354-5E32-DDE7F5511F34}"/>
              </a:ext>
            </a:extLst>
          </p:cNvPr>
          <p:cNvSpPr>
            <a:spLocks noGrp="1"/>
          </p:cNvSpPr>
          <p:nvPr>
            <p:ph idx="1"/>
          </p:nvPr>
        </p:nvSpPr>
        <p:spPr>
          <a:xfrm>
            <a:off x="677334" y="1623527"/>
            <a:ext cx="8596668" cy="4758612"/>
          </a:xfrm>
        </p:spPr>
        <p:txBody>
          <a:bodyPr>
            <a:normAutofit fontScale="85000" lnSpcReduction="10000"/>
          </a:bodyPr>
          <a:lstStyle/>
          <a:p>
            <a:r>
              <a:rPr lang="el-GR" dirty="0"/>
              <a:t>Η ΚΡΙ-ΚΡΙ παρουσιάζει προφίλ χαμηλού χρηματοοικονομικού κινδύνου, με χαμηλή </a:t>
            </a:r>
            <a:r>
              <a:rPr lang="el-GR" dirty="0" err="1"/>
              <a:t>μόχλευση</a:t>
            </a:r>
            <a:r>
              <a:rPr lang="el-GR" dirty="0"/>
              <a:t>, ισχυρή ρευστότητα και WACC σε επίπεδα συμβατά με το </a:t>
            </a:r>
            <a:r>
              <a:rPr lang="el-GR" dirty="0" err="1"/>
              <a:t>beta</a:t>
            </a:r>
            <a:r>
              <a:rPr lang="el-GR" dirty="0"/>
              <a:t> και το </a:t>
            </a:r>
            <a:r>
              <a:rPr lang="el-GR" dirty="0" err="1"/>
              <a:t>risk</a:t>
            </a:r>
            <a:r>
              <a:rPr lang="el-GR" dirty="0"/>
              <a:t> </a:t>
            </a:r>
            <a:r>
              <a:rPr lang="el-GR" dirty="0" err="1"/>
              <a:t>profile</a:t>
            </a:r>
            <a:r>
              <a:rPr lang="el-GR" dirty="0"/>
              <a:t> της εταιρείας.</a:t>
            </a:r>
          </a:p>
          <a:p>
            <a:r>
              <a:rPr lang="el-GR" dirty="0"/>
              <a:t>Παρά το σχετικά χαμηλό </a:t>
            </a:r>
            <a:r>
              <a:rPr lang="el-GR" dirty="0" err="1"/>
              <a:t>beta</a:t>
            </a:r>
            <a:r>
              <a:rPr lang="el-GR" dirty="0"/>
              <a:t> (~0,5), η μετοχή έχει καταγράψει σημαντική </a:t>
            </a:r>
            <a:r>
              <a:rPr lang="el-GR" dirty="0" err="1"/>
              <a:t>υπεραπόδοση</a:t>
            </a:r>
            <a:r>
              <a:rPr lang="el-GR" dirty="0"/>
              <a:t> έναντι της αγοράς στην εξεταζόμενη περίοδο (περίπου +270% έναντι ~+130% του ATG), γεγονός που υποδηλώνει ότι η απόδοση της εταιρείας στηρίζεται κυρίως σε θεμελιώδη μεγέθη και όχι μόνο σε κινήσεις της αγοράς.</a:t>
            </a:r>
          </a:p>
          <a:p>
            <a:r>
              <a:rPr lang="el-GR" dirty="0"/>
              <a:t>Σε επίπεδο λειτουργικής επίδοσης, η εταιρεία εμφανίζει σταθερά ικανοποιητική κερδοφορία, με εξαίρεση τη διετία 2021–2022 όπου παρατηρείται υποχώρηση δεικτών και περιθωρίων· στα έτη 2023–2024 καταγράφεται σαφής ανάκαμψη με βελτίωση σε EPS, ROE και λειτουργική κερδοφορία.</a:t>
            </a:r>
          </a:p>
          <a:p>
            <a:r>
              <a:rPr lang="el-GR" dirty="0"/>
              <a:t>Οι δείκτες αποτίμησης συγκλίνουν στα πρόσφατα έτη προς πιο εύλογα επίπεδα, αν και σε ορισμένες περιόδους ενσωματώνουν αυξημένες προσδοκίες, κάτι που συνεπάγεται και κίνδυνο υπερτίμησης σε περίπτωση επιβράδυνσης κερδών.</a:t>
            </a:r>
          </a:p>
          <a:p>
            <a:r>
              <a:rPr lang="el-GR" dirty="0"/>
              <a:t>Συνολικά, η ΚΡΙ-ΚΡΙ εμφανίζεται ως εταιρεία με υγιή θεμελιώδη μεγέθη, συνετή κεφαλαιακή διάρθρωση και θετική ιστορική επενδυτική απόδοση.</a:t>
            </a:r>
          </a:p>
          <a:p>
            <a:r>
              <a:rPr lang="el-GR" dirty="0"/>
              <a:t>Τα συμπεράσματα της παρούσας ανάλυσης θα μπορούσαν να ενισχυθούν μέσω </a:t>
            </a:r>
            <a:r>
              <a:rPr lang="el-GR" b="1" dirty="0"/>
              <a:t>εξέτασης μεγαλύτερου χρονικού ορίζοντα</a:t>
            </a:r>
            <a:r>
              <a:rPr lang="el-GR" dirty="0"/>
              <a:t> και σύγκρισης με </a:t>
            </a:r>
            <a:r>
              <a:rPr lang="el-GR" b="1" dirty="0"/>
              <a:t>ευρύτερο δείγμα εταιρειών του κλάδου</a:t>
            </a:r>
            <a:r>
              <a:rPr lang="el-GR" dirty="0"/>
              <a:t>, καθώς η περίοδος 2021–2024 περιλαμβάνει </a:t>
            </a:r>
            <a:r>
              <a:rPr lang="el-GR" b="1" dirty="0"/>
              <a:t>ιδιαίτερες διακυμάνσεις (πτώση – έντονη ανάκαμψη)</a:t>
            </a:r>
            <a:r>
              <a:rPr lang="el-GR" dirty="0"/>
              <a:t> που ενδέχεται να επηρεάζουν τα αποτελέσματα.</a:t>
            </a:r>
            <a:endParaRPr lang="en-US" dirty="0"/>
          </a:p>
        </p:txBody>
      </p:sp>
    </p:spTree>
    <p:extLst>
      <p:ext uri="{BB962C8B-B14F-4D97-AF65-F5344CB8AC3E}">
        <p14:creationId xmlns:p14="http://schemas.microsoft.com/office/powerpoint/2010/main" val="101451976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F6CF5-E5B2-E84D-829E-E8A75FD92EA0}"/>
              </a:ext>
            </a:extLst>
          </p:cNvPr>
          <p:cNvSpPr>
            <a:spLocks noGrp="1"/>
          </p:cNvSpPr>
          <p:nvPr>
            <p:ph type="title"/>
          </p:nvPr>
        </p:nvSpPr>
        <p:spPr>
          <a:xfrm>
            <a:off x="677334" y="609600"/>
            <a:ext cx="8596668" cy="771331"/>
          </a:xfrm>
        </p:spPr>
        <p:txBody>
          <a:bodyPr/>
          <a:lstStyle/>
          <a:p>
            <a:r>
              <a:rPr lang="el-GR" b="1" dirty="0">
                <a:solidFill>
                  <a:schemeClr val="tx1"/>
                </a:solidFill>
              </a:rPr>
              <a:t>Πηγές</a:t>
            </a:r>
            <a:endParaRPr lang="en-US" b="1" dirty="0">
              <a:solidFill>
                <a:schemeClr val="tx1"/>
              </a:solidFill>
            </a:endParaRPr>
          </a:p>
        </p:txBody>
      </p:sp>
      <p:sp>
        <p:nvSpPr>
          <p:cNvPr id="3" name="Content Placeholder 2">
            <a:extLst>
              <a:ext uri="{FF2B5EF4-FFF2-40B4-BE49-F238E27FC236}">
                <a16:creationId xmlns:a16="http://schemas.microsoft.com/office/drawing/2014/main" id="{922F6590-FFED-5A4D-51B8-C7D156D80ADC}"/>
              </a:ext>
            </a:extLst>
          </p:cNvPr>
          <p:cNvSpPr>
            <a:spLocks noGrp="1"/>
          </p:cNvSpPr>
          <p:nvPr>
            <p:ph idx="1"/>
          </p:nvPr>
        </p:nvSpPr>
        <p:spPr>
          <a:xfrm>
            <a:off x="677334" y="1380931"/>
            <a:ext cx="8596668" cy="3880773"/>
          </a:xfrm>
        </p:spPr>
        <p:txBody>
          <a:bodyPr>
            <a:normAutofit/>
          </a:bodyPr>
          <a:lstStyle/>
          <a:p>
            <a:pPr marL="0" indent="0">
              <a:buNone/>
            </a:pPr>
            <a:r>
              <a:rPr lang="el-GR" b="1" dirty="0">
                <a:latin typeface="Times New Roman" panose="02020603050405020304" pitchFamily="18" charset="0"/>
                <a:cs typeface="Times New Roman" panose="02020603050405020304" pitchFamily="18" charset="0"/>
              </a:rPr>
              <a:t>Χρηματιστηριακά Δεδομένα</a:t>
            </a:r>
            <a:r>
              <a:rPr lang="en-US" b="1" dirty="0">
                <a:latin typeface="Times New Roman" panose="02020603050405020304" pitchFamily="18" charset="0"/>
                <a:cs typeface="Times New Roman" panose="02020603050405020304" pitchFamily="18" charset="0"/>
              </a:rPr>
              <a:t>	</a:t>
            </a:r>
            <a:endParaRPr lang="el-GR"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Investing.com — Historical Prices &amp; Financial Data (</a:t>
            </a:r>
            <a:r>
              <a:rPr lang="en-US" dirty="0">
                <a:latin typeface="Times New Roman" panose="02020603050405020304" pitchFamily="18" charset="0"/>
                <a:cs typeface="Times New Roman" panose="02020603050405020304" pitchFamily="18" charset="0"/>
                <a:hlinkClick r:id="rId2"/>
              </a:rPr>
              <a:t>Investing.com - Stock Market Quotes &amp; Financial News</a:t>
            </a:r>
            <a:r>
              <a:rPr lang="en-US" dirty="0">
                <a:latin typeface="Times New Roman" panose="02020603050405020304" pitchFamily="18" charset="0"/>
                <a:cs typeface="Times New Roman" panose="02020603050405020304" pitchFamily="18" charset="0"/>
              </a:rPr>
              <a:t>)</a:t>
            </a:r>
          </a:p>
          <a:p>
            <a:pPr marL="0" indent="0">
              <a:buNone/>
            </a:pPr>
            <a:r>
              <a:rPr lang="el-GR" b="1" dirty="0">
                <a:latin typeface="Times New Roman" panose="02020603050405020304" pitchFamily="18" charset="0"/>
                <a:cs typeface="Times New Roman" panose="02020603050405020304" pitchFamily="18" charset="0"/>
              </a:rPr>
              <a:t>Στοιχεία Εταιρείας</a:t>
            </a:r>
            <a:r>
              <a:rPr lang="en-US" b="1" dirty="0">
                <a:latin typeface="Times New Roman" panose="02020603050405020304" pitchFamily="18" charset="0"/>
                <a:cs typeface="Times New Roman" panose="02020603050405020304" pitchFamily="18" charset="0"/>
              </a:rPr>
              <a:t> </a:t>
            </a:r>
            <a:endParaRPr lang="el-GR" b="1" dirty="0">
              <a:latin typeface="Times New Roman" panose="02020603050405020304" pitchFamily="18" charset="0"/>
              <a:cs typeface="Times New Roman" panose="02020603050405020304" pitchFamily="18" charset="0"/>
            </a:endParaRPr>
          </a:p>
          <a:p>
            <a:r>
              <a:rPr lang="el-GR" dirty="0">
                <a:latin typeface="Times New Roman" panose="02020603050405020304" pitchFamily="18" charset="0"/>
                <a:cs typeface="Times New Roman" panose="02020603050405020304" pitchFamily="18" charset="0"/>
              </a:rPr>
              <a:t>ΚΡΙ-ΚΡΙ Α.Β.Ε.Ε. — Οικονομικές Καταστάσεις 2020–2024</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3"/>
              </a:rPr>
              <a:t>Factsheet</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0486915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FAE15CF-22AB-135A-261F-5969B229401D}"/>
              </a:ext>
            </a:extLst>
          </p:cNvPr>
          <p:cNvSpPr>
            <a:spLocks noGrp="1"/>
          </p:cNvSpPr>
          <p:nvPr>
            <p:ph idx="1"/>
          </p:nvPr>
        </p:nvSpPr>
        <p:spPr>
          <a:xfrm>
            <a:off x="4654295" y="816638"/>
            <a:ext cx="4619706" cy="5224724"/>
          </a:xfrm>
        </p:spPr>
        <p:txBody>
          <a:bodyPr anchor="ctr">
            <a:normAutofit/>
          </a:bodyPr>
          <a:lstStyle/>
          <a:p>
            <a:pPr marL="0" indent="0">
              <a:buNone/>
            </a:pPr>
            <a:r>
              <a:rPr lang="el-GR" sz="4400" dirty="0"/>
              <a:t>Ευχαριστώ!</a:t>
            </a:r>
            <a:endParaRPr lang="en-US" sz="4400" dirty="0"/>
          </a:p>
        </p:txBody>
      </p:sp>
    </p:spTree>
    <p:extLst>
      <p:ext uri="{BB962C8B-B14F-4D97-AF65-F5344CB8AC3E}">
        <p14:creationId xmlns:p14="http://schemas.microsoft.com/office/powerpoint/2010/main" val="429385423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theme/theme1.xml><?xml version="1.0" encoding="utf-8"?>
<a:theme xmlns:a="http://schemas.openxmlformats.org/drawingml/2006/main" name="Face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TM02900688[[fn=Facet]]</Template>
  <TotalTime>506</TotalTime>
  <Words>3125</Words>
  <Application>Microsoft Office PowerPoint</Application>
  <PresentationFormat>Widescreen</PresentationFormat>
  <Paragraphs>383</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Cambria Math</vt:lpstr>
      <vt:lpstr>Times New Roman</vt:lpstr>
      <vt:lpstr>Trebuchet MS</vt:lpstr>
      <vt:lpstr>Wingdings 3</vt:lpstr>
      <vt:lpstr>Facet</vt:lpstr>
      <vt:lpstr>PowerPoint Presentation</vt:lpstr>
      <vt:lpstr>Εταιρικό Προφίλ</vt:lpstr>
      <vt:lpstr>Ιστορική Αναδρομή – Σημαντικά Ορόσημα </vt:lpstr>
      <vt:lpstr>Μετοχική Σύνθεση &amp; Θέση στην Αγορά </vt:lpstr>
      <vt:lpstr>Συντελεστής beta</vt:lpstr>
      <vt:lpstr>PowerPoint Presentation</vt:lpstr>
      <vt:lpstr>PowerPoint Presentation</vt:lpstr>
      <vt:lpstr>PowerPoint Presentation</vt:lpstr>
      <vt:lpstr>WACC</vt:lpstr>
      <vt:lpstr>Δείκτες Κερδοφορίας</vt:lpstr>
      <vt:lpstr>Δείκτες Ρευστότητας</vt:lpstr>
      <vt:lpstr>Δείκτες Μόχλευσης</vt:lpstr>
      <vt:lpstr>Δείκτες Αποτίμησης</vt:lpstr>
      <vt:lpstr>PowerPoint Presentation</vt:lpstr>
      <vt:lpstr>Σύγκριση με αγορά</vt:lpstr>
      <vt:lpstr>PowerPoint Presentation</vt:lpstr>
      <vt:lpstr>PowerPoint Presentation</vt:lpstr>
      <vt:lpstr>Σύγκριση με κλάδο</vt:lpstr>
      <vt:lpstr>Αριθμοδείκτες</vt:lpstr>
      <vt:lpstr>PowerPoint Presentation</vt:lpstr>
      <vt:lpstr>Συμπεράσματα</vt:lpstr>
      <vt:lpstr>Πηγές</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Kostas Koutsompinas</dc:creator>
  <cp:lastModifiedBy>Konstantinos Koutsompinas</cp:lastModifiedBy>
  <cp:revision>92</cp:revision>
  <dcterms:created xsi:type="dcterms:W3CDTF">2025-07-23T00:59:00Z</dcterms:created>
  <dcterms:modified xsi:type="dcterms:W3CDTF">2025-12-30T16:00:32Z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2052-12.1.0.21915</vt:lpwstr>
  </property>
</Properties>
</file>